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23"/>
  </p:handoutMasterIdLst>
  <p:sldIdLst>
    <p:sldId id="485" r:id="rId2"/>
    <p:sldId id="472" r:id="rId3"/>
    <p:sldId id="479" r:id="rId4"/>
    <p:sldId id="607" r:id="rId5"/>
    <p:sldId id="587" r:id="rId7"/>
    <p:sldId id="573" r:id="rId9"/>
    <p:sldId id="528" r:id="rId10"/>
    <p:sldId id="529" r:id="rId11"/>
    <p:sldId id="403" r:id="rId13"/>
    <p:sldId id="530" r:id="rId14"/>
    <p:sldId id="405" r:id="rId16"/>
    <p:sldId id="393" r:id="rId17"/>
    <p:sldId id="490" r:id="rId18"/>
    <p:sldId id="604" r:id="rId20"/>
    <p:sldId id="469" r:id="rId21"/>
  </p:sldIdLst>
  <p:sldSz cx="9144000" cy="5143500" type="screen16x9"/>
  <p:notesSz cx="9144000" cy="6858000"/>
  <p:custDataLst>
    <p:tags r:id="rId24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5"/>
    <a:srgbClr val="F2F2F2"/>
    <a:srgbClr val="F39700"/>
    <a:srgbClr val="909090"/>
    <a:srgbClr val="454545"/>
    <a:srgbClr val="FF8607"/>
    <a:srgbClr val="282828"/>
    <a:srgbClr val="071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87" d="100"/>
          <a:sy n="87" d="100"/>
        </p:scale>
        <p:origin x="88" y="468"/>
      </p:cViewPr>
      <p:guideLst>
        <p:guide orient="horz" pos="2035"/>
        <p:guide pos="3792"/>
        <p:guide orient="horz" pos="1534"/>
        <p:guide orient="horz" pos="706"/>
        <p:guide orient="horz" pos="2770"/>
        <p:guide pos="2880"/>
        <p:guide pos="371"/>
        <p:guide pos="54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84B18F8A-74B5-9148-A891-627592061A38}" type="datetimeFigureOut">
              <a:rPr kumimoji="1" lang="zh-CN" altLang="en-US" smtClean="0"/>
              <a:t>2021/9/27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008768D9-5829-CA4C-800C-5932EF983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EE8CFE8-CE86-4E83-9CBF-A6E5095D073E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ADFD021-809B-4987-94D4-82C88A6C03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093470" y="1309484"/>
            <a:ext cx="8038465" cy="55797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开题报告研究题目</a:t>
            </a:r>
          </a:p>
        </p:txBody>
      </p:sp>
      <p:sp>
        <p:nvSpPr>
          <p:cNvPr id="22" name="矩形 21"/>
          <p:cNvSpPr/>
          <p:nvPr/>
        </p:nvSpPr>
        <p:spPr>
          <a:xfrm>
            <a:off x="2557186" y="2882178"/>
            <a:ext cx="1395254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答辩人：姓名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722120" y="1965325"/>
            <a:ext cx="71869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557186" y="3366683"/>
            <a:ext cx="2073275" cy="28384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   院：学院名称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7186" y="3851188"/>
            <a:ext cx="2371483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   级：入学年份及班级</a:t>
            </a:r>
            <a:endParaRPr kumimoji="1" lang="zh-CN" altLang="en-US" b="1" dirty="0">
              <a:solidFill>
                <a:srgbClr val="071F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889250" y="2090420"/>
            <a:ext cx="4781550" cy="56070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71F65"/>
                </a:solidFill>
                <a:latin typeface="+mj-ea"/>
                <a:ea typeface="+mj-ea"/>
              </a:rPr>
              <a:t>开 题 答 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4794">
        <p:random/>
      </p:transition>
    </mc:Choice>
    <mc:Fallback xmlns="">
      <p:transition spd="slow" advTm="24794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946430" y="516261"/>
            <a:ext cx="1146310" cy="1146310"/>
            <a:chOff x="1602769" y="143838"/>
            <a:chExt cx="1331936" cy="1331936"/>
          </a:xfrm>
        </p:grpSpPr>
        <p:sp>
          <p:nvSpPr>
            <p:cNvPr id="4" name="椭圆 3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679041" y="396413"/>
              <a:ext cx="1189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7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638153" y="937949"/>
              <a:ext cx="1263808" cy="30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Freeform 5"/>
          <p:cNvSpPr/>
          <p:nvPr/>
        </p:nvSpPr>
        <p:spPr bwMode="auto">
          <a:xfrm>
            <a:off x="2382" y="2262776"/>
            <a:ext cx="9141619" cy="1084926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4" name="矩形 30"/>
          <p:cNvSpPr>
            <a:spLocks noChangeArrowheads="1"/>
          </p:cNvSpPr>
          <p:nvPr/>
        </p:nvSpPr>
        <p:spPr bwMode="auto">
          <a:xfrm>
            <a:off x="725316" y="3682673"/>
            <a:ext cx="921923" cy="784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45" name="矩形 68"/>
          <p:cNvSpPr>
            <a:spLocks noChangeArrowheads="1"/>
          </p:cNvSpPr>
          <p:nvPr/>
        </p:nvSpPr>
        <p:spPr bwMode="auto">
          <a:xfrm>
            <a:off x="5234226" y="1391751"/>
            <a:ext cx="1569182" cy="55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技术路线与研究方法</a:t>
            </a:r>
          </a:p>
        </p:txBody>
      </p:sp>
      <p:sp>
        <p:nvSpPr>
          <p:cNvPr id="46" name="矩形 64"/>
          <p:cNvSpPr>
            <a:spLocks noChangeArrowheads="1"/>
          </p:cNvSpPr>
          <p:nvPr/>
        </p:nvSpPr>
        <p:spPr bwMode="auto">
          <a:xfrm>
            <a:off x="2019452" y="2365080"/>
            <a:ext cx="1551601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47" name="矩形 66"/>
          <p:cNvSpPr>
            <a:spLocks noChangeArrowheads="1"/>
          </p:cNvSpPr>
          <p:nvPr/>
        </p:nvSpPr>
        <p:spPr bwMode="auto">
          <a:xfrm>
            <a:off x="3378415" y="3281968"/>
            <a:ext cx="2025184" cy="55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研究目标、内容及关键问题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816008" y="2756789"/>
            <a:ext cx="749673" cy="751323"/>
            <a:chOff x="3437020" y="1033173"/>
            <a:chExt cx="863676" cy="865577"/>
          </a:xfrm>
        </p:grpSpPr>
        <p:sp>
          <p:nvSpPr>
            <p:cNvPr id="49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sp>
        <p:nvSpPr>
          <p:cNvPr id="51" name="矩形 68"/>
          <p:cNvSpPr>
            <a:spLocks noChangeArrowheads="1"/>
          </p:cNvSpPr>
          <p:nvPr/>
        </p:nvSpPr>
        <p:spPr bwMode="auto">
          <a:xfrm>
            <a:off x="6780337" y="3105782"/>
            <a:ext cx="1988660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章节安排、研究进度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2430518" y="2882260"/>
            <a:ext cx="749673" cy="751323"/>
            <a:chOff x="3437020" y="2074814"/>
            <a:chExt cx="863676" cy="865577"/>
          </a:xfrm>
        </p:grpSpPr>
        <p:sp>
          <p:nvSpPr>
            <p:cNvPr id="5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3976379" y="2471542"/>
            <a:ext cx="749673" cy="749944"/>
            <a:chOff x="3437020" y="3157655"/>
            <a:chExt cx="863676" cy="863988"/>
          </a:xfrm>
        </p:grpSpPr>
        <p:sp>
          <p:nvSpPr>
            <p:cNvPr id="56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58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5647172" y="1987712"/>
            <a:ext cx="749673" cy="751322"/>
            <a:chOff x="3437020" y="4201727"/>
            <a:chExt cx="863676" cy="865576"/>
          </a:xfrm>
        </p:grpSpPr>
        <p:sp>
          <p:nvSpPr>
            <p:cNvPr id="64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65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66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7392546" y="2181533"/>
            <a:ext cx="749673" cy="751322"/>
            <a:chOff x="3435505" y="5268880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5505" y="5268880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706"/>
    </mc:Choice>
    <mc:Fallback xmlns="">
      <p:transition advTm="67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3772" y="-337771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3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 dirty="0"/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726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Part 1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829248" y="1999678"/>
            <a:ext cx="3370153" cy="62324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研究背景与意义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203192" y="1334898"/>
            <a:ext cx="1146310" cy="1146310"/>
            <a:chOff x="1602769" y="143838"/>
            <a:chExt cx="1331936" cy="1331936"/>
          </a:xfrm>
        </p:grpSpPr>
        <p:sp>
          <p:nvSpPr>
            <p:cNvPr id="15" name="椭圆 14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45"/>
            <p:cNvSpPr txBox="1"/>
            <p:nvPr/>
          </p:nvSpPr>
          <p:spPr>
            <a:xfrm>
              <a:off x="1679041" y="577355"/>
              <a:ext cx="1189310" cy="464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69"/>
    </mc:Choice>
    <mc:Fallback xmlns="">
      <p:transition advTm="13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 104"/>
          <p:cNvSpPr/>
          <p:nvPr/>
        </p:nvSpPr>
        <p:spPr>
          <a:xfrm>
            <a:off x="187960" y="4693920"/>
            <a:ext cx="7529195" cy="36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选题来源：填写项目名称或选题依据。</a:t>
            </a:r>
          </a:p>
        </p:txBody>
      </p: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77842"/>
            <a:ext cx="2353525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选题背景与意义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 rot="5400000">
            <a:off x="4225144" y="3536868"/>
            <a:ext cx="693712" cy="4918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72169" y="4204864"/>
            <a:ext cx="7571303" cy="52501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填写研究课题的核心问题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E4A9E3D-D0FC-4CFC-A878-EA7BF03C6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21477"/>
              </p:ext>
            </p:extLst>
          </p:nvPr>
        </p:nvGraphicFramePr>
        <p:xfrm>
          <a:off x="581454" y="718452"/>
          <a:ext cx="7981092" cy="2659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247">
                  <a:extLst>
                    <a:ext uri="{9D8B030D-6E8A-4147-A177-3AD203B41FA5}">
                      <a16:colId xmlns:a16="http://schemas.microsoft.com/office/drawing/2014/main" val="4101857509"/>
                    </a:ext>
                  </a:extLst>
                </a:gridCol>
                <a:gridCol w="5649845">
                  <a:extLst>
                    <a:ext uri="{9D8B030D-6E8A-4147-A177-3AD203B41FA5}">
                      <a16:colId xmlns:a16="http://schemas.microsoft.com/office/drawing/2014/main" val="3769915765"/>
                    </a:ext>
                  </a:extLst>
                </a:gridCol>
              </a:tblGrid>
              <a:tr h="8087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政策层面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概括与研究主题相关的政策要求，注明文件名称、发布时间及引用出处。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344939"/>
                  </a:ext>
                </a:extLst>
              </a:tr>
              <a:tr h="86888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现实层面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说明研究对象面临的现实问题，结合典型现象或案例解释研究必要性。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258051"/>
                  </a:ext>
                </a:extLst>
              </a:tr>
              <a:tr h="8087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学术研究层面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归纳该领域的主要研究进展，指出尚未解决的问题及本研究的切入点。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44560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6087340-3B79-4065-9990-88ACD0A803CA}"/>
              </a:ext>
            </a:extLst>
          </p:cNvPr>
          <p:cNvSpPr/>
          <p:nvPr/>
        </p:nvSpPr>
        <p:spPr>
          <a:xfrm>
            <a:off x="6186229" y="3607379"/>
            <a:ext cx="2750128" cy="394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相关研究现状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C80F416-A8C4-4273-8BF4-BFCA7EB4B532}"/>
              </a:ext>
            </a:extLst>
          </p:cNvPr>
          <p:cNvSpPr/>
          <p:nvPr/>
        </p:nvSpPr>
        <p:spPr>
          <a:xfrm rot="10800000">
            <a:off x="5056907" y="3631145"/>
            <a:ext cx="953857" cy="206563"/>
          </a:xfrm>
          <a:prstGeom prst="rightArrow">
            <a:avLst>
              <a:gd name="adj1" fmla="val 42974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F1BCA5-FA55-4981-B49B-0BB7B9789A4F}"/>
              </a:ext>
            </a:extLst>
          </p:cNvPr>
          <p:cNvSpPr txBox="1"/>
          <p:nvPr/>
        </p:nvSpPr>
        <p:spPr>
          <a:xfrm>
            <a:off x="5282888" y="3385439"/>
            <a:ext cx="543739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结合</a:t>
            </a:r>
          </a:p>
        </p:txBody>
      </p: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BA398FC7-1AF9-4975-8E38-49BA79AABBF5}"/>
              </a:ext>
            </a:extLst>
          </p:cNvPr>
          <p:cNvCxnSpPr>
            <a:stCxn id="11" idx="1"/>
            <a:endCxn id="2" idx="1"/>
          </p:cNvCxnSpPr>
          <p:nvPr/>
        </p:nvCxnSpPr>
        <p:spPr>
          <a:xfrm rot="10800000">
            <a:off x="581455" y="2048134"/>
            <a:ext cx="290715" cy="2419238"/>
          </a:xfrm>
          <a:prstGeom prst="curvedConnector3">
            <a:avLst>
              <a:gd name="adj1" fmla="val 178634"/>
            </a:avLst>
          </a:prstGeom>
          <a:ln w="19050">
            <a:prstDash val="dashDot"/>
            <a:headEnd type="diamond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8915A7C1-D2EA-4FC8-AE95-E04159C0A93F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700529" y="3079586"/>
            <a:ext cx="171641" cy="1387786"/>
          </a:xfrm>
          <a:prstGeom prst="curvedConnector2">
            <a:avLst/>
          </a:prstGeom>
          <a:ln w="19050">
            <a:prstDash val="lg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3FF3A4B-3D9D-4D1E-A5FA-EE8A3DAF29B8}"/>
              </a:ext>
            </a:extLst>
          </p:cNvPr>
          <p:cNvSpPr txBox="1"/>
          <p:nvPr/>
        </p:nvSpPr>
        <p:spPr>
          <a:xfrm>
            <a:off x="749808" y="3410712"/>
            <a:ext cx="347472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z="1400">
                <a:latin typeface="Arial" panose="020B0604020202020204" pitchFamily="34" charset="0"/>
                <a:ea typeface="微软雅黑" panose="020B0503020204020204" pitchFamily="34" charset="-122"/>
              </a:rPr>
              <a:t>理论意义：补充并拓展已有解释。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A7243FF-3717-4DBE-9E08-68B5D738DE6E}"/>
              </a:ext>
            </a:extLst>
          </p:cNvPr>
          <p:cNvSpPr txBox="1"/>
          <p:nvPr/>
        </p:nvSpPr>
        <p:spPr>
          <a:xfrm>
            <a:off x="749808" y="3767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z="1400">
                <a:latin typeface="Arial" panose="020B0604020202020204" pitchFamily="34" charset="0"/>
                <a:ea typeface="微软雅黑" panose="020B0503020204020204" pitchFamily="34" charset="-122"/>
              </a:rPr>
              <a:t>实践意义：提出可行的改进建议。</a:t>
            </a:r>
          </a:p>
        </p:txBody>
      </p:sp>
    </p:spTree>
    <p:extLst>
      <p:ext uri="{BB962C8B-B14F-4D97-AF65-F5344CB8AC3E}">
        <p14:creationId xmlns:p14="http://schemas.microsoft.com/office/powerpoint/2010/main" val="1456955270"/>
      </p:ext>
    </p:extLst>
  </p:cSld>
  <p:clrMapOvr>
    <a:masterClrMapping/>
  </p:clrMapOvr>
  <p:transition spd="slow" advTm="53706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6"/>
          <p:cNvSpPr>
            <a:spLocks noChangeArrowheads="1"/>
          </p:cNvSpPr>
          <p:nvPr/>
        </p:nvSpPr>
        <p:spPr bwMode="auto">
          <a:xfrm>
            <a:off x="476188" y="177842"/>
            <a:ext cx="14008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研究现状</a:t>
            </a:r>
          </a:p>
        </p:txBody>
      </p:sp>
      <p:sp>
        <p:nvSpPr>
          <p:cNvPr id="23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cxnSp>
        <p:nvCxnSpPr>
          <p:cNvPr id="8" name="直接连接符 7"/>
          <p:cNvCxnSpPr>
            <a:cxnSpLocks/>
          </p:cNvCxnSpPr>
          <p:nvPr/>
        </p:nvCxnSpPr>
        <p:spPr>
          <a:xfrm flipV="1">
            <a:off x="148590" y="2917440"/>
            <a:ext cx="8847455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45569" y="1309250"/>
            <a:ext cx="869149" cy="522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主题A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3365" y="3623036"/>
            <a:ext cx="942887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主题B</a:t>
            </a:r>
          </a:p>
        </p:txBody>
      </p:sp>
      <p:sp>
        <p:nvSpPr>
          <p:cNvPr id="13" name="矩形 12"/>
          <p:cNvSpPr/>
          <p:nvPr/>
        </p:nvSpPr>
        <p:spPr>
          <a:xfrm>
            <a:off x="1436362" y="3048641"/>
            <a:ext cx="3582521" cy="1546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研究对象与影响因素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已有研究的主要结论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主要分析方法与适用条件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E308171-AABC-4B6F-8640-38F5F9074B03}"/>
              </a:ext>
            </a:extLst>
          </p:cNvPr>
          <p:cNvSpPr/>
          <p:nvPr/>
        </p:nvSpPr>
        <p:spPr>
          <a:xfrm>
            <a:off x="110835" y="1102166"/>
            <a:ext cx="1165243" cy="9797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E41FE2B-8179-4918-B877-B165E73238F1}"/>
              </a:ext>
            </a:extLst>
          </p:cNvPr>
          <p:cNvSpPr/>
          <p:nvPr/>
        </p:nvSpPr>
        <p:spPr>
          <a:xfrm>
            <a:off x="258059" y="3381139"/>
            <a:ext cx="907473" cy="8354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E2E53E6-EB0E-414D-B21C-5E67C6710638}"/>
              </a:ext>
            </a:extLst>
          </p:cNvPr>
          <p:cNvCxnSpPr>
            <a:stCxn id="9" idx="2"/>
            <a:endCxn id="19" idx="2"/>
          </p:cNvCxnSpPr>
          <p:nvPr/>
        </p:nvCxnSpPr>
        <p:spPr>
          <a:xfrm>
            <a:off x="110835" y="1592050"/>
            <a:ext cx="147224" cy="2206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1C3F9B3-FDB5-420C-9752-E0A6008AA51E}"/>
              </a:ext>
            </a:extLst>
          </p:cNvPr>
          <p:cNvCxnSpPr>
            <a:stCxn id="9" idx="6"/>
            <a:endCxn id="19" idx="6"/>
          </p:cNvCxnSpPr>
          <p:nvPr/>
        </p:nvCxnSpPr>
        <p:spPr>
          <a:xfrm flipH="1">
            <a:off x="1165532" y="1592050"/>
            <a:ext cx="110546" cy="2206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F4B3796-CA02-4B75-B730-9808C827FD3A}"/>
              </a:ext>
            </a:extLst>
          </p:cNvPr>
          <p:cNvSpPr txBox="1"/>
          <p:nvPr/>
        </p:nvSpPr>
        <p:spPr>
          <a:xfrm>
            <a:off x="-311363" y="4869060"/>
            <a:ext cx="568088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04800" algn="just"/>
            <a:r>
              <a:rPr lang="en-US" altLang="zh-C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注：在此解释重要缩写或补充资料来源。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47270BF-85DD-48A2-ABA4-31EA3A3F2D43}"/>
              </a:ext>
            </a:extLst>
          </p:cNvPr>
          <p:cNvCxnSpPr/>
          <p:nvPr/>
        </p:nvCxnSpPr>
        <p:spPr>
          <a:xfrm>
            <a:off x="5249128" y="1027047"/>
            <a:ext cx="0" cy="4057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E889469A-3A55-415D-A9A7-9BE5A6C3201C}"/>
              </a:ext>
            </a:extLst>
          </p:cNvPr>
          <p:cNvSpPr txBox="1"/>
          <p:nvPr/>
        </p:nvSpPr>
        <p:spPr>
          <a:xfrm>
            <a:off x="5327686" y="3183679"/>
            <a:ext cx="35898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u="sng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归纳不同研究对象或情境下的主要成果。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比较现有结论的适用范围与局限。</a:t>
            </a:r>
            <a:endParaRPr lang="zh-CN" altLang="en-US" sz="16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4C3D7EA-12A5-47B6-9261-C6A1F3391B9B}"/>
              </a:ext>
            </a:extLst>
          </p:cNvPr>
          <p:cNvSpPr txBox="1"/>
          <p:nvPr/>
        </p:nvSpPr>
        <p:spPr>
          <a:xfrm>
            <a:off x="2649115" y="714649"/>
            <a:ext cx="1045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共同问题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4A2F4D9-680A-49AB-8795-8B57BD61DA99}"/>
              </a:ext>
            </a:extLst>
          </p:cNvPr>
          <p:cNvSpPr txBox="1"/>
          <p:nvPr/>
        </p:nvSpPr>
        <p:spPr>
          <a:xfrm>
            <a:off x="5909362" y="709797"/>
            <a:ext cx="2704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不同研究视角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AC970CE-B91A-45DF-ACE2-A630CC4A8A3B}"/>
              </a:ext>
            </a:extLst>
          </p:cNvPr>
          <p:cNvSpPr/>
          <p:nvPr/>
        </p:nvSpPr>
        <p:spPr>
          <a:xfrm>
            <a:off x="1386624" y="1311415"/>
            <a:ext cx="3556093" cy="1260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主要概念与研究变量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已有研究的解释框架和核心结论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17725F6-1204-4FD1-9DC8-4F3DA9CEEBA6}"/>
              </a:ext>
            </a:extLst>
          </p:cNvPr>
          <p:cNvSpPr/>
          <p:nvPr/>
        </p:nvSpPr>
        <p:spPr>
          <a:xfrm>
            <a:off x="5362279" y="1290504"/>
            <a:ext cx="3431086" cy="1546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概念界定与测量方法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研究视角与理论基础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不同主体或情境的研究结论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现有研究结果的适用边界</a:t>
            </a:r>
          </a:p>
        </p:txBody>
      </p:sp>
    </p:spTree>
  </p:cSld>
  <p:clrMapOvr>
    <a:masterClrMapping/>
  </p:clrMapOvr>
  <p:transition spd="slow" advTm="72648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研究目标</a:t>
            </a:r>
          </a:p>
        </p:txBody>
      </p:sp>
      <p:sp>
        <p:nvSpPr>
          <p:cNvPr id="6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76250" y="698500"/>
            <a:ext cx="8091170" cy="10057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30000"/>
              </a:lnSpc>
            </a:pPr>
            <a:r>
              <a:rPr lang="zh-CN" altLang="en-US" sz="2400" b="0" dirty="0">
                <a:solidFill>
                  <a:schemeClr val="tx1"/>
                </a:solidFill>
                <a:latin typeface="+mn-ea"/>
              </a:rPr>
              <a:t>总目标：概括本研究拟解决的核心问题及预期成果。</a:t>
            </a:r>
            <a:endParaRPr lang="zh-CN" altLang="en-US" sz="2400" b="0" dirty="0">
              <a:latin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B3C09921-B39F-4EBC-913A-075B23736865}"/>
              </a:ext>
            </a:extLst>
          </p:cNvPr>
          <p:cNvSpPr txBox="1"/>
          <p:nvPr/>
        </p:nvSpPr>
        <p:spPr>
          <a:xfrm>
            <a:off x="250792" y="1997386"/>
            <a:ext cx="8391558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spcBef>
                <a:spcPts val="240"/>
              </a:spcBef>
            </a:pPr>
            <a:r>
              <a:rPr lang="zh-CN" altLang="zh-CN" sz="1600" dirty="0">
                <a:latin typeface="+mn-ea"/>
              </a:rPr>
              <a:t>目标一：界定研究对象，提出需要回答的关键问题。</a:t>
            </a:r>
            <a:endParaRPr lang="en-US" altLang="zh-CN" sz="1600" dirty="0">
              <a:latin typeface="+mn-ea"/>
            </a:endParaRPr>
          </a:p>
          <a:p>
            <a:pPr indent="266700" algn="just">
              <a:spcBef>
                <a:spcPts val="240"/>
              </a:spcBef>
            </a:pPr>
            <a:r>
              <a:rPr lang="zh-CN" altLang="zh-CN" sz="1600" dirty="0">
                <a:latin typeface="+mn-ea"/>
              </a:rPr>
              <a:t>目标二：选择合适的方法，分析核心变量之间的关系。</a:t>
            </a:r>
            <a:endParaRPr lang="en-US" altLang="zh-CN" sz="1600" dirty="0">
              <a:latin typeface="+mn-ea"/>
            </a:endParaRPr>
          </a:p>
          <a:p>
            <a:pPr indent="266700" algn="just">
              <a:spcBef>
                <a:spcPts val="240"/>
              </a:spcBef>
            </a:pPr>
            <a:r>
              <a:rPr lang="zh-CN" altLang="zh-CN" sz="1600" dirty="0">
                <a:latin typeface="+mn-ea"/>
              </a:rPr>
              <a:t>目标三：检验研究结论，提出有依据的解释或改进建议。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11169">
        <p14:pan dir="u"/>
      </p:transition>
    </mc:Choice>
    <mc:Fallback xmlns="">
      <p:transition spd="slow" advTm="11169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46"/>
          <p:cNvSpPr>
            <a:spLocks noChangeArrowheads="1"/>
          </p:cNvSpPr>
          <p:nvPr/>
        </p:nvSpPr>
        <p:spPr bwMode="auto">
          <a:xfrm>
            <a:off x="476188" y="177842"/>
            <a:ext cx="5109087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研究内容一：概念与资料梳理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11D8028-6CC3-459B-B215-EEB60363FFE6}"/>
              </a:ext>
            </a:extLst>
          </p:cNvPr>
          <p:cNvSpPr txBox="1"/>
          <p:nvPr/>
        </p:nvSpPr>
        <p:spPr>
          <a:xfrm>
            <a:off x="250792" y="810362"/>
            <a:ext cx="83614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6700" algn="just">
              <a:spcBef>
                <a:spcPts val="240"/>
              </a:spcBef>
              <a:defRPr sz="1600">
                <a:latin typeface="+mn-ea"/>
              </a:defRPr>
            </a:lvl1pPr>
          </a:lstStyle>
          <a:p>
            <a:r>
              <a:rPr lang="zh-CN" altLang="zh-CN" dirty="0"/>
              <a:t>说明本部分的研究任务、资料来源和处理方式。界定核心概念，归纳已有研究和实践材料，提出后续分析所需的分类框架。下表可列出文献、案例或资料清单。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79E3256-876D-4A8A-86EB-EBD03D3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283190"/>
              </p:ext>
            </p:extLst>
          </p:nvPr>
        </p:nvGraphicFramePr>
        <p:xfrm>
          <a:off x="120246" y="2380022"/>
          <a:ext cx="6322118" cy="25856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22118">
                  <a:extLst>
                    <a:ext uri="{9D8B030D-6E8A-4147-A177-3AD203B41FA5}">
                      <a16:colId xmlns:a16="http://schemas.microsoft.com/office/drawing/2014/main" val="654312082"/>
                    </a:ext>
                  </a:extLst>
                </a:gridCol>
              </a:tblGrid>
              <a:tr h="3677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资料一：填写名称及来源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043910"/>
                  </a:ext>
                </a:extLst>
              </a:tr>
              <a:tr h="3677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资料二：填写名称及来源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82105"/>
                  </a:ext>
                </a:extLst>
              </a:tr>
              <a:tr h="3677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资料三：填写名称及来源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397421"/>
                  </a:ext>
                </a:extLst>
              </a:tr>
              <a:tr h="37355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资料四：填写名称及来源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968727"/>
                  </a:ext>
                </a:extLst>
              </a:tr>
              <a:tr h="3677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资料五：填写名称及来源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461310"/>
                  </a:ext>
                </a:extLst>
              </a:tr>
              <a:tr h="3677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资料六：填写名称及来源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273586"/>
                  </a:ext>
                </a:extLst>
              </a:tr>
              <a:tr h="37355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资料七：填写名称及来源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327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6508">
        <p14:pan dir="u"/>
      </p:transition>
    </mc:Choice>
    <mc:Fallback xmlns="">
      <p:transition spd="slow" advTm="6508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46"/>
          <p:cNvSpPr>
            <a:spLocks noChangeArrowheads="1"/>
          </p:cNvSpPr>
          <p:nvPr/>
        </p:nvSpPr>
        <p:spPr bwMode="auto">
          <a:xfrm>
            <a:off x="476188" y="177842"/>
            <a:ext cx="5793570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研究内容二：模型与分析方法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2C2A1C7-E91B-4A1C-A275-A9D87EC6DC06}"/>
              </a:ext>
            </a:extLst>
          </p:cNvPr>
          <p:cNvSpPr txBox="1"/>
          <p:nvPr/>
        </p:nvSpPr>
        <p:spPr>
          <a:xfrm>
            <a:off x="658368" y="1261872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6700" algn="just">
              <a:spcBef>
                <a:spcPts val="240"/>
              </a:spcBef>
              <a:defRPr sz="1600">
                <a:latin typeface="+mn-ea"/>
              </a:defRPr>
            </a:lvl1pPr>
          </a:lstStyle>
          <a:p>
            <a:r>
              <a:rPr lang="zh-CN" altLang="zh-CN" dirty="0"/>
              <a:t>说明研究模型的构建思路、数据获取方式及分析步骤。结合右侧示意图，交代核心变量与研究问题之间的关系。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D498CD-7394-4335-A09E-CC05D1DC1243}"/>
              </a:ext>
            </a:extLst>
          </p:cNvPr>
          <p:cNvSpPr txBox="1"/>
          <p:nvPr/>
        </p:nvSpPr>
        <p:spPr>
          <a:xfrm>
            <a:off x="658368" y="2944368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6700" algn="just">
              <a:spcBef>
                <a:spcPts val="240"/>
              </a:spcBef>
              <a:defRPr sz="1600">
                <a:latin typeface="+mn-ea"/>
              </a:defRPr>
            </a:lvl1pPr>
          </a:lstStyle>
          <a:p>
            <a:r>
              <a:rPr lang="zh-CN" altLang="zh-CN" dirty="0"/>
              <a:t>前期准备：填写已完成的预调研或方法验证工作。</a:t>
            </a:r>
            <a:endParaRPr lang="en-US" altLang="zh-CN" dirty="0"/>
          </a:p>
          <a:p>
            <a:r>
              <a:rPr lang="zh-CN" altLang="en-US" dirty="0"/>
              <a:t>后续安排：说明需要补充的资料与拟完善的研究环节。</a:t>
            </a:r>
            <a:endParaRPr lang="zh-CN" altLang="zh-CN" dirty="0"/>
          </a:p>
        </p:txBody>
      </p:sp>
      <p:sp>
        <p:nvSpPr>
          <p:cNvPr id="10" name="插入调研提纲或研究示意图">
            <a:extLst>
              <a:ext uri="{FF2B5EF4-FFF2-40B4-BE49-F238E27FC236}">
                <a16:creationId xmlns:a16="http://schemas.microsoft.com/office/drawing/2014/main" id="{F846343A-9726-422D-9052-2A6DCD51F965}"/>
              </a:ext>
            </a:extLst>
          </p:cNvPr>
          <p:cNvSpPr/>
          <p:nvPr/>
        </p:nvSpPr>
        <p:spPr>
          <a:xfrm>
            <a:off x="6537960" y="987552"/>
            <a:ext cx="2286000" cy="3611880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插入调研提纲或研究示意图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5336">
        <p14:pan dir="u"/>
      </p:transition>
    </mc:Choice>
    <mc:Fallback xmlns="">
      <p:transition spd="slow" advTm="5336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15"/>
          <p:cNvSpPr txBox="1"/>
          <p:nvPr/>
        </p:nvSpPr>
        <p:spPr>
          <a:xfrm>
            <a:off x="2848610" y="986155"/>
            <a:ext cx="5180330" cy="63940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dirty="0"/>
              <a:t>说明第一个关键问题的内涵、研究难点，以及计划采用的解决方法。</a:t>
            </a:r>
          </a:p>
        </p:txBody>
      </p:sp>
      <p:sp>
        <p:nvSpPr>
          <p:cNvPr id="7" name="文本框 18"/>
          <p:cNvSpPr txBox="1"/>
          <p:nvPr/>
        </p:nvSpPr>
        <p:spPr>
          <a:xfrm>
            <a:off x="903605" y="3465195"/>
            <a:ext cx="5600065" cy="88216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indent="0" algn="just">
              <a:lnSpc>
                <a:spcPct val="130000"/>
              </a:lnSpc>
              <a:buFont typeface="+mj-lt"/>
              <a:buNone/>
            </a:pPr>
            <a:r>
              <a:rPr lang="zh-CN" dirty="0"/>
              <a:t>说明第二个关键问题与前述问题的关系，并写明验证思路和预期产出。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 rot="20926619">
            <a:off x="1508771" y="2412184"/>
            <a:ext cx="6182916" cy="2939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8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47697" y="872297"/>
            <a:ext cx="1230086" cy="1091735"/>
            <a:chOff x="411429" y="2379138"/>
            <a:chExt cx="1640114" cy="1455646"/>
          </a:xfrm>
        </p:grpSpPr>
        <p:sp>
          <p:nvSpPr>
            <p:cNvPr id="10" name="下箭头 9"/>
            <p:cNvSpPr/>
            <p:nvPr/>
          </p:nvSpPr>
          <p:spPr>
            <a:xfrm>
              <a:off x="411429" y="2379138"/>
              <a:ext cx="1640114" cy="1455646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4"/>
            <p:cNvSpPr txBox="1"/>
            <p:nvPr/>
          </p:nvSpPr>
          <p:spPr>
            <a:xfrm>
              <a:off x="923814" y="2392494"/>
              <a:ext cx="553997" cy="125476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问题一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53703" y="2836637"/>
            <a:ext cx="1307469" cy="1091736"/>
            <a:chOff x="6952768" y="4194060"/>
            <a:chExt cx="1743291" cy="1455648"/>
          </a:xfrm>
        </p:grpSpPr>
        <p:sp>
          <p:nvSpPr>
            <p:cNvPr id="13" name="下箭头 12"/>
            <p:cNvSpPr/>
            <p:nvPr/>
          </p:nvSpPr>
          <p:spPr>
            <a:xfrm flipV="1">
              <a:off x="7055945" y="4194060"/>
              <a:ext cx="1640114" cy="1455648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22"/>
            <p:cNvSpPr txBox="1"/>
            <p:nvPr/>
          </p:nvSpPr>
          <p:spPr>
            <a:xfrm>
              <a:off x="6952768" y="4371789"/>
              <a:ext cx="1169550" cy="12547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问题二</a:t>
              </a:r>
            </a:p>
          </p:txBody>
        </p:sp>
      </p:grpSp>
      <p:sp>
        <p:nvSpPr>
          <p:cNvPr id="15" name="等腰三角形 14"/>
          <p:cNvSpPr/>
          <p:nvPr/>
        </p:nvSpPr>
        <p:spPr>
          <a:xfrm>
            <a:off x="4241554" y="2708264"/>
            <a:ext cx="653144" cy="56305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8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关键问题</a:t>
            </a:r>
          </a:p>
        </p:txBody>
      </p:sp>
      <p:sp>
        <p:nvSpPr>
          <p:cNvPr id="19" name="等腰三角形 18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</p:spTree>
  </p:cSld>
  <p:clrMapOvr>
    <a:masterClrMapping/>
  </p:clrMapOvr>
  <p:transition spd="med" advTm="14596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15"/>
          <p:cNvSpPr txBox="1"/>
          <p:nvPr/>
        </p:nvSpPr>
        <p:spPr>
          <a:xfrm>
            <a:off x="501650" y="698500"/>
            <a:ext cx="7678420" cy="53950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1、文献梳理：概括已完成的检索与阅读工作。</a:t>
            </a:r>
            <a:endParaRPr 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476188" y="177842"/>
            <a:ext cx="17056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已开展工作</a:t>
            </a:r>
          </a:p>
        </p:txBody>
      </p:sp>
      <p:sp>
        <p:nvSpPr>
          <p:cNvPr id="19" name="等腰三角形 18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3" name="文本框 15"/>
          <p:cNvSpPr txBox="1"/>
          <p:nvPr/>
        </p:nvSpPr>
        <p:spPr>
          <a:xfrm>
            <a:off x="588645" y="1322705"/>
            <a:ext cx="8254365" cy="53950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200000"/>
              </a:lnSpc>
              <a:buClrTx/>
              <a:buSzTx/>
              <a:buFontTx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2、资料收集：说明现有数据或案例的获取情况。</a:t>
            </a:r>
          </a:p>
        </p:txBody>
      </p:sp>
      <p:sp>
        <p:nvSpPr>
          <p:cNvPr id="4" name="文本框 15"/>
          <p:cNvSpPr txBox="1"/>
          <p:nvPr/>
        </p:nvSpPr>
        <p:spPr>
          <a:xfrm>
            <a:off x="634999" y="1946910"/>
            <a:ext cx="8161655" cy="53950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200000"/>
              </a:lnSpc>
              <a:buClrTx/>
              <a:buSzTx/>
              <a:buFontTx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3、前期调研：填写已完成的访谈或试验。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15">
            <a:extLst>
              <a:ext uri="{FF2B5EF4-FFF2-40B4-BE49-F238E27FC236}">
                <a16:creationId xmlns:a16="http://schemas.microsoft.com/office/drawing/2014/main" id="{08A1EF79-2901-4ACF-9451-418EFA91DC10}"/>
              </a:ext>
            </a:extLst>
          </p:cNvPr>
          <p:cNvSpPr txBox="1"/>
          <p:nvPr/>
        </p:nvSpPr>
        <p:spPr>
          <a:xfrm>
            <a:off x="634999" y="2562225"/>
            <a:ext cx="8161655" cy="109286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200000"/>
              </a:lnSpc>
              <a:buClrTx/>
              <a:buSzTx/>
              <a:buFontTx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4、阶段成果：列出与本研究有关的已完成工作。</a:t>
            </a:r>
          </a:p>
        </p:txBody>
      </p:sp>
    </p:spTree>
  </p:cSld>
  <p:clrMapOvr>
    <a:masterClrMapping/>
  </p:clrMapOvr>
  <p:transition spd="med" advTm="27053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105"/>
          <p:cNvSpPr txBox="1"/>
          <p:nvPr/>
        </p:nvSpPr>
        <p:spPr>
          <a:xfrm>
            <a:off x="501650" y="698500"/>
            <a:ext cx="66732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研究方法：填写本研究采用的主要方法。</a:t>
            </a:r>
          </a:p>
        </p:txBody>
      </p:sp>
      <p:grpSp>
        <p:nvGrpSpPr>
          <p:cNvPr id="94" name="组合 93"/>
          <p:cNvGrpSpPr/>
          <p:nvPr/>
        </p:nvGrpSpPr>
        <p:grpSpPr>
          <a:xfrm>
            <a:off x="374650" y="1120140"/>
            <a:ext cx="8489949" cy="1428528"/>
            <a:chOff x="6093666" y="1508086"/>
            <a:chExt cx="2875858" cy="1904342"/>
          </a:xfrm>
        </p:grpSpPr>
        <p:sp>
          <p:nvSpPr>
            <p:cNvPr id="95" name="文本框 115"/>
            <p:cNvSpPr txBox="1"/>
            <p:nvPr/>
          </p:nvSpPr>
          <p:spPr>
            <a:xfrm>
              <a:off x="6093666" y="1508086"/>
              <a:ext cx="2833054" cy="408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主要研究方法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文本框 116"/>
            <p:cNvSpPr txBox="1"/>
            <p:nvPr/>
          </p:nvSpPr>
          <p:spPr>
            <a:xfrm>
              <a:off x="6093666" y="1832296"/>
              <a:ext cx="2875858" cy="1580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dirty="0">
                  <a:latin typeface="+mn-ea"/>
                  <a:cs typeface="+mn-ea"/>
                </a:rPr>
                <a:t>介绍该方法的基本思路、适用条件及选择依据。说明该方法如何回答研究问题，并交代数据要求与主要分析步骤。</a:t>
              </a:r>
              <a:endParaRPr lang="zh-CN" dirty="0">
                <a:latin typeface="+mn-ea"/>
                <a:cs typeface="+mn-ea"/>
              </a:endParaRPr>
            </a:p>
          </p:txBody>
        </p:sp>
      </p:grpSp>
      <p:sp>
        <p:nvSpPr>
          <p:cNvPr id="37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研究方法</a:t>
            </a:r>
          </a:p>
        </p:txBody>
      </p:sp>
      <p:sp>
        <p:nvSpPr>
          <p:cNvPr id="38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3" name="文本框 116"/>
          <p:cNvSpPr txBox="1"/>
          <p:nvPr/>
        </p:nvSpPr>
        <p:spPr>
          <a:xfrm>
            <a:off x="5315585" y="2536603"/>
            <a:ext cx="3326765" cy="230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+mn-ea"/>
                <a:cs typeface="+mn-ea"/>
              </a:rPr>
              <a:t>结合左侧图示，说明方法在本研究中的具体应用、分析过程和预期输出。</a:t>
            </a:r>
            <a:endParaRPr lang="en-US" altLang="zh-CN" sz="16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11" name="插入方法流程图">
            <a:extLst>
              <a:ext uri="{FF2B5EF4-FFF2-40B4-BE49-F238E27FC236}">
                <a16:creationId xmlns:a16="http://schemas.microsoft.com/office/drawing/2014/main" id="{F46E30A5-135D-4E40-B9D9-12ACD4F53A31}"/>
              </a:ext>
            </a:extLst>
          </p:cNvPr>
          <p:cNvSpPr/>
          <p:nvPr/>
        </p:nvSpPr>
        <p:spPr>
          <a:xfrm>
            <a:off x="501650" y="2548669"/>
            <a:ext cx="4520624" cy="2429906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插入方法流程图</a:t>
            </a:r>
          </a:p>
        </p:txBody>
      </p:sp>
    </p:spTree>
  </p:cSld>
  <p:clrMapOvr>
    <a:masterClrMapping/>
  </p:clrMapOvr>
  <p:transition spd="med" advTm="64987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-272" y="698797"/>
            <a:ext cx="658510" cy="198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wordArtVertRtl"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技术路线</a:t>
            </a: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插入完整技术路线图">
            <a:extLst>
              <a:ext uri="{FF2B5EF4-FFF2-40B4-BE49-F238E27FC236}">
                <a16:creationId xmlns:a16="http://schemas.microsoft.com/office/drawing/2014/main" id="{A1E54D97-9572-446A-B7AA-6BF7D3BECED8}"/>
              </a:ext>
            </a:extLst>
          </p:cNvPr>
          <p:cNvSpPr/>
          <p:nvPr/>
        </p:nvSpPr>
        <p:spPr>
          <a:xfrm>
            <a:off x="777240" y="640080"/>
            <a:ext cx="8046720" cy="3977640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插入完整技术路线图</a:t>
            </a:r>
          </a:p>
        </p:txBody>
      </p:sp>
    </p:spTree>
  </p:cSld>
  <p:clrMapOvr>
    <a:masterClrMapping/>
  </p:clrMapOvr>
  <p:transition spd="med" advTm="2582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7"/>
          <p:cNvSpPr txBox="1"/>
          <p:nvPr/>
        </p:nvSpPr>
        <p:spPr>
          <a:xfrm>
            <a:off x="1184072" y="965006"/>
            <a:ext cx="6672278" cy="2527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研究背景、研究意义、研究问题和整体研究安排。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68227" y="673978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绪论</a:t>
            </a:r>
          </a:p>
        </p:txBody>
      </p:sp>
      <p:sp>
        <p:nvSpPr>
          <p:cNvPr id="8" name="文本框 15"/>
          <p:cNvSpPr txBox="1"/>
          <p:nvPr/>
        </p:nvSpPr>
        <p:spPr>
          <a:xfrm>
            <a:off x="1184071" y="1563594"/>
            <a:ext cx="6672278" cy="4375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界定核心概念，说明理论基础及适用条件。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868045" y="1256030"/>
            <a:ext cx="3563620" cy="3187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概念与理论基础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868046" y="2851785"/>
            <a:ext cx="6807372" cy="3187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 研究设计与模型构建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章节安排</a:t>
            </a: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24"/>
          <p:cNvSpPr txBox="1"/>
          <p:nvPr/>
        </p:nvSpPr>
        <p:spPr>
          <a:xfrm>
            <a:off x="1184072" y="3176136"/>
            <a:ext cx="6672278" cy="4375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说明研究方案、数据来源、变量设置及模型结构。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4"/>
          <p:cNvSpPr txBox="1"/>
          <p:nvPr/>
        </p:nvSpPr>
        <p:spPr>
          <a:xfrm>
            <a:off x="1184071" y="3975124"/>
            <a:ext cx="6672278" cy="43858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开展数据分析与结果检验，讨论主要发现与应用价值。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868046" y="3649980"/>
            <a:ext cx="6059228" cy="3187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 研究分析与结果讨论</a:t>
            </a:r>
          </a:p>
        </p:txBody>
      </p:sp>
      <p:sp>
        <p:nvSpPr>
          <p:cNvPr id="2" name="文本框 24"/>
          <p:cNvSpPr txBox="1"/>
          <p:nvPr/>
        </p:nvSpPr>
        <p:spPr>
          <a:xfrm>
            <a:off x="1189152" y="4761531"/>
            <a:ext cx="6672278" cy="2527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归纳主要结论，说明研究局限与后续研究方向。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873125" y="4443095"/>
            <a:ext cx="2179955" cy="3187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结论与展望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868045" y="2051050"/>
            <a:ext cx="5772150" cy="3187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研究问题与分析框架</a:t>
            </a:r>
          </a:p>
        </p:txBody>
      </p:sp>
      <p:sp>
        <p:nvSpPr>
          <p:cNvPr id="10" name="文本框 24"/>
          <p:cNvSpPr txBox="1"/>
          <p:nvPr/>
        </p:nvSpPr>
        <p:spPr>
          <a:xfrm>
            <a:off x="1184072" y="2375401"/>
            <a:ext cx="6672278" cy="25391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提出研究问题，形成研究假设或分析框架。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12491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9060101010101" charset="-122"/>
                <a:ea typeface="黑体" panose="02010609060101010101" charset="-122"/>
              </a:rPr>
              <a:t>进度安排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3323137828"/>
              </p:ext>
            </p:extLst>
          </p:nvPr>
        </p:nvGraphicFramePr>
        <p:xfrm>
          <a:off x="647065" y="736600"/>
          <a:ext cx="8118475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起止时间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工作内容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阶段1：填写时间区间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完成文献梳理，明确研究问题与研究方案。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阶段2：填写时间区间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开展前期调研，完善研究工具。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阶段3：填写时间区间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获取研究数据并完成整理。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阶段4：填写时间区间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建立研究模型或分析框架。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阶段5：填写时间区间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进行实证分析、试验或案例研究。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阶段6：填写时间区间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撰写论文初稿，完善论证。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阶段7：填写时间区间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完成阶段检查与修改。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阶段8：填写时间区间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定稿并准备论文答辩。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 advTm="27363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2458991" y="1941827"/>
            <a:ext cx="5839485" cy="83099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071F65"/>
                </a:solidFill>
                <a:latin typeface="+mj-ea"/>
                <a:ea typeface="+mj-ea"/>
              </a:rPr>
              <a:t>THANKS</a:t>
            </a:r>
            <a:endParaRPr lang="zh-CN" altLang="en-US" sz="5000" b="1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3042326" y="2900799"/>
            <a:ext cx="5031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rgbClr val="24211D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494534" y="3027505"/>
            <a:ext cx="4339988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恳请各位老师批评指正！谢谢！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40" y="6985"/>
            <a:ext cx="2398395" cy="53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4457">
        <p14:switch dir="r"/>
      </p:transition>
    </mc:Choice>
    <mc:Fallback xmlns="">
      <p:transition spd="slow" advTm="4457">
        <p:fade/>
      </p:transition>
    </mc:Fallback>
  </mc:AlternateContent>
</p:sld>
</file>

<file path=ppt/theme/theme1.xml><?xml version="1.0" encoding="utf-8"?>
<a:theme xmlns:a="http://schemas.openxmlformats.org/drawingml/2006/main" name="www.33ppt.com 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465</TotalTime>
  <Words>1988</Words>
  <Application>Microsoft Office PowerPoint</Application>
  <PresentationFormat>全屏显示(16:9)</PresentationFormat>
  <Paragraphs>164</Paragraphs>
  <Slides>15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模板四</dc:title>
  <dc:subject/>
  <dc:creator/>
  <cp:keywords/>
  <dc:description/>
  <cp:lastModifiedBy/>
  <cp:revision>195</cp:revision>
  <dcterms:created xsi:type="dcterms:W3CDTF">2014-06-03T07:56:00Z</dcterms:created>
  <dcterms:modified xsi:type="dcterms:W3CDTF">2021-09-27T16:07:49Z</dcterms:modified>
  <cp:category>www.33ppt.com</cp:category>
</cp:coreProperties>
</file>