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87" r:id="rId6"/>
    <p:sldId id="309" r:id="rId8"/>
    <p:sldId id="327" r:id="rId9"/>
    <p:sldId id="310" r:id="rId12"/>
    <p:sldId id="316" r:id="rId16"/>
    <p:sldId id="317" r:id="rId18"/>
    <p:sldId id="320" r:id="rId20"/>
    <p:sldId id="321" r:id="rId21"/>
    <p:sldId id="312" r:id="rId22"/>
    <p:sldId id="322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89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77" autoAdjust="0"/>
  </p:normalViewPr>
  <p:slideViewPr>
    <p:cSldViewPr snapToGrid="0">
      <p:cViewPr>
        <p:scale>
          <a:sx n="75" d="100"/>
          <a:sy n="75" d="100"/>
        </p:scale>
        <p:origin x="754" y="173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12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8.xml"/><Relationship Id="rId7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3.xml"/><Relationship Id="rId7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8.xml"/><Relationship Id="rId7" Type="http://schemas.openxmlformats.org/officeDocument/2006/relationships/image" Target="../media/image1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23.xml"/><Relationship Id="rId7" Type="http://schemas.openxmlformats.org/officeDocument/2006/relationships/image" Target="../media/image1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E22D08-070E-D2A5-49E8-7C820FE58F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7CC660-D1CC-3134-39CA-F84178F6F3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9D4B5B-527A-7404-CB86-23929C29A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56A3-D631-4D87-87DE-9EFFF8E67DDB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261114-C492-84B1-5040-A4B569D50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DDCED1-215C-548B-0CBC-5DB35F5CD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3240F-2DCC-4337-8FDC-3D26A6FF5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06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50A89-7589-1FE2-26EF-CCA29F181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804944-5187-437A-58F8-CBEE6F76A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34D38-D45A-4F05-228C-72B47CE65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56A3-D631-4D87-87DE-9EFFF8E67DDB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2E0638-6BEE-99F3-EF69-DB40122A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223782-E7CA-0ACC-EBAD-FCCB4240C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3240F-2DCC-4337-8FDC-3D26A6FF5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166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020DB3-AE46-C5F9-20D6-845FFE608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81A7B7-3456-9D7B-4745-7C3F2A4B2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A11BCC-AE87-F395-BEFA-57835DACC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56A3-D631-4D87-87DE-9EFFF8E67DDB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7EC191-EC7B-E74A-5609-5BBA66D06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27AD2C-B558-799F-6B8F-C7FC952D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3240F-2DCC-4337-8FDC-3D26A6FF5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911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3C8A61-BD2B-9BF7-BD87-4F72076E7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DF14D9-B2ED-EF40-3199-BE2DAFF1C8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67789C-B2B2-185D-60C3-7BA4481A3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2CA2E0-378C-97CC-6BD6-D18CDE2DD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56A3-D631-4D87-87DE-9EFFF8E67DDB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0D169F-B3D6-E307-D21B-35E963410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85061E-9339-70BE-E5EB-BC81F079B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3240F-2DCC-4337-8FDC-3D26A6FF5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432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967B9F-3797-043B-A559-4F3B8B08E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4FBB11-3C1A-16F8-1C7E-49F741542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19978F-1D24-64FF-65F6-AA00E3F30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F18DB86-C80C-17BF-5379-8D214EE980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5D59DDA-1BAE-C7CF-D1EC-7E0A2483A0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F0E8986-A081-4305-5DC7-3FDA8A154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56A3-D631-4D87-87DE-9EFFF8E67DDB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808BDA4-3C32-707E-10AA-65CBC9562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95DF843-D448-DF48-B861-1C3799BD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3240F-2DCC-4337-8FDC-3D26A6FF5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753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D6B91-842A-414E-5317-32D0B6EEC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665C0B3-BE3E-AD26-0B18-0C7B3FD9B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56A3-D631-4D87-87DE-9EFFF8E67DDB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C69995-0B1E-F210-4CA6-EC3BF8607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CFBF66A-0AAD-8615-7F7B-8608638B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3240F-2DCC-4337-8FDC-3D26A6FF5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858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82A3829-7DC8-7217-3471-B89D8BD15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56A3-D631-4D87-87DE-9EFFF8E67DDB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8A5685-BA5A-E029-1B0C-144A50A6E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35C9A8-0945-71FB-31A5-CECCA229A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3240F-2DCC-4337-8FDC-3D26A6FF5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776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B48B71-965D-40D2-FBE2-6D05BBBCE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4D20BD-2194-5D5B-2A4B-D15FB08C1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935102-0F38-5AAE-DFBA-EF119F3A3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DCA91B-F171-50E3-F8A3-D83396470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56A3-D631-4D87-87DE-9EFFF8E67DDB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61161-BAEA-EB90-7721-4378E63E4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469FB5-105E-6E7B-2367-78D5AC18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3240F-2DCC-4337-8FDC-3D26A6FF5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974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78FCC6-C86B-7F60-58B4-E7C7C1914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F1227F-20A2-D4EC-127C-BBD1C369EC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7B1E66-31D1-CA7B-D9A4-ECD9ADA29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FACC00-DBEB-24D5-727F-6386B9E9B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56A3-D631-4D87-87DE-9EFFF8E67DDB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4B6B6B-6C5F-4F08-AA33-E8355B47B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A4385B-A18C-AB0C-1331-476F1C447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3240F-2DCC-4337-8FDC-3D26A6FF5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745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C57306-B7FF-D272-5FEF-EFFB9658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D90412-C9CC-FFC7-6A06-A13BFBD33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A149D5-014E-BD34-689D-17018E6A1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56A3-D631-4D87-87DE-9EFFF8E67DDB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9793C1-983B-E1DA-12FB-B1D393EA3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0ACFF4-AF67-B6E7-BC65-7BFB0DDC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3240F-2DCC-4337-8FDC-3D26A6FF5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012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CEFDD2E3-829B-0C57-ED9B-4815B9AA4398}"/>
              </a:ext>
            </a:extLst>
          </p:cNvPr>
          <p:cNvSpPr/>
          <p:nvPr userDrawn="1"/>
        </p:nvSpPr>
        <p:spPr>
          <a:xfrm>
            <a:off x="0" y="-5902"/>
            <a:ext cx="12192000" cy="646661"/>
          </a:xfrm>
          <a:prstGeom prst="rect">
            <a:avLst/>
          </a:prstGeom>
          <a:solidFill>
            <a:srgbClr val="2B57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AD6A812-7D40-A377-E95F-34426E0474D0}"/>
              </a:ext>
            </a:extLst>
          </p:cNvPr>
          <p:cNvCxnSpPr>
            <a:cxnSpLocks/>
          </p:cNvCxnSpPr>
          <p:nvPr userDrawn="1"/>
        </p:nvCxnSpPr>
        <p:spPr>
          <a:xfrm>
            <a:off x="5793026" y="133562"/>
            <a:ext cx="0" cy="374895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94B51CE-A02D-9F82-7842-FBE31B26951E}"/>
              </a:ext>
            </a:extLst>
          </p:cNvPr>
          <p:cNvCxnSpPr>
            <a:cxnSpLocks/>
          </p:cNvCxnSpPr>
          <p:nvPr userDrawn="1"/>
        </p:nvCxnSpPr>
        <p:spPr>
          <a:xfrm>
            <a:off x="3959520" y="125606"/>
            <a:ext cx="0" cy="375083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2AD4E94-B4D5-816D-53DC-2A48AA2EF20A}"/>
              </a:ext>
            </a:extLst>
          </p:cNvPr>
          <p:cNvCxnSpPr>
            <a:cxnSpLocks/>
          </p:cNvCxnSpPr>
          <p:nvPr userDrawn="1"/>
        </p:nvCxnSpPr>
        <p:spPr>
          <a:xfrm>
            <a:off x="7618568" y="125499"/>
            <a:ext cx="0" cy="375190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5E85A9E-D99C-D779-1906-DC55C1E57037}"/>
              </a:ext>
            </a:extLst>
          </p:cNvPr>
          <p:cNvCxnSpPr>
            <a:cxnSpLocks/>
          </p:cNvCxnSpPr>
          <p:nvPr userDrawn="1"/>
        </p:nvCxnSpPr>
        <p:spPr>
          <a:xfrm>
            <a:off x="9903426" y="125499"/>
            <a:ext cx="0" cy="382958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67E21AD7-2125-83CB-D0E0-5A64AD8BF49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1" y="66000"/>
            <a:ext cx="1978182" cy="517025"/>
          </a:xfrm>
          <a:prstGeom prst="rect">
            <a:avLst/>
          </a:prstGeom>
        </p:spPr>
      </p:pic>
      <p:sp>
        <p:nvSpPr>
          <p:cNvPr id="25" name="PA_文本框 46">
            <a:extLst>
              <a:ext uri="{FF2B5EF4-FFF2-40B4-BE49-F238E27FC236}">
                <a16:creationId xmlns:a16="http://schemas.microsoft.com/office/drawing/2014/main" id="{844C28F5-3F15-DF8B-F3B6-7EF8F2557875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2159414" y="125499"/>
            <a:ext cx="1800106" cy="380149"/>
          </a:xfrm>
          <a:prstGeom prst="rect">
            <a:avLst/>
          </a:prstGeom>
          <a:noFill/>
          <a:effectLst>
            <a:outerShdw blurRad="139700" dist="63500" dir="5400000" algn="t" rotWithShape="0">
              <a:schemeClr val="bg1">
                <a:alpha val="40000"/>
              </a:schemeClr>
            </a:outerShdw>
          </a:effectLst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</a:p>
        </p:txBody>
      </p:sp>
      <p:sp>
        <p:nvSpPr>
          <p:cNvPr id="26" name="PA_文本框 46">
            <a:extLst>
              <a:ext uri="{FF2B5EF4-FFF2-40B4-BE49-F238E27FC236}">
                <a16:creationId xmlns:a16="http://schemas.microsoft.com/office/drawing/2014/main" id="{C448B053-2A00-21A6-C10E-1338F655D545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3978340" y="134169"/>
            <a:ext cx="1810755" cy="366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国内外研究现状</a:t>
            </a:r>
          </a:p>
        </p:txBody>
      </p:sp>
      <p:sp>
        <p:nvSpPr>
          <p:cNvPr id="27" name="PA_文本框 46">
            <a:extLst>
              <a:ext uri="{FF2B5EF4-FFF2-40B4-BE49-F238E27FC236}">
                <a16:creationId xmlns:a16="http://schemas.microsoft.com/office/drawing/2014/main" id="{D71F3E96-8985-DD2F-355C-1F6CF46D9D35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793024" y="133563"/>
            <a:ext cx="1821609" cy="366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研究目标与内容</a:t>
            </a:r>
          </a:p>
        </p:txBody>
      </p:sp>
      <p:sp>
        <p:nvSpPr>
          <p:cNvPr id="28" name="PA_文本框 46">
            <a:extLst>
              <a:ext uri="{FF2B5EF4-FFF2-40B4-BE49-F238E27FC236}">
                <a16:creationId xmlns:a16="http://schemas.microsoft.com/office/drawing/2014/main" id="{E6D98322-595A-2A08-8ACA-B58F8ACE924A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7622500" y="125499"/>
            <a:ext cx="2266140" cy="352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研究方法与技术路线</a:t>
            </a:r>
          </a:p>
        </p:txBody>
      </p:sp>
      <p:sp>
        <p:nvSpPr>
          <p:cNvPr id="29" name="PA_文本框 46">
            <a:extLst>
              <a:ext uri="{FF2B5EF4-FFF2-40B4-BE49-F238E27FC236}">
                <a16:creationId xmlns:a16="http://schemas.microsoft.com/office/drawing/2014/main" id="{E7AD48EA-BA31-E709-9EE2-B725597F870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9926968" y="133561"/>
            <a:ext cx="2266036" cy="374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研究条件与进度计划</a:t>
            </a:r>
          </a:p>
        </p:txBody>
      </p:sp>
      <p:sp>
        <p:nvSpPr>
          <p:cNvPr id="30" name="等腰三角形 29">
            <a:extLst>
              <a:ext uri="{FF2B5EF4-FFF2-40B4-BE49-F238E27FC236}">
                <a16:creationId xmlns:a16="http://schemas.microsoft.com/office/drawing/2014/main" id="{E2605C03-854A-B589-59B2-EC1C76048C90}"/>
              </a:ext>
            </a:extLst>
          </p:cNvPr>
          <p:cNvSpPr/>
          <p:nvPr userDrawn="1"/>
        </p:nvSpPr>
        <p:spPr>
          <a:xfrm>
            <a:off x="2663514" y="532159"/>
            <a:ext cx="657793" cy="108493"/>
          </a:xfrm>
          <a:prstGeom prst="triangle">
            <a:avLst>
              <a:gd name="adj" fmla="val 5038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4266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BB4E6F2-773D-4738-FC65-7D9BB9062455}"/>
              </a:ext>
            </a:extLst>
          </p:cNvPr>
          <p:cNvSpPr/>
          <p:nvPr userDrawn="1"/>
        </p:nvSpPr>
        <p:spPr>
          <a:xfrm>
            <a:off x="0" y="-5902"/>
            <a:ext cx="12192000" cy="646661"/>
          </a:xfrm>
          <a:prstGeom prst="rect">
            <a:avLst/>
          </a:prstGeom>
          <a:solidFill>
            <a:srgbClr val="2B57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552C77A-E188-4B6E-F616-DE2B3009BDAE}"/>
              </a:ext>
            </a:extLst>
          </p:cNvPr>
          <p:cNvCxnSpPr>
            <a:cxnSpLocks/>
          </p:cNvCxnSpPr>
          <p:nvPr userDrawn="1"/>
        </p:nvCxnSpPr>
        <p:spPr>
          <a:xfrm>
            <a:off x="5793026" y="133562"/>
            <a:ext cx="0" cy="374895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1BA9D2E-D971-9E14-59A9-C4EC13CECEE7}"/>
              </a:ext>
            </a:extLst>
          </p:cNvPr>
          <p:cNvCxnSpPr>
            <a:cxnSpLocks/>
          </p:cNvCxnSpPr>
          <p:nvPr userDrawn="1"/>
        </p:nvCxnSpPr>
        <p:spPr>
          <a:xfrm>
            <a:off x="3959520" y="125606"/>
            <a:ext cx="0" cy="375083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EAE162F-4F51-2F96-F7EB-48BA6859EFD0}"/>
              </a:ext>
            </a:extLst>
          </p:cNvPr>
          <p:cNvCxnSpPr>
            <a:cxnSpLocks/>
          </p:cNvCxnSpPr>
          <p:nvPr userDrawn="1"/>
        </p:nvCxnSpPr>
        <p:spPr>
          <a:xfrm>
            <a:off x="7618568" y="125499"/>
            <a:ext cx="0" cy="375190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0E42EA9-39B6-58DE-071B-706243D1BFCA}"/>
              </a:ext>
            </a:extLst>
          </p:cNvPr>
          <p:cNvCxnSpPr>
            <a:cxnSpLocks/>
          </p:cNvCxnSpPr>
          <p:nvPr userDrawn="1"/>
        </p:nvCxnSpPr>
        <p:spPr>
          <a:xfrm>
            <a:off x="9903426" y="125499"/>
            <a:ext cx="0" cy="382958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6634B606-08DB-B3BC-9ECF-76B34E1EF27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1" y="66000"/>
            <a:ext cx="1978182" cy="517025"/>
          </a:xfrm>
          <a:prstGeom prst="rect">
            <a:avLst/>
          </a:prstGeom>
        </p:spPr>
      </p:pic>
      <p:sp>
        <p:nvSpPr>
          <p:cNvPr id="13" name="PA_文本框 46">
            <a:extLst>
              <a:ext uri="{FF2B5EF4-FFF2-40B4-BE49-F238E27FC236}">
                <a16:creationId xmlns:a16="http://schemas.microsoft.com/office/drawing/2014/main" id="{4C9F1327-C6F9-3289-B2A6-1C683EFE340F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3978340" y="134169"/>
            <a:ext cx="1810755" cy="366520"/>
          </a:xfrm>
          <a:prstGeom prst="rect">
            <a:avLst/>
          </a:prstGeom>
          <a:noFill/>
          <a:effectLst>
            <a:outerShdw blurRad="139700" dist="63500" dir="5400000" algn="t" rotWithShape="0">
              <a:schemeClr val="bg1">
                <a:alpha val="40000"/>
              </a:schemeClr>
            </a:outerShdw>
          </a:effectLst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国内外研究现状</a:t>
            </a:r>
          </a:p>
        </p:txBody>
      </p:sp>
      <p:sp>
        <p:nvSpPr>
          <p:cNvPr id="14" name="PA_文本框 46">
            <a:extLst>
              <a:ext uri="{FF2B5EF4-FFF2-40B4-BE49-F238E27FC236}">
                <a16:creationId xmlns:a16="http://schemas.microsoft.com/office/drawing/2014/main" id="{A87B59F3-B287-B5E3-B101-26243E0B5A7D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793024" y="125499"/>
            <a:ext cx="1821609" cy="374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研究目标与内容</a:t>
            </a:r>
          </a:p>
        </p:txBody>
      </p:sp>
      <p:sp>
        <p:nvSpPr>
          <p:cNvPr id="15" name="PA_文本框 46">
            <a:extLst>
              <a:ext uri="{FF2B5EF4-FFF2-40B4-BE49-F238E27FC236}">
                <a16:creationId xmlns:a16="http://schemas.microsoft.com/office/drawing/2014/main" id="{0A4CF74A-9F09-A9D3-2569-5B108407706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7622500" y="125499"/>
            <a:ext cx="2266140" cy="380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研究方法与技术路线</a:t>
            </a:r>
          </a:p>
        </p:txBody>
      </p:sp>
      <p:sp>
        <p:nvSpPr>
          <p:cNvPr id="16" name="PA_文本框 46">
            <a:extLst>
              <a:ext uri="{FF2B5EF4-FFF2-40B4-BE49-F238E27FC236}">
                <a16:creationId xmlns:a16="http://schemas.microsoft.com/office/drawing/2014/main" id="{7F334F2A-EA3B-3944-3BE6-81675BAFBB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9926968" y="133562"/>
            <a:ext cx="2266036" cy="34462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研究条件与进度计划</a:t>
            </a:r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F1009657-E347-1B35-2C1C-1C8AE96F4B4C}"/>
              </a:ext>
            </a:extLst>
          </p:cNvPr>
          <p:cNvSpPr/>
          <p:nvPr userDrawn="1"/>
        </p:nvSpPr>
        <p:spPr>
          <a:xfrm>
            <a:off x="4554820" y="532159"/>
            <a:ext cx="657793" cy="108493"/>
          </a:xfrm>
          <a:prstGeom prst="triangle">
            <a:avLst>
              <a:gd name="adj" fmla="val 5038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PA_文本框 46">
            <a:extLst>
              <a:ext uri="{FF2B5EF4-FFF2-40B4-BE49-F238E27FC236}">
                <a16:creationId xmlns:a16="http://schemas.microsoft.com/office/drawing/2014/main" id="{DDE5F32B-6A47-6BAA-BD2E-F6B6CB57FA2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2139245" y="125499"/>
            <a:ext cx="1821609" cy="374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CB0722D7-5DE8-6C24-3949-B4AD724DA2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9016" b="38150"/>
          <a:stretch/>
        </p:blipFill>
        <p:spPr>
          <a:xfrm>
            <a:off x="8584983" y="2428095"/>
            <a:ext cx="3607017" cy="4429905"/>
          </a:xfrm>
          <a:custGeom>
            <a:avLst/>
            <a:gdLst>
              <a:gd name="connsiteX0" fmla="*/ 0 w 3607017"/>
              <a:gd name="connsiteY0" fmla="*/ 0 h 4429905"/>
              <a:gd name="connsiteX1" fmla="*/ 3607017 w 3607017"/>
              <a:gd name="connsiteY1" fmla="*/ 0 h 4429905"/>
              <a:gd name="connsiteX2" fmla="*/ 3607017 w 3607017"/>
              <a:gd name="connsiteY2" fmla="*/ 4114500 h 4429905"/>
              <a:gd name="connsiteX3" fmla="*/ 3291612 w 3607017"/>
              <a:gd name="connsiteY3" fmla="*/ 4429905 h 4429905"/>
              <a:gd name="connsiteX4" fmla="*/ 0 w 3607017"/>
              <a:gd name="connsiteY4" fmla="*/ 4429905 h 4429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07017" h="4429905">
                <a:moveTo>
                  <a:pt x="0" y="0"/>
                </a:moveTo>
                <a:lnTo>
                  <a:pt x="3607017" y="0"/>
                </a:lnTo>
                <a:lnTo>
                  <a:pt x="3607017" y="4114500"/>
                </a:lnTo>
                <a:cubicBezTo>
                  <a:pt x="3607017" y="4288693"/>
                  <a:pt x="3465805" y="4429905"/>
                  <a:pt x="3291612" y="4429905"/>
                </a:cubicBezTo>
                <a:lnTo>
                  <a:pt x="0" y="442990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99395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7F22F29-5C5E-7011-F5D0-F84B39930541}"/>
              </a:ext>
            </a:extLst>
          </p:cNvPr>
          <p:cNvSpPr/>
          <p:nvPr userDrawn="1"/>
        </p:nvSpPr>
        <p:spPr>
          <a:xfrm>
            <a:off x="0" y="-5902"/>
            <a:ext cx="12192000" cy="646661"/>
          </a:xfrm>
          <a:prstGeom prst="rect">
            <a:avLst/>
          </a:prstGeom>
          <a:solidFill>
            <a:srgbClr val="2B57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609405D-9A3D-F9C9-5FB6-8AC63161A925}"/>
              </a:ext>
            </a:extLst>
          </p:cNvPr>
          <p:cNvCxnSpPr>
            <a:cxnSpLocks/>
          </p:cNvCxnSpPr>
          <p:nvPr userDrawn="1"/>
        </p:nvCxnSpPr>
        <p:spPr>
          <a:xfrm>
            <a:off x="5793026" y="133562"/>
            <a:ext cx="0" cy="374895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BDAE67C-5884-B87F-B4FC-348D679D0492}"/>
              </a:ext>
            </a:extLst>
          </p:cNvPr>
          <p:cNvCxnSpPr>
            <a:cxnSpLocks/>
          </p:cNvCxnSpPr>
          <p:nvPr userDrawn="1"/>
        </p:nvCxnSpPr>
        <p:spPr>
          <a:xfrm>
            <a:off x="3959520" y="125606"/>
            <a:ext cx="0" cy="375083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8D26CA2-0E2B-5E07-68D6-741C07D60EE5}"/>
              </a:ext>
            </a:extLst>
          </p:cNvPr>
          <p:cNvCxnSpPr>
            <a:cxnSpLocks/>
          </p:cNvCxnSpPr>
          <p:nvPr userDrawn="1"/>
        </p:nvCxnSpPr>
        <p:spPr>
          <a:xfrm>
            <a:off x="7618568" y="125499"/>
            <a:ext cx="0" cy="375190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844AEBF-92C3-9464-B8C6-1A04DC08BFBC}"/>
              </a:ext>
            </a:extLst>
          </p:cNvPr>
          <p:cNvCxnSpPr>
            <a:cxnSpLocks/>
          </p:cNvCxnSpPr>
          <p:nvPr userDrawn="1"/>
        </p:nvCxnSpPr>
        <p:spPr>
          <a:xfrm>
            <a:off x="9903426" y="125499"/>
            <a:ext cx="0" cy="382958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279747EE-2E3C-691D-2795-84F64EC28B1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1" y="66000"/>
            <a:ext cx="1978182" cy="517025"/>
          </a:xfrm>
          <a:prstGeom prst="rect">
            <a:avLst/>
          </a:prstGeom>
        </p:spPr>
      </p:pic>
      <p:sp>
        <p:nvSpPr>
          <p:cNvPr id="13" name="PA_文本框 46">
            <a:extLst>
              <a:ext uri="{FF2B5EF4-FFF2-40B4-BE49-F238E27FC236}">
                <a16:creationId xmlns:a16="http://schemas.microsoft.com/office/drawing/2014/main" id="{AC1FC7B6-94F3-08E2-E1D6-36CEB25E5588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5793024" y="125499"/>
            <a:ext cx="1821609" cy="374895"/>
          </a:xfrm>
          <a:prstGeom prst="rect">
            <a:avLst/>
          </a:prstGeom>
          <a:noFill/>
          <a:effectLst>
            <a:outerShdw blurRad="139700" dist="63500" dir="5400000" algn="t" rotWithShape="0">
              <a:schemeClr val="bg1">
                <a:alpha val="40000"/>
              </a:schemeClr>
            </a:outerShdw>
          </a:effectLst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FF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研究目标与内容</a:t>
            </a:r>
          </a:p>
        </p:txBody>
      </p:sp>
      <p:sp>
        <p:nvSpPr>
          <p:cNvPr id="14" name="PA_文本框 46">
            <a:extLst>
              <a:ext uri="{FF2B5EF4-FFF2-40B4-BE49-F238E27FC236}">
                <a16:creationId xmlns:a16="http://schemas.microsoft.com/office/drawing/2014/main" id="{A428DEC1-E59F-5B5A-0010-4758DC9DBE0A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622500" y="125499"/>
            <a:ext cx="2266140" cy="380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研究方法与技术路线</a:t>
            </a:r>
          </a:p>
        </p:txBody>
      </p:sp>
      <p:sp>
        <p:nvSpPr>
          <p:cNvPr id="15" name="PA_文本框 46">
            <a:extLst>
              <a:ext uri="{FF2B5EF4-FFF2-40B4-BE49-F238E27FC236}">
                <a16:creationId xmlns:a16="http://schemas.microsoft.com/office/drawing/2014/main" id="{85521C37-453A-39B5-3DBB-646CB06DF56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9926968" y="133562"/>
            <a:ext cx="2266036" cy="34462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研究条件与进度计划</a:t>
            </a:r>
          </a:p>
        </p:txBody>
      </p:sp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76A3592C-23FA-EA01-F3F4-B6481FF9F9FB}"/>
              </a:ext>
            </a:extLst>
          </p:cNvPr>
          <p:cNvSpPr/>
          <p:nvPr userDrawn="1"/>
        </p:nvSpPr>
        <p:spPr>
          <a:xfrm>
            <a:off x="6429340" y="532159"/>
            <a:ext cx="657793" cy="108493"/>
          </a:xfrm>
          <a:prstGeom prst="triangle">
            <a:avLst>
              <a:gd name="adj" fmla="val 5038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PA_文本框 46">
            <a:extLst>
              <a:ext uri="{FF2B5EF4-FFF2-40B4-BE49-F238E27FC236}">
                <a16:creationId xmlns:a16="http://schemas.microsoft.com/office/drawing/2014/main" id="{D53C9390-3144-7C98-24C3-BEEAEBFD8D5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2139245" y="125499"/>
            <a:ext cx="1821609" cy="374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</a:p>
        </p:txBody>
      </p:sp>
      <p:sp>
        <p:nvSpPr>
          <p:cNvPr id="18" name="PA_文本框 46">
            <a:extLst>
              <a:ext uri="{FF2B5EF4-FFF2-40B4-BE49-F238E27FC236}">
                <a16:creationId xmlns:a16="http://schemas.microsoft.com/office/drawing/2014/main" id="{2C250AFE-8162-2ADF-9C79-A2A3FD4E866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3959644" y="118425"/>
            <a:ext cx="1821609" cy="374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国内外研究现状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1A8B7662-C1E0-8FDC-11D6-424461B6DD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9016" b="38150"/>
          <a:stretch/>
        </p:blipFill>
        <p:spPr>
          <a:xfrm>
            <a:off x="8584983" y="2428095"/>
            <a:ext cx="3607017" cy="4429905"/>
          </a:xfrm>
          <a:custGeom>
            <a:avLst/>
            <a:gdLst>
              <a:gd name="connsiteX0" fmla="*/ 0 w 3607017"/>
              <a:gd name="connsiteY0" fmla="*/ 0 h 4429905"/>
              <a:gd name="connsiteX1" fmla="*/ 3607017 w 3607017"/>
              <a:gd name="connsiteY1" fmla="*/ 0 h 4429905"/>
              <a:gd name="connsiteX2" fmla="*/ 3607017 w 3607017"/>
              <a:gd name="connsiteY2" fmla="*/ 4114500 h 4429905"/>
              <a:gd name="connsiteX3" fmla="*/ 3291612 w 3607017"/>
              <a:gd name="connsiteY3" fmla="*/ 4429905 h 4429905"/>
              <a:gd name="connsiteX4" fmla="*/ 0 w 3607017"/>
              <a:gd name="connsiteY4" fmla="*/ 4429905 h 4429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07017" h="4429905">
                <a:moveTo>
                  <a:pt x="0" y="0"/>
                </a:moveTo>
                <a:lnTo>
                  <a:pt x="3607017" y="0"/>
                </a:lnTo>
                <a:lnTo>
                  <a:pt x="3607017" y="4114500"/>
                </a:lnTo>
                <a:cubicBezTo>
                  <a:pt x="3607017" y="4288693"/>
                  <a:pt x="3465805" y="4429905"/>
                  <a:pt x="3291612" y="4429905"/>
                </a:cubicBezTo>
                <a:lnTo>
                  <a:pt x="0" y="442990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6839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8689EF5-F9E2-0BF3-C015-38292D27BC95}"/>
              </a:ext>
            </a:extLst>
          </p:cNvPr>
          <p:cNvSpPr/>
          <p:nvPr userDrawn="1"/>
        </p:nvSpPr>
        <p:spPr>
          <a:xfrm>
            <a:off x="0" y="-5902"/>
            <a:ext cx="12192000" cy="646661"/>
          </a:xfrm>
          <a:prstGeom prst="rect">
            <a:avLst/>
          </a:prstGeom>
          <a:solidFill>
            <a:srgbClr val="2B57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E6DE1E9-3E59-36F1-EB71-EFEB5BF4A89B}"/>
              </a:ext>
            </a:extLst>
          </p:cNvPr>
          <p:cNvCxnSpPr>
            <a:cxnSpLocks/>
          </p:cNvCxnSpPr>
          <p:nvPr userDrawn="1"/>
        </p:nvCxnSpPr>
        <p:spPr>
          <a:xfrm>
            <a:off x="5793026" y="133562"/>
            <a:ext cx="0" cy="374895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3136D65-7FF0-3256-3F07-6C318B2E99D2}"/>
              </a:ext>
            </a:extLst>
          </p:cNvPr>
          <p:cNvCxnSpPr>
            <a:cxnSpLocks/>
          </p:cNvCxnSpPr>
          <p:nvPr userDrawn="1"/>
        </p:nvCxnSpPr>
        <p:spPr>
          <a:xfrm>
            <a:off x="3959520" y="125606"/>
            <a:ext cx="0" cy="375083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B4E6C3B-05FF-BBCA-780B-AE936ECEB3ED}"/>
              </a:ext>
            </a:extLst>
          </p:cNvPr>
          <p:cNvCxnSpPr>
            <a:cxnSpLocks/>
          </p:cNvCxnSpPr>
          <p:nvPr userDrawn="1"/>
        </p:nvCxnSpPr>
        <p:spPr>
          <a:xfrm>
            <a:off x="7618568" y="125499"/>
            <a:ext cx="0" cy="375190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2F3B27C-7207-F6D5-9A63-A3C282BE1CB8}"/>
              </a:ext>
            </a:extLst>
          </p:cNvPr>
          <p:cNvCxnSpPr>
            <a:cxnSpLocks/>
          </p:cNvCxnSpPr>
          <p:nvPr userDrawn="1"/>
        </p:nvCxnSpPr>
        <p:spPr>
          <a:xfrm>
            <a:off x="9903426" y="125499"/>
            <a:ext cx="0" cy="382958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B2508F21-034B-9B05-6B58-224284996F6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1" y="66000"/>
            <a:ext cx="1978182" cy="517025"/>
          </a:xfrm>
          <a:prstGeom prst="rect">
            <a:avLst/>
          </a:prstGeom>
        </p:spPr>
      </p:pic>
      <p:sp>
        <p:nvSpPr>
          <p:cNvPr id="14" name="PA_文本框 46">
            <a:extLst>
              <a:ext uri="{FF2B5EF4-FFF2-40B4-BE49-F238E27FC236}">
                <a16:creationId xmlns:a16="http://schemas.microsoft.com/office/drawing/2014/main" id="{AE1C1370-661A-5AA6-AB44-1CE62157F134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5793024" y="125499"/>
            <a:ext cx="1821609" cy="374895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研究目标与内容</a:t>
            </a:r>
          </a:p>
        </p:txBody>
      </p:sp>
      <p:sp>
        <p:nvSpPr>
          <p:cNvPr id="15" name="PA_文本框 46">
            <a:extLst>
              <a:ext uri="{FF2B5EF4-FFF2-40B4-BE49-F238E27FC236}">
                <a16:creationId xmlns:a16="http://schemas.microsoft.com/office/drawing/2014/main" id="{350C29B8-7705-7965-EF58-97844CF295D9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622500" y="125499"/>
            <a:ext cx="2266140" cy="380149"/>
          </a:xfrm>
          <a:prstGeom prst="rect">
            <a:avLst/>
          </a:prstGeom>
          <a:noFill/>
          <a:effectLst>
            <a:outerShdw blurRad="139700" dist="63500" dir="5400000" algn="t" rotWithShape="0">
              <a:schemeClr val="bg1">
                <a:alpha val="40000"/>
              </a:schemeClr>
            </a:outerShdw>
          </a:effectLst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FF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研究方法与技术路线</a:t>
            </a:r>
          </a:p>
        </p:txBody>
      </p:sp>
      <p:sp>
        <p:nvSpPr>
          <p:cNvPr id="16" name="PA_文本框 46">
            <a:extLst>
              <a:ext uri="{FF2B5EF4-FFF2-40B4-BE49-F238E27FC236}">
                <a16:creationId xmlns:a16="http://schemas.microsoft.com/office/drawing/2014/main" id="{96B834B2-F244-C395-B700-43F292074859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9926968" y="133562"/>
            <a:ext cx="2266036" cy="34462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研究条件与进度计划</a:t>
            </a:r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FEE20715-40B2-7F5B-1200-67D9C7CA46A4}"/>
              </a:ext>
            </a:extLst>
          </p:cNvPr>
          <p:cNvSpPr/>
          <p:nvPr userDrawn="1"/>
        </p:nvSpPr>
        <p:spPr>
          <a:xfrm>
            <a:off x="8473682" y="532159"/>
            <a:ext cx="657793" cy="108493"/>
          </a:xfrm>
          <a:prstGeom prst="triangle">
            <a:avLst>
              <a:gd name="adj" fmla="val 5038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PA_文本框 46">
            <a:extLst>
              <a:ext uri="{FF2B5EF4-FFF2-40B4-BE49-F238E27FC236}">
                <a16:creationId xmlns:a16="http://schemas.microsoft.com/office/drawing/2014/main" id="{2EDB8D66-5841-ED6A-F92E-D670D054D42C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2139245" y="125499"/>
            <a:ext cx="1821609" cy="374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</a:p>
        </p:txBody>
      </p:sp>
      <p:sp>
        <p:nvSpPr>
          <p:cNvPr id="19" name="PA_文本框 46">
            <a:extLst>
              <a:ext uri="{FF2B5EF4-FFF2-40B4-BE49-F238E27FC236}">
                <a16:creationId xmlns:a16="http://schemas.microsoft.com/office/drawing/2014/main" id="{EC88A5AB-C66B-15D6-D212-C218DF1EAA1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3959644" y="118425"/>
            <a:ext cx="1821609" cy="374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国内外研究现状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09FBB33B-02BF-3F90-53B7-FF5FC13B5B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9016" b="38150"/>
          <a:stretch/>
        </p:blipFill>
        <p:spPr>
          <a:xfrm>
            <a:off x="8584983" y="2428095"/>
            <a:ext cx="3607017" cy="4429905"/>
          </a:xfrm>
          <a:custGeom>
            <a:avLst/>
            <a:gdLst>
              <a:gd name="connsiteX0" fmla="*/ 0 w 3607017"/>
              <a:gd name="connsiteY0" fmla="*/ 0 h 4429905"/>
              <a:gd name="connsiteX1" fmla="*/ 3607017 w 3607017"/>
              <a:gd name="connsiteY1" fmla="*/ 0 h 4429905"/>
              <a:gd name="connsiteX2" fmla="*/ 3607017 w 3607017"/>
              <a:gd name="connsiteY2" fmla="*/ 4114500 h 4429905"/>
              <a:gd name="connsiteX3" fmla="*/ 3291612 w 3607017"/>
              <a:gd name="connsiteY3" fmla="*/ 4429905 h 4429905"/>
              <a:gd name="connsiteX4" fmla="*/ 0 w 3607017"/>
              <a:gd name="connsiteY4" fmla="*/ 4429905 h 4429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07017" h="4429905">
                <a:moveTo>
                  <a:pt x="0" y="0"/>
                </a:moveTo>
                <a:lnTo>
                  <a:pt x="3607017" y="0"/>
                </a:lnTo>
                <a:lnTo>
                  <a:pt x="3607017" y="4114500"/>
                </a:lnTo>
                <a:cubicBezTo>
                  <a:pt x="3607017" y="4288693"/>
                  <a:pt x="3465805" y="4429905"/>
                  <a:pt x="3291612" y="4429905"/>
                </a:cubicBezTo>
                <a:lnTo>
                  <a:pt x="0" y="442990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754242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640F8497-64D1-6021-710B-A8BEEC778A4A}"/>
              </a:ext>
            </a:extLst>
          </p:cNvPr>
          <p:cNvSpPr/>
          <p:nvPr userDrawn="1"/>
        </p:nvSpPr>
        <p:spPr>
          <a:xfrm>
            <a:off x="0" y="-5902"/>
            <a:ext cx="12192000" cy="646661"/>
          </a:xfrm>
          <a:prstGeom prst="rect">
            <a:avLst/>
          </a:prstGeom>
          <a:solidFill>
            <a:srgbClr val="2B57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076B12B-D45C-D2F9-9959-DF1CEDD67B96}"/>
              </a:ext>
            </a:extLst>
          </p:cNvPr>
          <p:cNvCxnSpPr>
            <a:cxnSpLocks/>
          </p:cNvCxnSpPr>
          <p:nvPr userDrawn="1"/>
        </p:nvCxnSpPr>
        <p:spPr>
          <a:xfrm>
            <a:off x="5793026" y="133562"/>
            <a:ext cx="0" cy="374895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BBC87C6-0048-068D-34A4-1638C46A4238}"/>
              </a:ext>
            </a:extLst>
          </p:cNvPr>
          <p:cNvCxnSpPr>
            <a:cxnSpLocks/>
          </p:cNvCxnSpPr>
          <p:nvPr userDrawn="1"/>
        </p:nvCxnSpPr>
        <p:spPr>
          <a:xfrm>
            <a:off x="3959520" y="125606"/>
            <a:ext cx="0" cy="375083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F82B89A-5C1C-6820-74FC-9AFCCA467E36}"/>
              </a:ext>
            </a:extLst>
          </p:cNvPr>
          <p:cNvCxnSpPr>
            <a:cxnSpLocks/>
          </p:cNvCxnSpPr>
          <p:nvPr userDrawn="1"/>
        </p:nvCxnSpPr>
        <p:spPr>
          <a:xfrm>
            <a:off x="7618568" y="125499"/>
            <a:ext cx="0" cy="375190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8F08EC1-6EBA-FADB-F0EA-73E185D8C78E}"/>
              </a:ext>
            </a:extLst>
          </p:cNvPr>
          <p:cNvCxnSpPr>
            <a:cxnSpLocks/>
          </p:cNvCxnSpPr>
          <p:nvPr userDrawn="1"/>
        </p:nvCxnSpPr>
        <p:spPr>
          <a:xfrm>
            <a:off x="9903426" y="125499"/>
            <a:ext cx="0" cy="382958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5DBE9D93-0659-7AF8-651E-4DD9A1BBCAC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1" y="66000"/>
            <a:ext cx="1978182" cy="517025"/>
          </a:xfrm>
          <a:prstGeom prst="rect">
            <a:avLst/>
          </a:prstGeom>
        </p:spPr>
      </p:pic>
      <p:sp>
        <p:nvSpPr>
          <p:cNvPr id="16" name="PA_文本框 46">
            <a:extLst>
              <a:ext uri="{FF2B5EF4-FFF2-40B4-BE49-F238E27FC236}">
                <a16:creationId xmlns:a16="http://schemas.microsoft.com/office/drawing/2014/main" id="{27B05360-7997-F485-512C-607FA03243E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5793024" y="125499"/>
            <a:ext cx="1821609" cy="374895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研究目标与内容</a:t>
            </a:r>
          </a:p>
        </p:txBody>
      </p:sp>
      <p:sp>
        <p:nvSpPr>
          <p:cNvPr id="17" name="PA_文本框 46">
            <a:extLst>
              <a:ext uri="{FF2B5EF4-FFF2-40B4-BE49-F238E27FC236}">
                <a16:creationId xmlns:a16="http://schemas.microsoft.com/office/drawing/2014/main" id="{46EADA94-F16E-CC85-259B-09D1A5071929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622500" y="125499"/>
            <a:ext cx="2266140" cy="380149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研究方法与技术路线</a:t>
            </a:r>
          </a:p>
        </p:txBody>
      </p:sp>
      <p:sp>
        <p:nvSpPr>
          <p:cNvPr id="18" name="PA_文本框 46">
            <a:extLst>
              <a:ext uri="{FF2B5EF4-FFF2-40B4-BE49-F238E27FC236}">
                <a16:creationId xmlns:a16="http://schemas.microsoft.com/office/drawing/2014/main" id="{874E562D-74A6-18A8-F208-0EB4E7F3E206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9926968" y="133562"/>
            <a:ext cx="2266036" cy="344622"/>
          </a:xfrm>
          <a:prstGeom prst="rect">
            <a:avLst/>
          </a:prstGeom>
          <a:noFill/>
          <a:effectLst>
            <a:outerShdw blurRad="139700" dist="63500" dir="5400000" algn="t" rotWithShape="0">
              <a:schemeClr val="bg1">
                <a:alpha val="40000"/>
              </a:schemeClr>
            </a:outerShdw>
          </a:effectLst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FF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研究条件与进度计划</a:t>
            </a:r>
          </a:p>
        </p:txBody>
      </p:sp>
      <p:sp>
        <p:nvSpPr>
          <p:cNvPr id="19" name="等腰三角形 18">
            <a:extLst>
              <a:ext uri="{FF2B5EF4-FFF2-40B4-BE49-F238E27FC236}">
                <a16:creationId xmlns:a16="http://schemas.microsoft.com/office/drawing/2014/main" id="{5F4417E4-D0FC-7638-00A9-72162B6619B1}"/>
              </a:ext>
            </a:extLst>
          </p:cNvPr>
          <p:cNvSpPr/>
          <p:nvPr userDrawn="1"/>
        </p:nvSpPr>
        <p:spPr>
          <a:xfrm>
            <a:off x="10744611" y="532159"/>
            <a:ext cx="657793" cy="108493"/>
          </a:xfrm>
          <a:prstGeom prst="triangle">
            <a:avLst>
              <a:gd name="adj" fmla="val 5038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PA_文本框 46">
            <a:extLst>
              <a:ext uri="{FF2B5EF4-FFF2-40B4-BE49-F238E27FC236}">
                <a16:creationId xmlns:a16="http://schemas.microsoft.com/office/drawing/2014/main" id="{6EAD6F6E-E650-E172-4610-B4E98C52CDA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2139245" y="125499"/>
            <a:ext cx="1821609" cy="374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</a:p>
        </p:txBody>
      </p:sp>
      <p:sp>
        <p:nvSpPr>
          <p:cNvPr id="21" name="PA_文本框 46">
            <a:extLst>
              <a:ext uri="{FF2B5EF4-FFF2-40B4-BE49-F238E27FC236}">
                <a16:creationId xmlns:a16="http://schemas.microsoft.com/office/drawing/2014/main" id="{47213E91-3C6F-3351-CA2C-DBFA32F9071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3959644" y="118425"/>
            <a:ext cx="1821609" cy="374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国内外研究现状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A1423E3-1DCC-820F-5161-DFFEB1AA4E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9016" b="38150"/>
          <a:stretch/>
        </p:blipFill>
        <p:spPr>
          <a:xfrm>
            <a:off x="8584983" y="2428095"/>
            <a:ext cx="3607017" cy="4429905"/>
          </a:xfrm>
          <a:custGeom>
            <a:avLst/>
            <a:gdLst>
              <a:gd name="connsiteX0" fmla="*/ 0 w 3607017"/>
              <a:gd name="connsiteY0" fmla="*/ 0 h 4429905"/>
              <a:gd name="connsiteX1" fmla="*/ 3607017 w 3607017"/>
              <a:gd name="connsiteY1" fmla="*/ 0 h 4429905"/>
              <a:gd name="connsiteX2" fmla="*/ 3607017 w 3607017"/>
              <a:gd name="connsiteY2" fmla="*/ 4114500 h 4429905"/>
              <a:gd name="connsiteX3" fmla="*/ 3291612 w 3607017"/>
              <a:gd name="connsiteY3" fmla="*/ 4429905 h 4429905"/>
              <a:gd name="connsiteX4" fmla="*/ 0 w 3607017"/>
              <a:gd name="connsiteY4" fmla="*/ 4429905 h 4429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07017" h="4429905">
                <a:moveTo>
                  <a:pt x="0" y="0"/>
                </a:moveTo>
                <a:lnTo>
                  <a:pt x="3607017" y="0"/>
                </a:lnTo>
                <a:lnTo>
                  <a:pt x="3607017" y="4114500"/>
                </a:lnTo>
                <a:cubicBezTo>
                  <a:pt x="3607017" y="4288693"/>
                  <a:pt x="3465805" y="4429905"/>
                  <a:pt x="3291612" y="4429905"/>
                </a:cubicBezTo>
                <a:lnTo>
                  <a:pt x="0" y="442990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83147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EE8490F-CBC1-09EA-96FF-E55BB28A5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55E683-5838-AC89-A3DE-58DE2528E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3CF6F2-B0A6-2B0F-DFB1-460ED67021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256A3-D631-4D87-87DE-9EFFF8E67DDB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C8CDDB-4AA4-1E44-7472-A0E5634B0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A72C5E-56BB-13E2-5825-832A32D90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3240F-2DCC-4337-8FDC-3D26A6FF5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793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7" Type="http://schemas.openxmlformats.org/officeDocument/2006/relationships/image" Target="../media/image4.jpg"/><Relationship Id="rId6" Type="http://schemas.openxmlformats.org/officeDocument/2006/relationships/image" Target="../media/image3.png"/><Relationship Id="rId4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1.xml"/><Relationship Id="rId5" Type="http://schemas.microsoft.com/office/2007/relationships/hdphoto" Target="../media/hdphoto3.wdp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12.xml"/><Relationship Id="rId11" Type="http://schemas.microsoft.com/office/2007/relationships/hdphoto" Target="../media/hdphoto3.wdp"/><Relationship Id="rId10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12.xml"/><Relationship Id="rId11" Type="http://schemas.microsoft.com/office/2007/relationships/hdphoto" Target="../media/hdphoto3.wdp"/><Relationship Id="rId10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3.xml"/><Relationship Id="rId5" Type="http://schemas.microsoft.com/office/2007/relationships/hdphoto" Target="../media/hdphoto3.wdp"/><Relationship Id="rId4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3.xml"/><Relationship Id="rId6" Type="http://schemas.microsoft.com/office/2007/relationships/hdphoto" Target="../media/hdphoto3.wdp"/><Relationship Id="rId5" Type="http://schemas.openxmlformats.org/officeDocument/2006/relationships/image" Target="../media/image7.png"/><Relationship Id="rId4" Type="http://schemas.openxmlformats.org/officeDocument/2006/relationships/image" Target="../media/image9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5.xml"/><Relationship Id="rId5" Type="http://schemas.microsoft.com/office/2007/relationships/hdphoto" Target="../media/hdphoto3.wdp"/><Relationship Id="rId4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5.xml"/><Relationship Id="rId5" Type="http://schemas.microsoft.com/office/2007/relationships/hdphoto" Target="../media/hdphoto3.wdp"/><Relationship Id="rId4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5.xml"/><Relationship Id="rId5" Type="http://schemas.microsoft.com/office/2007/relationships/hdphoto" Target="../media/hdphoto3.wdp"/><Relationship Id="rId4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DA060F8-389E-FB2D-88BC-724B6962C159}"/>
              </a:ext>
            </a:extLst>
          </p:cNvPr>
          <p:cNvSpPr/>
          <p:nvPr/>
        </p:nvSpPr>
        <p:spPr>
          <a:xfrm>
            <a:off x="0" y="1578461"/>
            <a:ext cx="12192000" cy="3703658"/>
          </a:xfrm>
          <a:prstGeom prst="rect">
            <a:avLst/>
          </a:prstGeom>
          <a:solidFill>
            <a:srgbClr val="2B579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dirty="0">
              <a:solidFill>
                <a:srgbClr val="0E419C"/>
              </a:solidFill>
              <a:cs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FE2B813-5B2E-33C1-628D-61FDCF73F73E}"/>
              </a:ext>
            </a:extLst>
          </p:cNvPr>
          <p:cNvSpPr txBox="1"/>
          <p:nvPr/>
        </p:nvSpPr>
        <p:spPr>
          <a:xfrm>
            <a:off x="0" y="2021604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400" b="1" dirty="0">
                <a:solidFill>
                  <a:schemeClr val="bg1"/>
                </a:solidFill>
                <a:effectLst>
                  <a:glow>
                    <a:schemeClr val="accent5">
                      <a:lumMod val="40000"/>
                      <a:lumOff val="60000"/>
                      <a:alpha val="41000"/>
                    </a:schemeClr>
                  </a:glow>
                  <a:outerShdw blurRad="76200" dist="50800" dir="5400000" sx="101000" sy="101000" algn="ctr" rotWithShape="0">
                    <a:srgbClr val="000000">
                      <a:alpha val="22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在此填写学位论文题目</a:t>
            </a:r>
            <a:endParaRPr kumimoji="1" lang="en-US" altLang="zh-CN" sz="4400" b="1" dirty="0">
              <a:solidFill>
                <a:schemeClr val="bg1"/>
              </a:solidFill>
              <a:effectLst>
                <a:glow>
                  <a:schemeClr val="accent5">
                    <a:lumMod val="40000"/>
                    <a:lumOff val="60000"/>
                    <a:alpha val="41000"/>
                  </a:schemeClr>
                </a:glow>
                <a:outerShdw blurRad="76200" dist="50800" dir="5400000" sx="101000" sy="101000" algn="ctr" rotWithShape="0">
                  <a:srgbClr val="000000">
                    <a:alpha val="22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4400" b="1" dirty="0">
                <a:solidFill>
                  <a:schemeClr val="bg1"/>
                </a:solidFill>
                <a:effectLst>
                  <a:glow>
                    <a:schemeClr val="accent5">
                      <a:lumMod val="40000"/>
                      <a:lumOff val="60000"/>
                      <a:alpha val="41000"/>
                    </a:schemeClr>
                  </a:glow>
                  <a:outerShdw blurRad="76200" dist="50800" dir="5400000" sx="101000" sy="101000" algn="ctr" rotWithShape="0">
                    <a:srgbClr val="000000">
                      <a:alpha val="22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研究对象、问题与方法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F777F57-706A-739C-CC1B-72D2BCB83B87}"/>
              </a:ext>
            </a:extLst>
          </p:cNvPr>
          <p:cNvSpPr txBox="1"/>
          <p:nvPr/>
        </p:nvSpPr>
        <p:spPr>
          <a:xfrm>
            <a:off x="0" y="455698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pc="300" dirty="0">
                <a:solidFill>
                  <a:schemeClr val="bg1">
                    <a:alpha val="6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华南理工大学丨学院名称丨专业名称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3CAF711-6E27-F3F9-B9F9-42AB090B4AA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00" y="187280"/>
            <a:ext cx="851734" cy="85173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7F2962E-EA54-31E1-D497-60CC3DE2BFB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951" y="140068"/>
            <a:ext cx="3486802" cy="898946"/>
          </a:xfrm>
          <a:prstGeom prst="rect">
            <a:avLst/>
          </a:prstGeom>
        </p:spPr>
      </p:pic>
      <p:cxnSp>
        <p:nvCxnSpPr>
          <p:cNvPr id="32" name="PA_直接连接符 4">
            <a:extLst>
              <a:ext uri="{FF2B5EF4-FFF2-40B4-BE49-F238E27FC236}">
                <a16:creationId xmlns:a16="http://schemas.microsoft.com/office/drawing/2014/main" id="{BBA5D6F3-1595-86C4-805C-32F3B1D3F223}"/>
              </a:ext>
            </a:extLst>
          </p:cNvPr>
          <p:cNvCxnSpPr>
            <a:cxnSpLocks/>
          </p:cNvCxnSpPr>
          <p:nvPr/>
        </p:nvCxnSpPr>
        <p:spPr>
          <a:xfrm>
            <a:off x="1660107" y="4111352"/>
            <a:ext cx="2018646" cy="0"/>
          </a:xfrm>
          <a:prstGeom prst="line">
            <a:avLst/>
          </a:prstGeom>
          <a:ln w="1905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PA_直接连接符 52">
            <a:extLst>
              <a:ext uri="{FF2B5EF4-FFF2-40B4-BE49-F238E27FC236}">
                <a16:creationId xmlns:a16="http://schemas.microsoft.com/office/drawing/2014/main" id="{A7037ECC-8610-2CC2-1744-D8664ACF2787}"/>
              </a:ext>
            </a:extLst>
          </p:cNvPr>
          <p:cNvCxnSpPr>
            <a:cxnSpLocks/>
          </p:cNvCxnSpPr>
          <p:nvPr/>
        </p:nvCxnSpPr>
        <p:spPr>
          <a:xfrm>
            <a:off x="8464446" y="4116593"/>
            <a:ext cx="2066393" cy="1"/>
          </a:xfrm>
          <a:prstGeom prst="line">
            <a:avLst/>
          </a:prstGeom>
          <a:ln w="1905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PA_文本框 46">
            <a:extLst>
              <a:ext uri="{FF2B5EF4-FFF2-40B4-BE49-F238E27FC236}">
                <a16:creationId xmlns:a16="http://schemas.microsoft.com/office/drawing/2014/main" id="{22FF8EA8-01D0-31EA-FDD6-6F893BC0FD67}"/>
              </a:ext>
            </a:extLst>
          </p:cNvPr>
          <p:cNvSpPr txBox="1"/>
          <p:nvPr/>
        </p:nvSpPr>
        <p:spPr>
          <a:xfrm>
            <a:off x="3678753" y="3911297"/>
            <a:ext cx="4785693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年级研究生学位论文开题答辩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70AC262-5FEB-6DB3-9534-5D0015AB4358}"/>
              </a:ext>
            </a:extLst>
          </p:cNvPr>
          <p:cNvSpPr/>
          <p:nvPr/>
        </p:nvSpPr>
        <p:spPr>
          <a:xfrm>
            <a:off x="1477494" y="6256267"/>
            <a:ext cx="2738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导师：姓名 职称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C383CBD-4A72-DCD3-E653-84A32B27D863}"/>
              </a:ext>
            </a:extLst>
          </p:cNvPr>
          <p:cNvSpPr/>
          <p:nvPr/>
        </p:nvSpPr>
        <p:spPr>
          <a:xfrm>
            <a:off x="4590112" y="6256267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报告人：姓名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0A1D895-A126-0496-97A5-DB3E8966996F}"/>
              </a:ext>
            </a:extLst>
          </p:cNvPr>
          <p:cNvSpPr/>
          <p:nvPr/>
        </p:nvSpPr>
        <p:spPr>
          <a:xfrm>
            <a:off x="7303582" y="6256267"/>
            <a:ext cx="3413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汇报时间：YYYY.MM.DD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FAB3ED-C3A7-F00C-B81C-FF29DD3258D1}"/>
              </a:ext>
            </a:extLst>
          </p:cNvPr>
          <p:cNvSpPr/>
          <p:nvPr/>
        </p:nvSpPr>
        <p:spPr>
          <a:xfrm>
            <a:off x="0" y="5363698"/>
            <a:ext cx="12192000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603EE8-26DA-EBF7-A272-CCBBCB4F3D9C}"/>
              </a:ext>
            </a:extLst>
          </p:cNvPr>
          <p:cNvSpPr txBox="1"/>
          <p:nvPr/>
        </p:nvSpPr>
        <p:spPr>
          <a:xfrm>
            <a:off x="0" y="5366712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pc="300" dirty="0">
                <a:solidFill>
                  <a:schemeClr val="tx1">
                    <a:alpha val="65000"/>
                  </a:schemeClr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课题来源：填写项目类别、项目名称与项目编号</a:t>
            </a:r>
          </a:p>
        </p:txBody>
      </p:sp>
    </p:spTree>
    <p:extLst>
      <p:ext uri="{BB962C8B-B14F-4D97-AF65-F5344CB8AC3E}">
        <p14:creationId xmlns:p14="http://schemas.microsoft.com/office/powerpoint/2010/main" val="3723933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ṡ1íḋe">
            <a:extLst>
              <a:ext uri="{FF2B5EF4-FFF2-40B4-BE49-F238E27FC236}">
                <a16:creationId xmlns:a16="http://schemas.microsoft.com/office/drawing/2014/main" id="{4C74ACF6-BFF4-24BF-0FA3-FA589E29F676}"/>
              </a:ext>
            </a:extLst>
          </p:cNvPr>
          <p:cNvSpPr/>
          <p:nvPr/>
        </p:nvSpPr>
        <p:spPr>
          <a:xfrm>
            <a:off x="-11551" y="-1"/>
            <a:ext cx="4339711" cy="6858001"/>
          </a:xfrm>
          <a:prstGeom prst="rect">
            <a:avLst/>
          </a:prstGeom>
          <a:solidFill>
            <a:srgbClr val="2B579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E54848-501E-4337-9BBB-1158B20B7A29}"/>
              </a:ext>
            </a:extLst>
          </p:cNvPr>
          <p:cNvSpPr txBox="1"/>
          <p:nvPr/>
        </p:nvSpPr>
        <p:spPr>
          <a:xfrm>
            <a:off x="1487488" y="2553785"/>
            <a:ext cx="1569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spc="6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C6C906-BE65-FC1F-3974-F7273DDDA663}"/>
              </a:ext>
            </a:extLst>
          </p:cNvPr>
          <p:cNvSpPr txBox="1"/>
          <p:nvPr/>
        </p:nvSpPr>
        <p:spPr>
          <a:xfrm>
            <a:off x="1487488" y="3501008"/>
            <a:ext cx="1787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spc="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CONTENTS</a:t>
            </a:r>
            <a:endParaRPr lang="zh-CN" altLang="en-US" sz="1400" b="1" spc="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7AF11ED-CF96-AAE8-23FE-80CE45B4276F}"/>
              </a:ext>
            </a:extLst>
          </p:cNvPr>
          <p:cNvSpPr/>
          <p:nvPr/>
        </p:nvSpPr>
        <p:spPr>
          <a:xfrm>
            <a:off x="983433" y="2346008"/>
            <a:ext cx="2592288" cy="1321975"/>
          </a:xfrm>
          <a:custGeom>
            <a:avLst/>
            <a:gdLst>
              <a:gd name="connsiteX0" fmla="*/ 0 w 7010400"/>
              <a:gd name="connsiteY0" fmla="*/ 0 h 1981384"/>
              <a:gd name="connsiteX1" fmla="*/ 7010400 w 7010400"/>
              <a:gd name="connsiteY1" fmla="*/ 0 h 1981384"/>
              <a:gd name="connsiteX2" fmla="*/ 7010400 w 7010400"/>
              <a:gd name="connsiteY2" fmla="*/ 1981384 h 1981384"/>
              <a:gd name="connsiteX3" fmla="*/ 6495669 w 7010400"/>
              <a:gd name="connsiteY3" fmla="*/ 1981384 h 1981384"/>
              <a:gd name="connsiteX4" fmla="*/ 6495669 w 7010400"/>
              <a:gd name="connsiteY4" fmla="*/ 1712044 h 1981384"/>
              <a:gd name="connsiteX5" fmla="*/ 514731 w 7010400"/>
              <a:gd name="connsiteY5" fmla="*/ 1712044 h 1981384"/>
              <a:gd name="connsiteX6" fmla="*/ 514731 w 7010400"/>
              <a:gd name="connsiteY6" fmla="*/ 1981384 h 1981384"/>
              <a:gd name="connsiteX7" fmla="*/ 0 w 7010400"/>
              <a:gd name="connsiteY7" fmla="*/ 1981384 h 1981384"/>
              <a:gd name="connsiteX0-1" fmla="*/ 0 w 7010400"/>
              <a:gd name="connsiteY0-2" fmla="*/ 0 h 1981384"/>
              <a:gd name="connsiteX1-3" fmla="*/ 7010400 w 7010400"/>
              <a:gd name="connsiteY1-4" fmla="*/ 0 h 1981384"/>
              <a:gd name="connsiteX2-5" fmla="*/ 7010400 w 7010400"/>
              <a:gd name="connsiteY2-6" fmla="*/ 1981384 h 1981384"/>
              <a:gd name="connsiteX3-7" fmla="*/ 6495669 w 7010400"/>
              <a:gd name="connsiteY3-8" fmla="*/ 1981384 h 1981384"/>
              <a:gd name="connsiteX4-9" fmla="*/ 6495669 w 7010400"/>
              <a:gd name="connsiteY4-10" fmla="*/ 1712044 h 1981384"/>
              <a:gd name="connsiteX5-11" fmla="*/ 514731 w 7010400"/>
              <a:gd name="connsiteY5-12" fmla="*/ 1981384 h 1981384"/>
              <a:gd name="connsiteX6-13" fmla="*/ 0 w 7010400"/>
              <a:gd name="connsiteY6-14" fmla="*/ 1981384 h 1981384"/>
              <a:gd name="connsiteX7-15" fmla="*/ 0 w 7010400"/>
              <a:gd name="connsiteY7-16" fmla="*/ 0 h 1981384"/>
              <a:gd name="connsiteX0-17" fmla="*/ 6495669 w 7010400"/>
              <a:gd name="connsiteY0-18" fmla="*/ 1712044 h 1981384"/>
              <a:gd name="connsiteX1-19" fmla="*/ 514731 w 7010400"/>
              <a:gd name="connsiteY1-20" fmla="*/ 1981384 h 1981384"/>
              <a:gd name="connsiteX2-21" fmla="*/ 0 w 7010400"/>
              <a:gd name="connsiteY2-22" fmla="*/ 1981384 h 1981384"/>
              <a:gd name="connsiteX3-23" fmla="*/ 0 w 7010400"/>
              <a:gd name="connsiteY3-24" fmla="*/ 0 h 1981384"/>
              <a:gd name="connsiteX4-25" fmla="*/ 7010400 w 7010400"/>
              <a:gd name="connsiteY4-26" fmla="*/ 0 h 1981384"/>
              <a:gd name="connsiteX5-27" fmla="*/ 7010400 w 7010400"/>
              <a:gd name="connsiteY5-28" fmla="*/ 1981384 h 1981384"/>
              <a:gd name="connsiteX6-29" fmla="*/ 6495669 w 7010400"/>
              <a:gd name="connsiteY6-30" fmla="*/ 1981384 h 1981384"/>
              <a:gd name="connsiteX7-31" fmla="*/ 6587109 w 7010400"/>
              <a:gd name="connsiteY7-32" fmla="*/ 1803484 h 1981384"/>
              <a:gd name="connsiteX0-33" fmla="*/ 577469 w 7010400"/>
              <a:gd name="connsiteY0-34" fmla="*/ 3629744 h 3629744"/>
              <a:gd name="connsiteX1-35" fmla="*/ 514731 w 7010400"/>
              <a:gd name="connsiteY1-36" fmla="*/ 1981384 h 3629744"/>
              <a:gd name="connsiteX2-37" fmla="*/ 0 w 7010400"/>
              <a:gd name="connsiteY2-38" fmla="*/ 1981384 h 3629744"/>
              <a:gd name="connsiteX3-39" fmla="*/ 0 w 7010400"/>
              <a:gd name="connsiteY3-40" fmla="*/ 0 h 3629744"/>
              <a:gd name="connsiteX4-41" fmla="*/ 7010400 w 7010400"/>
              <a:gd name="connsiteY4-42" fmla="*/ 0 h 3629744"/>
              <a:gd name="connsiteX5-43" fmla="*/ 7010400 w 7010400"/>
              <a:gd name="connsiteY5-44" fmla="*/ 1981384 h 3629744"/>
              <a:gd name="connsiteX6-45" fmla="*/ 6495669 w 7010400"/>
              <a:gd name="connsiteY6-46" fmla="*/ 1981384 h 3629744"/>
              <a:gd name="connsiteX7-47" fmla="*/ 6587109 w 7010400"/>
              <a:gd name="connsiteY7-48" fmla="*/ 1803484 h 3629744"/>
              <a:gd name="connsiteX0-49" fmla="*/ 514731 w 7010400"/>
              <a:gd name="connsiteY0-50" fmla="*/ 1981384 h 1981384"/>
              <a:gd name="connsiteX1-51" fmla="*/ 0 w 7010400"/>
              <a:gd name="connsiteY1-52" fmla="*/ 1981384 h 1981384"/>
              <a:gd name="connsiteX2-53" fmla="*/ 0 w 7010400"/>
              <a:gd name="connsiteY2-54" fmla="*/ 0 h 1981384"/>
              <a:gd name="connsiteX3-55" fmla="*/ 7010400 w 7010400"/>
              <a:gd name="connsiteY3-56" fmla="*/ 0 h 1981384"/>
              <a:gd name="connsiteX4-57" fmla="*/ 7010400 w 7010400"/>
              <a:gd name="connsiteY4-58" fmla="*/ 1981384 h 1981384"/>
              <a:gd name="connsiteX5-59" fmla="*/ 6495669 w 7010400"/>
              <a:gd name="connsiteY5-60" fmla="*/ 1981384 h 1981384"/>
              <a:gd name="connsiteX6-61" fmla="*/ 6587109 w 7010400"/>
              <a:gd name="connsiteY6-62" fmla="*/ 1803484 h 1981384"/>
              <a:gd name="connsiteX0-63" fmla="*/ 514731 w 7010400"/>
              <a:gd name="connsiteY0-64" fmla="*/ 1981384 h 1981384"/>
              <a:gd name="connsiteX1-65" fmla="*/ 0 w 7010400"/>
              <a:gd name="connsiteY1-66" fmla="*/ 1981384 h 1981384"/>
              <a:gd name="connsiteX2-67" fmla="*/ 0 w 7010400"/>
              <a:gd name="connsiteY2-68" fmla="*/ 0 h 1981384"/>
              <a:gd name="connsiteX3-69" fmla="*/ 7010400 w 7010400"/>
              <a:gd name="connsiteY3-70" fmla="*/ 0 h 1981384"/>
              <a:gd name="connsiteX4-71" fmla="*/ 7010400 w 7010400"/>
              <a:gd name="connsiteY4-72" fmla="*/ 1981384 h 1981384"/>
              <a:gd name="connsiteX5-73" fmla="*/ 6495669 w 7010400"/>
              <a:gd name="connsiteY5-74" fmla="*/ 1981384 h 1981384"/>
              <a:gd name="connsiteX0-75" fmla="*/ 1349388 w 7010400"/>
              <a:gd name="connsiteY0-76" fmla="*/ 1986143 h 1986143"/>
              <a:gd name="connsiteX1-77" fmla="*/ 0 w 7010400"/>
              <a:gd name="connsiteY1-78" fmla="*/ 1981384 h 1986143"/>
              <a:gd name="connsiteX2-79" fmla="*/ 0 w 7010400"/>
              <a:gd name="connsiteY2-80" fmla="*/ 0 h 1986143"/>
              <a:gd name="connsiteX3-81" fmla="*/ 7010400 w 7010400"/>
              <a:gd name="connsiteY3-82" fmla="*/ 0 h 1986143"/>
              <a:gd name="connsiteX4-83" fmla="*/ 7010400 w 7010400"/>
              <a:gd name="connsiteY4-84" fmla="*/ 1981384 h 1986143"/>
              <a:gd name="connsiteX5-85" fmla="*/ 6495669 w 7010400"/>
              <a:gd name="connsiteY5-86" fmla="*/ 1981384 h 1986143"/>
              <a:gd name="connsiteX0-87" fmla="*/ 1349388 w 7010400"/>
              <a:gd name="connsiteY0-88" fmla="*/ 1976626 h 1981384"/>
              <a:gd name="connsiteX1-89" fmla="*/ 0 w 7010400"/>
              <a:gd name="connsiteY1-90" fmla="*/ 1981384 h 1981384"/>
              <a:gd name="connsiteX2-91" fmla="*/ 0 w 7010400"/>
              <a:gd name="connsiteY2-92" fmla="*/ 0 h 1981384"/>
              <a:gd name="connsiteX3-93" fmla="*/ 7010400 w 7010400"/>
              <a:gd name="connsiteY3-94" fmla="*/ 0 h 1981384"/>
              <a:gd name="connsiteX4-95" fmla="*/ 7010400 w 7010400"/>
              <a:gd name="connsiteY4-96" fmla="*/ 1981384 h 1981384"/>
              <a:gd name="connsiteX5-97" fmla="*/ 6495669 w 7010400"/>
              <a:gd name="connsiteY5-98" fmla="*/ 1981384 h 1981384"/>
              <a:gd name="connsiteX0-99" fmla="*/ 1349388 w 7010400"/>
              <a:gd name="connsiteY0-100" fmla="*/ 1981385 h 1981385"/>
              <a:gd name="connsiteX1-101" fmla="*/ 0 w 7010400"/>
              <a:gd name="connsiteY1-102" fmla="*/ 1981384 h 1981385"/>
              <a:gd name="connsiteX2-103" fmla="*/ 0 w 7010400"/>
              <a:gd name="connsiteY2-104" fmla="*/ 0 h 1981385"/>
              <a:gd name="connsiteX3-105" fmla="*/ 7010400 w 7010400"/>
              <a:gd name="connsiteY3-106" fmla="*/ 0 h 1981385"/>
              <a:gd name="connsiteX4-107" fmla="*/ 7010400 w 7010400"/>
              <a:gd name="connsiteY4-108" fmla="*/ 1981384 h 1981385"/>
              <a:gd name="connsiteX5-109" fmla="*/ 6495669 w 7010400"/>
              <a:gd name="connsiteY5-110" fmla="*/ 1981384 h 1981385"/>
              <a:gd name="connsiteX0-111" fmla="*/ 1349388 w 7010400"/>
              <a:gd name="connsiteY0-112" fmla="*/ 1981385 h 1981385"/>
              <a:gd name="connsiteX1-113" fmla="*/ 0 w 7010400"/>
              <a:gd name="connsiteY1-114" fmla="*/ 1981384 h 1981385"/>
              <a:gd name="connsiteX2-115" fmla="*/ 0 w 7010400"/>
              <a:gd name="connsiteY2-116" fmla="*/ 0 h 1981385"/>
              <a:gd name="connsiteX3-117" fmla="*/ 7010400 w 7010400"/>
              <a:gd name="connsiteY3-118" fmla="*/ 0 h 1981385"/>
              <a:gd name="connsiteX4-119" fmla="*/ 7010400 w 7010400"/>
              <a:gd name="connsiteY4-120" fmla="*/ 1981384 h 1981385"/>
              <a:gd name="connsiteX5-121" fmla="*/ 5733943 w 7010400"/>
              <a:gd name="connsiteY5-122" fmla="*/ 1971866 h 1981385"/>
              <a:gd name="connsiteX0-123" fmla="*/ 1349388 w 7010400"/>
              <a:gd name="connsiteY0-124" fmla="*/ 1981385 h 1981385"/>
              <a:gd name="connsiteX1-125" fmla="*/ 0 w 7010400"/>
              <a:gd name="connsiteY1-126" fmla="*/ 1981384 h 1981385"/>
              <a:gd name="connsiteX2-127" fmla="*/ 0 w 7010400"/>
              <a:gd name="connsiteY2-128" fmla="*/ 0 h 1981385"/>
              <a:gd name="connsiteX3-129" fmla="*/ 7010400 w 7010400"/>
              <a:gd name="connsiteY3-130" fmla="*/ 0 h 1981385"/>
              <a:gd name="connsiteX4-131" fmla="*/ 7010400 w 7010400"/>
              <a:gd name="connsiteY4-132" fmla="*/ 1981384 h 1981385"/>
              <a:gd name="connsiteX5-133" fmla="*/ 5733943 w 7010400"/>
              <a:gd name="connsiteY5-134" fmla="*/ 1981384 h 1981385"/>
              <a:gd name="connsiteX0" fmla="*/ 1500505 w 7010400"/>
              <a:gd name="connsiteY0" fmla="*/ 1981385 h 1981385"/>
              <a:gd name="connsiteX1" fmla="*/ 0 w 7010400"/>
              <a:gd name="connsiteY1" fmla="*/ 1981384 h 1981385"/>
              <a:gd name="connsiteX2" fmla="*/ 0 w 7010400"/>
              <a:gd name="connsiteY2" fmla="*/ 0 h 1981385"/>
              <a:gd name="connsiteX3" fmla="*/ 7010400 w 7010400"/>
              <a:gd name="connsiteY3" fmla="*/ 0 h 1981385"/>
              <a:gd name="connsiteX4" fmla="*/ 7010400 w 7010400"/>
              <a:gd name="connsiteY4" fmla="*/ 1981384 h 1981385"/>
              <a:gd name="connsiteX5" fmla="*/ 5733943 w 7010400"/>
              <a:gd name="connsiteY5" fmla="*/ 1981384 h 1981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10400" h="1981385">
                <a:moveTo>
                  <a:pt x="1500505" y="1981385"/>
                </a:moveTo>
                <a:lnTo>
                  <a:pt x="0" y="1981384"/>
                </a:lnTo>
                <a:lnTo>
                  <a:pt x="0" y="0"/>
                </a:lnTo>
                <a:lnTo>
                  <a:pt x="7010400" y="0"/>
                </a:lnTo>
                <a:lnTo>
                  <a:pt x="7010400" y="1981384"/>
                </a:lnTo>
                <a:lnTo>
                  <a:pt x="5733943" y="1981384"/>
                </a:lnTo>
              </a:path>
            </a:pathLst>
          </a:cu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8E72012-8DA9-3850-A971-30CAC6B11B63}"/>
              </a:ext>
            </a:extLst>
          </p:cNvPr>
          <p:cNvGrpSpPr/>
          <p:nvPr/>
        </p:nvGrpSpPr>
        <p:grpSpPr>
          <a:xfrm>
            <a:off x="10551836" y="1774590"/>
            <a:ext cx="3240000" cy="3240000"/>
            <a:chOff x="1598966" y="6641123"/>
            <a:chExt cx="6858002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AF2719B-3EF0-F8D6-CEEE-0913578348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25000"/>
                      </a14:imgEffect>
                      <a14:imgEffect>
                        <a14:colorTemperature colorTemp="4700"/>
                      </a14:imgEffect>
                      <a14:imgEffect>
                        <a14:brightnessContrast contrast="-2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8966" y="6641123"/>
              <a:ext cx="6858000" cy="6858000"/>
            </a:xfrm>
            <a:prstGeom prst="rect">
              <a:avLst/>
            </a:prstGeom>
            <a:solidFill>
              <a:schemeClr val="bg1">
                <a:alpha val="41000"/>
              </a:schemeClr>
            </a:solidFill>
            <a:effectLst>
              <a:reflection stA="0" endPos="65000" dist="50800" dir="5400000" sy="-100000" algn="bl" rotWithShape="0"/>
              <a:softEdge rad="0"/>
            </a:effectLst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D674AD8-F6BF-6FB8-2AFF-4ED1C55C18D1}"/>
                </a:ext>
              </a:extLst>
            </p:cNvPr>
            <p:cNvSpPr/>
            <p:nvPr/>
          </p:nvSpPr>
          <p:spPr>
            <a:xfrm>
              <a:off x="1598966" y="6641123"/>
              <a:ext cx="6858002" cy="6858000"/>
            </a:xfrm>
            <a:prstGeom prst="rect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Freeform 5">
            <a:extLst>
              <a:ext uri="{FF2B5EF4-FFF2-40B4-BE49-F238E27FC236}">
                <a16:creationId xmlns:a16="http://schemas.microsoft.com/office/drawing/2014/main" id="{BE31FF24-67D3-0ED7-010F-712DDE3EBE2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658424" y="1568899"/>
            <a:ext cx="1451056" cy="1296000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9E4A6C2-0151-1B1D-3E2D-0EB4AAA2CBC9}"/>
              </a:ext>
            </a:extLst>
          </p:cNvPr>
          <p:cNvSpPr/>
          <p:nvPr/>
        </p:nvSpPr>
        <p:spPr>
          <a:xfrm>
            <a:off x="6035036" y="1102311"/>
            <a:ext cx="2741592" cy="52322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zh-CN" altLang="en-US" sz="2800" b="1" dirty="0">
                <a:solidFill>
                  <a:srgbClr val="0F6FC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229C9F-83FB-546A-7FA4-6A78BFF65046}"/>
              </a:ext>
            </a:extLst>
          </p:cNvPr>
          <p:cNvSpPr/>
          <p:nvPr/>
        </p:nvSpPr>
        <p:spPr>
          <a:xfrm>
            <a:off x="6035036" y="2170779"/>
            <a:ext cx="2741592" cy="52322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国内外研究现状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963A482-819E-4B0F-852D-76EDD263CB4D}"/>
              </a:ext>
            </a:extLst>
          </p:cNvPr>
          <p:cNvSpPr/>
          <p:nvPr/>
        </p:nvSpPr>
        <p:spPr>
          <a:xfrm>
            <a:off x="6035035" y="3270775"/>
            <a:ext cx="3632684" cy="52322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研究目标与内容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C3752E-BCFE-1964-1911-3B54CE9DB187}"/>
              </a:ext>
            </a:extLst>
          </p:cNvPr>
          <p:cNvSpPr/>
          <p:nvPr/>
        </p:nvSpPr>
        <p:spPr>
          <a:xfrm>
            <a:off x="6035035" y="4301758"/>
            <a:ext cx="3874527" cy="52322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研究方法与技术路线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07F1C82-D9DA-BC93-C471-22FFDFA3E327}"/>
              </a:ext>
            </a:extLst>
          </p:cNvPr>
          <p:cNvSpPr/>
          <p:nvPr/>
        </p:nvSpPr>
        <p:spPr>
          <a:xfrm>
            <a:off x="6035035" y="1497070"/>
            <a:ext cx="4020080" cy="33855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Background and Significance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E3EAC-BD28-725B-A6D6-A3EEE86D9660}"/>
              </a:ext>
            </a:extLst>
          </p:cNvPr>
          <p:cNvSpPr/>
          <p:nvPr/>
        </p:nvSpPr>
        <p:spPr>
          <a:xfrm>
            <a:off x="6035035" y="2555121"/>
            <a:ext cx="4673605" cy="369332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State of Research at Home and Abroad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5F89B72-6A5C-BEC7-D6E8-12FCC7B31EF0}"/>
              </a:ext>
            </a:extLst>
          </p:cNvPr>
          <p:cNvSpPr/>
          <p:nvPr/>
        </p:nvSpPr>
        <p:spPr>
          <a:xfrm>
            <a:off x="6035036" y="3651200"/>
            <a:ext cx="3942105" cy="369332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 and Content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3B1FF06-B0DA-4ADD-63D4-704FD628D51B}"/>
              </a:ext>
            </a:extLst>
          </p:cNvPr>
          <p:cNvSpPr/>
          <p:nvPr/>
        </p:nvSpPr>
        <p:spPr>
          <a:xfrm>
            <a:off x="6035036" y="4686027"/>
            <a:ext cx="2741590" cy="369332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Methods and Technical Approach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1B0DCA0-ED84-086C-7E9A-DE476917D16D}"/>
              </a:ext>
            </a:extLst>
          </p:cNvPr>
          <p:cNvSpPr/>
          <p:nvPr/>
        </p:nvSpPr>
        <p:spPr>
          <a:xfrm>
            <a:off x="4975764" y="1451797"/>
            <a:ext cx="817428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F697D09-A304-3503-2153-B791EF8F47A8}"/>
              </a:ext>
            </a:extLst>
          </p:cNvPr>
          <p:cNvSpPr txBox="1"/>
          <p:nvPr/>
        </p:nvSpPr>
        <p:spPr>
          <a:xfrm>
            <a:off x="4977956" y="1031796"/>
            <a:ext cx="813043" cy="76944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4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4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ADFC580-2C2E-EC3A-EE26-B9525DAEFAA3}"/>
              </a:ext>
            </a:extLst>
          </p:cNvPr>
          <p:cNvSpPr/>
          <p:nvPr/>
        </p:nvSpPr>
        <p:spPr>
          <a:xfrm>
            <a:off x="4975764" y="2537784"/>
            <a:ext cx="817428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5832496-92F5-AAA2-5AA0-5FEF32B921F9}"/>
              </a:ext>
            </a:extLst>
          </p:cNvPr>
          <p:cNvSpPr txBox="1"/>
          <p:nvPr/>
        </p:nvSpPr>
        <p:spPr>
          <a:xfrm>
            <a:off x="4977956" y="2117783"/>
            <a:ext cx="813043" cy="76944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4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D5D6037-B170-83A4-B3E5-86A21C191FB8}"/>
              </a:ext>
            </a:extLst>
          </p:cNvPr>
          <p:cNvSpPr/>
          <p:nvPr/>
        </p:nvSpPr>
        <p:spPr>
          <a:xfrm>
            <a:off x="4975764" y="3593291"/>
            <a:ext cx="817428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5B2AD2A-13EB-5E0F-3944-48CFD7020B60}"/>
              </a:ext>
            </a:extLst>
          </p:cNvPr>
          <p:cNvSpPr txBox="1"/>
          <p:nvPr/>
        </p:nvSpPr>
        <p:spPr>
          <a:xfrm>
            <a:off x="4977956" y="3173290"/>
            <a:ext cx="813043" cy="76944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4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4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0B2ABEC-97D9-0222-4313-C7E5C7AE41CF}"/>
              </a:ext>
            </a:extLst>
          </p:cNvPr>
          <p:cNvSpPr/>
          <p:nvPr/>
        </p:nvSpPr>
        <p:spPr>
          <a:xfrm>
            <a:off x="4975764" y="4648798"/>
            <a:ext cx="817428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69C5A58-4131-6DE9-0A70-95BFAC93C37D}"/>
              </a:ext>
            </a:extLst>
          </p:cNvPr>
          <p:cNvSpPr txBox="1"/>
          <p:nvPr/>
        </p:nvSpPr>
        <p:spPr>
          <a:xfrm>
            <a:off x="4977956" y="4228797"/>
            <a:ext cx="813043" cy="76944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4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4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5477699-18F9-EDFA-A2E0-A89C5B6E5624}"/>
              </a:ext>
            </a:extLst>
          </p:cNvPr>
          <p:cNvSpPr/>
          <p:nvPr/>
        </p:nvSpPr>
        <p:spPr>
          <a:xfrm>
            <a:off x="6035037" y="5340534"/>
            <a:ext cx="2741590" cy="52322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研究条件与进度计划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3AD8CD4-58F7-09BA-D956-CA1915BA099A}"/>
              </a:ext>
            </a:extLst>
          </p:cNvPr>
          <p:cNvSpPr/>
          <p:nvPr/>
        </p:nvSpPr>
        <p:spPr>
          <a:xfrm>
            <a:off x="6035037" y="5724803"/>
            <a:ext cx="4191000" cy="369332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Conditions and Schedule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FB0609B-5BB4-5AEC-C601-D87025700449}"/>
              </a:ext>
            </a:extLst>
          </p:cNvPr>
          <p:cNvSpPr/>
          <p:nvPr/>
        </p:nvSpPr>
        <p:spPr>
          <a:xfrm>
            <a:off x="4975765" y="5687574"/>
            <a:ext cx="817428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7FC5AE8-D46C-C6C5-B897-76D01C91880E}"/>
              </a:ext>
            </a:extLst>
          </p:cNvPr>
          <p:cNvSpPr txBox="1"/>
          <p:nvPr/>
        </p:nvSpPr>
        <p:spPr>
          <a:xfrm>
            <a:off x="4977957" y="5267573"/>
            <a:ext cx="813043" cy="76944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4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4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3122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CD5426A3-66DD-8DA0-ED3A-359037098711}"/>
              </a:ext>
            </a:extLst>
          </p:cNvPr>
          <p:cNvGrpSpPr/>
          <p:nvPr/>
        </p:nvGrpSpPr>
        <p:grpSpPr>
          <a:xfrm>
            <a:off x="2666999" y="-2"/>
            <a:ext cx="6858001" cy="6858000"/>
            <a:chOff x="1598966" y="6641123"/>
            <a:chExt cx="6858001" cy="685800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4E93DC0B-1E5A-A8D7-7140-2EAE1E6750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25000"/>
                      </a14:imgEffect>
                      <a14:imgEffect>
                        <a14:colorTemperature colorTemp="4700"/>
                      </a14:imgEffect>
                      <a14:imgEffect>
                        <a14:brightnessContrast contrast="-2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8966" y="6641123"/>
              <a:ext cx="6858000" cy="6858000"/>
            </a:xfrm>
            <a:prstGeom prst="rect">
              <a:avLst/>
            </a:prstGeom>
            <a:solidFill>
              <a:schemeClr val="bg1">
                <a:alpha val="41000"/>
              </a:schemeClr>
            </a:solidFill>
            <a:effectLst>
              <a:reflection stA="0" endPos="65000" dist="50800" dir="5400000" sy="-100000" algn="bl" rotWithShape="0"/>
              <a:softEdge rad="0"/>
            </a:effectLst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733BBB2-9F22-F945-BBE8-1912165DE037}"/>
                </a:ext>
              </a:extLst>
            </p:cNvPr>
            <p:cNvSpPr/>
            <p:nvPr/>
          </p:nvSpPr>
          <p:spPr>
            <a:xfrm>
              <a:off x="1598967" y="6641123"/>
              <a:ext cx="6858000" cy="6858000"/>
            </a:xfrm>
            <a:prstGeom prst="rect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iṡ1íḋe">
            <a:extLst>
              <a:ext uri="{FF2B5EF4-FFF2-40B4-BE49-F238E27FC236}">
                <a16:creationId xmlns:a16="http://schemas.microsoft.com/office/drawing/2014/main" id="{E56F6ABB-0549-18F6-25AE-F86CCAA81454}"/>
              </a:ext>
            </a:extLst>
          </p:cNvPr>
          <p:cNvSpPr/>
          <p:nvPr/>
        </p:nvSpPr>
        <p:spPr>
          <a:xfrm>
            <a:off x="0" y="1881187"/>
            <a:ext cx="12192000" cy="3095625"/>
          </a:xfrm>
          <a:prstGeom prst="rect">
            <a:avLst/>
          </a:prstGeom>
          <a:solidFill>
            <a:srgbClr val="2B579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E419C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2605F7-90AE-C16B-BE3A-4E2940AA25B4}"/>
              </a:ext>
            </a:extLst>
          </p:cNvPr>
          <p:cNvSpPr txBox="1"/>
          <p:nvPr/>
        </p:nvSpPr>
        <p:spPr>
          <a:xfrm>
            <a:off x="0" y="3013500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研究背景与意义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06587CD-A106-3BC4-1CF8-04265843B364}"/>
              </a:ext>
            </a:extLst>
          </p:cNvPr>
          <p:cNvGrpSpPr/>
          <p:nvPr/>
        </p:nvGrpSpPr>
        <p:grpSpPr>
          <a:xfrm flipV="1">
            <a:off x="5167002" y="1187559"/>
            <a:ext cx="1751160" cy="1734227"/>
            <a:chOff x="6095999" y="760163"/>
            <a:chExt cx="1530746" cy="1501386"/>
          </a:xfrm>
          <a:effectLst>
            <a:outerShdw blurRad="50800" dist="38100" dir="18900000" algn="bl" rotWithShape="0">
              <a:prstClr val="black">
                <a:alpha val="30000"/>
              </a:prstClr>
            </a:outerShdw>
          </a:effectLst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3421607-65EB-0BC7-9A5E-8349CDB0E9A2}"/>
                </a:ext>
              </a:extLst>
            </p:cNvPr>
            <p:cNvSpPr/>
            <p:nvPr/>
          </p:nvSpPr>
          <p:spPr>
            <a:xfrm>
              <a:off x="6095999" y="760163"/>
              <a:ext cx="1530746" cy="1495808"/>
            </a:xfrm>
            <a:prstGeom prst="ellipse">
              <a:avLst/>
            </a:prstGeom>
            <a:gradFill flip="none" rotWithShape="1">
              <a:gsLst>
                <a:gs pos="6000">
                  <a:srgbClr val="0E419C"/>
                </a:gs>
                <a:gs pos="100000">
                  <a:schemeClr val="accent1">
                    <a:lumMod val="8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E13A31FE-958E-8347-4D85-DD0E3E2FA122}"/>
                </a:ext>
              </a:extLst>
            </p:cNvPr>
            <p:cNvSpPr/>
            <p:nvPr/>
          </p:nvSpPr>
          <p:spPr>
            <a:xfrm>
              <a:off x="6176912" y="923874"/>
              <a:ext cx="1368920" cy="1337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E419C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C7614000-82B8-D960-8825-863765AD8AD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4189" b="45133" l="37316" r="63422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074" t="24136" r="35143" b="54170"/>
          <a:stretch>
            <a:fillRect/>
          </a:stretch>
        </p:blipFill>
        <p:spPr>
          <a:xfrm>
            <a:off x="5153225" y="1255799"/>
            <a:ext cx="1864795" cy="1405554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bg1">
                <a:alpha val="34000"/>
              </a:schemeClr>
            </a:outerShdw>
          </a:effectLst>
        </p:spPr>
      </p:pic>
      <p:sp>
        <p:nvSpPr>
          <p:cNvPr id="21" name="椭圆 20">
            <a:extLst>
              <a:ext uri="{FF2B5EF4-FFF2-40B4-BE49-F238E27FC236}">
                <a16:creationId xmlns:a16="http://schemas.microsoft.com/office/drawing/2014/main" id="{96418DAF-2DF2-FB63-B1C8-143FF753A989}"/>
              </a:ext>
            </a:extLst>
          </p:cNvPr>
          <p:cNvSpPr/>
          <p:nvPr/>
        </p:nvSpPr>
        <p:spPr>
          <a:xfrm>
            <a:off x="5269084" y="1216781"/>
            <a:ext cx="1570291" cy="1483331"/>
          </a:xfrm>
          <a:prstGeom prst="ellipse">
            <a:avLst/>
          </a:prstGeom>
          <a:solidFill>
            <a:schemeClr val="bg1">
              <a:alpha val="82000"/>
            </a:schemeClr>
          </a:solidFill>
          <a:ln>
            <a:noFill/>
          </a:ln>
          <a:effectLst>
            <a:outerShdw blurRad="50800" dist="38100" dir="54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3168446-F866-1395-3397-D311A74FAD21}"/>
              </a:ext>
            </a:extLst>
          </p:cNvPr>
          <p:cNvSpPr txBox="1"/>
          <p:nvPr/>
        </p:nvSpPr>
        <p:spPr>
          <a:xfrm>
            <a:off x="5693768" y="1337913"/>
            <a:ext cx="697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dirty="0">
                <a:solidFill>
                  <a:srgbClr val="2B57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1</a:t>
            </a:r>
            <a:endParaRPr lang="zh-CN" altLang="en-US" sz="8000" b="1" dirty="0">
              <a:solidFill>
                <a:srgbClr val="2B579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3674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4C38C139-38CA-4D9F-AE4B-B5D7FE928D78}"/>
              </a:ext>
            </a:extLst>
          </p:cNvPr>
          <p:cNvSpPr txBox="1"/>
          <p:nvPr/>
        </p:nvSpPr>
        <p:spPr>
          <a:xfrm>
            <a:off x="0" y="639502"/>
            <a:ext cx="12192000" cy="369332"/>
          </a:xfrm>
          <a:prstGeom prst="rect">
            <a:avLst/>
          </a:prstGeom>
          <a:solidFill>
            <a:srgbClr val="E3E7ED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PA_文本框 46">
            <a:extLst>
              <a:ext uri="{FF2B5EF4-FFF2-40B4-BE49-F238E27FC236}">
                <a16:creationId xmlns:a16="http://schemas.microsoft.com/office/drawing/2014/main" id="{7D847242-ABD6-AE26-CA79-5A0815EDB276}"/>
              </a:ext>
            </a:extLst>
          </p:cNvPr>
          <p:cNvSpPr txBox="1"/>
          <p:nvPr/>
        </p:nvSpPr>
        <p:spPr>
          <a:xfrm>
            <a:off x="387863" y="654173"/>
            <a:ext cx="1188335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1B4F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887B3CF7-7036-3A50-9BE6-053AF38BC48A}"/>
              </a:ext>
            </a:extLst>
          </p:cNvPr>
          <p:cNvSpPr/>
          <p:nvPr/>
        </p:nvSpPr>
        <p:spPr>
          <a:xfrm>
            <a:off x="2296200" y="1116177"/>
            <a:ext cx="1503599" cy="380489"/>
          </a:xfrm>
          <a:prstGeom prst="roundRect">
            <a:avLst>
              <a:gd name="adj" fmla="val 0"/>
            </a:avLst>
          </a:prstGeom>
          <a:solidFill>
            <a:srgbClr val="2B57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理论意义</a:t>
            </a:r>
            <a:endParaRPr lang="en-US" altLang="zh-CN" b="1" kern="10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B73021BD-C1A1-075D-4EBF-8E50AFD6F8A6}"/>
              </a:ext>
            </a:extLst>
          </p:cNvPr>
          <p:cNvSpPr txBox="1"/>
          <p:nvPr/>
        </p:nvSpPr>
        <p:spPr>
          <a:xfrm>
            <a:off x="97921" y="1553171"/>
            <a:ext cx="5900159" cy="5224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理论贡献：说明本研究拟补充的核心概念、解释关系或分析视角，明确与已有研究的衔接。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研究价值：结合已有文献，指出尚未解决的理论问题及本研究能够推进的认识。</a:t>
            </a:r>
            <a:endParaRPr lang="en-US" altLang="zh-CN" sz="14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方法贡献：说明拟采用的方法与研究问题如何对应，以及预期形成的可验证成果。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DE14938-0C45-B1FD-7541-8B9CAB27903C}"/>
              </a:ext>
            </a:extLst>
          </p:cNvPr>
          <p:cNvSpPr/>
          <p:nvPr/>
        </p:nvSpPr>
        <p:spPr>
          <a:xfrm>
            <a:off x="79191" y="1553432"/>
            <a:ext cx="5937619" cy="523856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41A05AD2-1246-4D23-CFB2-6CF90F3CE358}"/>
              </a:ext>
            </a:extLst>
          </p:cNvPr>
          <p:cNvSpPr/>
          <p:nvPr/>
        </p:nvSpPr>
        <p:spPr>
          <a:xfrm>
            <a:off x="8003770" y="1116176"/>
            <a:ext cx="1503599" cy="380489"/>
          </a:xfrm>
          <a:prstGeom prst="roundRect">
            <a:avLst>
              <a:gd name="adj" fmla="val 0"/>
            </a:avLst>
          </a:prstGeom>
          <a:solidFill>
            <a:srgbClr val="2B57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实践意义</a:t>
            </a:r>
            <a:endParaRPr lang="en-US" altLang="zh-CN" b="1" kern="10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9A9D7E8-D326-A74F-1058-E6CAEB5C1656}"/>
              </a:ext>
            </a:extLst>
          </p:cNvPr>
          <p:cNvSpPr txBox="1"/>
          <p:nvPr/>
        </p:nvSpPr>
        <p:spPr>
          <a:xfrm>
            <a:off x="6103381" y="1770249"/>
            <a:ext cx="5956349" cy="4901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现实需求：说明研究服务的具体对象及其面临的关键问题，用事实或案例说明研究必要性。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应用路径：交代研究结论如何用于方案设计、管理决策或实践改进，明确使用条件。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预期价值：指出可能形成的工具、指标或建议，并说明成果的适用范围。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DDF589ED-C730-D988-7A91-7A068547560B}"/>
              </a:ext>
            </a:extLst>
          </p:cNvPr>
          <p:cNvSpPr/>
          <p:nvPr/>
        </p:nvSpPr>
        <p:spPr>
          <a:xfrm>
            <a:off x="6112747" y="1553432"/>
            <a:ext cx="5937619" cy="523856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7" name="图片 86">
            <a:extLst>
              <a:ext uri="{FF2B5EF4-FFF2-40B4-BE49-F238E27FC236}">
                <a16:creationId xmlns:a16="http://schemas.microsoft.com/office/drawing/2014/main" id="{FCC5A5A1-E083-63CB-D44A-F592DC2C0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4189" b="45133" l="37316" r="6342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074" t="24136" r="35143" b="54170"/>
          <a:stretch>
            <a:fillRect/>
          </a:stretch>
        </p:blipFill>
        <p:spPr>
          <a:xfrm>
            <a:off x="0" y="639502"/>
            <a:ext cx="492760" cy="369333"/>
          </a:xfrm>
          <a:prstGeom prst="rect">
            <a:avLst/>
          </a:prstGeom>
        </p:spPr>
      </p:pic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0FC81239-92F0-3977-B464-F688935AD53F}"/>
              </a:ext>
            </a:extLst>
          </p:cNvPr>
          <p:cNvCxnSpPr>
            <a:cxnSpLocks/>
          </p:cNvCxnSpPr>
          <p:nvPr/>
        </p:nvCxnSpPr>
        <p:spPr>
          <a:xfrm flipH="1">
            <a:off x="469940" y="975002"/>
            <a:ext cx="102417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492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F342B-2226-99AC-98FE-47A6C7A5A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0C919B20-3CCF-8054-85C0-26E3D2D54AD3}"/>
              </a:ext>
            </a:extLst>
          </p:cNvPr>
          <p:cNvSpPr/>
          <p:nvPr/>
        </p:nvSpPr>
        <p:spPr>
          <a:xfrm>
            <a:off x="104738" y="4216855"/>
            <a:ext cx="3082946" cy="2575145"/>
          </a:xfrm>
          <a:prstGeom prst="roundRect">
            <a:avLst>
              <a:gd name="adj" fmla="val 0"/>
            </a:avLst>
          </a:prstGeom>
          <a:pattFill prst="pct20">
            <a:fgClr>
              <a:schemeClr val="bg1">
                <a:lumMod val="85000"/>
              </a:schemeClr>
            </a:fgClr>
            <a:bgClr>
              <a:sysClr val="window" lastClr="FFFFFF"/>
            </a:bgClr>
          </a:pattFill>
          <a:ln w="19050" cap="flat" cmpd="sng" algn="ctr">
            <a:solidFill>
              <a:sysClr val="windowText" lastClr="000000"/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7DBE095B-F6A9-BDE6-ECF7-5790F76C810A}"/>
              </a:ext>
            </a:extLst>
          </p:cNvPr>
          <p:cNvSpPr/>
          <p:nvPr/>
        </p:nvSpPr>
        <p:spPr>
          <a:xfrm>
            <a:off x="3241287" y="2138921"/>
            <a:ext cx="8873315" cy="4658119"/>
          </a:xfrm>
          <a:prstGeom prst="roundRect">
            <a:avLst>
              <a:gd name="adj" fmla="val 0"/>
            </a:avLst>
          </a:prstGeom>
          <a:pattFill prst="pct20">
            <a:fgClr>
              <a:schemeClr val="bg1">
                <a:lumMod val="85000"/>
              </a:schemeClr>
            </a:fgClr>
            <a:bgClr>
              <a:sysClr val="window" lastClr="FFFFFF"/>
            </a:bgClr>
          </a:pattFill>
          <a:ln w="19050" cap="flat" cmpd="sng" algn="ctr">
            <a:solidFill>
              <a:sysClr val="windowText" lastClr="000000"/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41E9ECB0-5275-FCA1-2A9D-DEB763C4A781}"/>
              </a:ext>
            </a:extLst>
          </p:cNvPr>
          <p:cNvSpPr/>
          <p:nvPr/>
        </p:nvSpPr>
        <p:spPr>
          <a:xfrm>
            <a:off x="102798" y="1078916"/>
            <a:ext cx="3067268" cy="2909082"/>
          </a:xfrm>
          <a:prstGeom prst="roundRect">
            <a:avLst>
              <a:gd name="adj" fmla="val 902"/>
            </a:avLst>
          </a:prstGeom>
          <a:pattFill prst="pct20">
            <a:fgClr>
              <a:srgbClr val="9BBB59"/>
            </a:fgClr>
            <a:bgClr>
              <a:sysClr val="window" lastClr="FFFFFF"/>
            </a:bgClr>
          </a:pattFill>
          <a:ln w="25400" cap="flat" cmpd="sng" algn="ctr">
            <a:solidFill>
              <a:sysClr val="windowText" lastClr="000000"/>
            </a:solidFill>
            <a:prstDash val="sysDot"/>
          </a:ln>
          <a:effectLst/>
        </p:spPr>
        <p:txBody>
          <a:bodyPr rtlCol="0" anchor="ctr"/>
          <a:lstStyle/>
          <a:p>
            <a:pPr algn="ctr"/>
            <a:endParaRPr lang="zh-CN" altLang="en-US" kern="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686691-1B9F-B6F6-73FC-AA2BA26095A5}"/>
              </a:ext>
            </a:extLst>
          </p:cNvPr>
          <p:cNvSpPr/>
          <p:nvPr/>
        </p:nvSpPr>
        <p:spPr>
          <a:xfrm>
            <a:off x="0" y="-5902"/>
            <a:ext cx="12192000" cy="646661"/>
          </a:xfrm>
          <a:prstGeom prst="rect">
            <a:avLst/>
          </a:prstGeom>
          <a:solidFill>
            <a:srgbClr val="2B57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BA60C23C-22A3-E979-DFAD-41B917760586}"/>
              </a:ext>
            </a:extLst>
          </p:cNvPr>
          <p:cNvSpPr txBox="1"/>
          <p:nvPr/>
        </p:nvSpPr>
        <p:spPr>
          <a:xfrm>
            <a:off x="0" y="639502"/>
            <a:ext cx="1219200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26515644-AC81-3E64-10F3-AACED3165F0C}"/>
              </a:ext>
            </a:extLst>
          </p:cNvPr>
          <p:cNvCxnSpPr>
            <a:cxnSpLocks/>
          </p:cNvCxnSpPr>
          <p:nvPr/>
        </p:nvCxnSpPr>
        <p:spPr>
          <a:xfrm>
            <a:off x="5793026" y="133562"/>
            <a:ext cx="0" cy="374895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7A470B17-DDC1-B6DD-CDBD-844EF3216822}"/>
              </a:ext>
            </a:extLst>
          </p:cNvPr>
          <p:cNvCxnSpPr>
            <a:cxnSpLocks/>
          </p:cNvCxnSpPr>
          <p:nvPr/>
        </p:nvCxnSpPr>
        <p:spPr>
          <a:xfrm>
            <a:off x="3959520" y="125606"/>
            <a:ext cx="0" cy="375083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2C712ADD-EC27-9454-C260-02692CE9C8A3}"/>
              </a:ext>
            </a:extLst>
          </p:cNvPr>
          <p:cNvCxnSpPr>
            <a:cxnSpLocks/>
          </p:cNvCxnSpPr>
          <p:nvPr/>
        </p:nvCxnSpPr>
        <p:spPr>
          <a:xfrm>
            <a:off x="7618568" y="125499"/>
            <a:ext cx="0" cy="375190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ECCCF225-5A60-1E9B-22DA-10A2456485F6}"/>
              </a:ext>
            </a:extLst>
          </p:cNvPr>
          <p:cNvCxnSpPr>
            <a:cxnSpLocks/>
          </p:cNvCxnSpPr>
          <p:nvPr/>
        </p:nvCxnSpPr>
        <p:spPr>
          <a:xfrm>
            <a:off x="9903426" y="125499"/>
            <a:ext cx="0" cy="382958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AF611D73-7F9E-89B6-2BE4-6AA1AB2F0B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1" y="66000"/>
            <a:ext cx="1978182" cy="517025"/>
          </a:xfrm>
          <a:prstGeom prst="rect">
            <a:avLst/>
          </a:prstGeom>
        </p:spPr>
      </p:pic>
      <p:sp>
        <p:nvSpPr>
          <p:cNvPr id="14" name="PA_文本框 46">
            <a:extLst>
              <a:ext uri="{FF2B5EF4-FFF2-40B4-BE49-F238E27FC236}">
                <a16:creationId xmlns:a16="http://schemas.microsoft.com/office/drawing/2014/main" id="{4737F05A-B1F5-163A-BABF-7C9E41B1ADC6}"/>
              </a:ext>
            </a:extLst>
          </p:cNvPr>
          <p:cNvSpPr txBox="1"/>
          <p:nvPr/>
        </p:nvSpPr>
        <p:spPr>
          <a:xfrm>
            <a:off x="3978340" y="134169"/>
            <a:ext cx="1810755" cy="366520"/>
          </a:xfrm>
          <a:prstGeom prst="rect">
            <a:avLst/>
          </a:prstGeom>
          <a:noFill/>
          <a:effectLst>
            <a:outerShdw blurRad="139700" dist="63500" dir="5400000" algn="t" rotWithShape="0">
              <a:schemeClr val="bg1">
                <a:alpha val="40000"/>
              </a:schemeClr>
            </a:outerShdw>
          </a:effectLst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国内外研究现状</a:t>
            </a:r>
          </a:p>
        </p:txBody>
      </p:sp>
      <p:sp>
        <p:nvSpPr>
          <p:cNvPr id="16" name="PA_文本框 46">
            <a:extLst>
              <a:ext uri="{FF2B5EF4-FFF2-40B4-BE49-F238E27FC236}">
                <a16:creationId xmlns:a16="http://schemas.microsoft.com/office/drawing/2014/main" id="{2B0E7351-339A-84EC-5C47-1356C51C59BA}"/>
              </a:ext>
            </a:extLst>
          </p:cNvPr>
          <p:cNvSpPr txBox="1"/>
          <p:nvPr/>
        </p:nvSpPr>
        <p:spPr>
          <a:xfrm>
            <a:off x="5793024" y="125499"/>
            <a:ext cx="1821609" cy="374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研究目标与内容</a:t>
            </a:r>
          </a:p>
        </p:txBody>
      </p:sp>
      <p:sp>
        <p:nvSpPr>
          <p:cNvPr id="17" name="PA_文本框 46">
            <a:extLst>
              <a:ext uri="{FF2B5EF4-FFF2-40B4-BE49-F238E27FC236}">
                <a16:creationId xmlns:a16="http://schemas.microsoft.com/office/drawing/2014/main" id="{82F0E188-F710-ED57-5F5A-CAD6478ECE6C}"/>
              </a:ext>
            </a:extLst>
          </p:cNvPr>
          <p:cNvSpPr txBox="1"/>
          <p:nvPr/>
        </p:nvSpPr>
        <p:spPr>
          <a:xfrm>
            <a:off x="7622500" y="125499"/>
            <a:ext cx="2266140" cy="380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研究方法与技术路线</a:t>
            </a:r>
          </a:p>
        </p:txBody>
      </p:sp>
      <p:sp>
        <p:nvSpPr>
          <p:cNvPr id="18" name="PA_文本框 46">
            <a:extLst>
              <a:ext uri="{FF2B5EF4-FFF2-40B4-BE49-F238E27FC236}">
                <a16:creationId xmlns:a16="http://schemas.microsoft.com/office/drawing/2014/main" id="{D21AF2C7-263C-D579-EAC8-32B8BBADBB73}"/>
              </a:ext>
            </a:extLst>
          </p:cNvPr>
          <p:cNvSpPr txBox="1"/>
          <p:nvPr/>
        </p:nvSpPr>
        <p:spPr>
          <a:xfrm>
            <a:off x="9926968" y="133562"/>
            <a:ext cx="2266036" cy="34462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研究条件与进度计划</a:t>
            </a:r>
          </a:p>
        </p:txBody>
      </p:sp>
      <p:sp>
        <p:nvSpPr>
          <p:cNvPr id="45" name="等腰三角形 44">
            <a:extLst>
              <a:ext uri="{FF2B5EF4-FFF2-40B4-BE49-F238E27FC236}">
                <a16:creationId xmlns:a16="http://schemas.microsoft.com/office/drawing/2014/main" id="{789CEA86-4C89-DA39-4593-E05ACA8835A7}"/>
              </a:ext>
            </a:extLst>
          </p:cNvPr>
          <p:cNvSpPr/>
          <p:nvPr/>
        </p:nvSpPr>
        <p:spPr>
          <a:xfrm>
            <a:off x="4554820" y="532159"/>
            <a:ext cx="657793" cy="108493"/>
          </a:xfrm>
          <a:prstGeom prst="triangle">
            <a:avLst>
              <a:gd name="adj" fmla="val 5038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PA_文本框 46">
            <a:extLst>
              <a:ext uri="{FF2B5EF4-FFF2-40B4-BE49-F238E27FC236}">
                <a16:creationId xmlns:a16="http://schemas.microsoft.com/office/drawing/2014/main" id="{BCB71D67-F458-A914-9497-4EB6F26FFAFC}"/>
              </a:ext>
            </a:extLst>
          </p:cNvPr>
          <p:cNvSpPr txBox="1"/>
          <p:nvPr/>
        </p:nvSpPr>
        <p:spPr>
          <a:xfrm>
            <a:off x="2139245" y="125499"/>
            <a:ext cx="1821609" cy="374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</a:p>
        </p:txBody>
      </p:sp>
      <p:sp>
        <p:nvSpPr>
          <p:cNvPr id="69" name="PA_文本框 46">
            <a:extLst>
              <a:ext uri="{FF2B5EF4-FFF2-40B4-BE49-F238E27FC236}">
                <a16:creationId xmlns:a16="http://schemas.microsoft.com/office/drawing/2014/main" id="{C2D0BE25-A05A-A6A2-6E4C-A68DDBD365AE}"/>
              </a:ext>
            </a:extLst>
          </p:cNvPr>
          <p:cNvSpPr txBox="1"/>
          <p:nvPr/>
        </p:nvSpPr>
        <p:spPr>
          <a:xfrm>
            <a:off x="387863" y="654173"/>
            <a:ext cx="3571657" cy="3546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1B4F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文献综述：研究进展与不足</a:t>
            </a:r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A1B9F476-B495-377A-6631-8E60566BB74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4189" b="45133" l="37316" r="6342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074" t="24136" r="35143" b="54170"/>
          <a:stretch>
            <a:fillRect/>
          </a:stretch>
        </p:blipFill>
        <p:spPr>
          <a:xfrm>
            <a:off x="0" y="639502"/>
            <a:ext cx="492760" cy="369333"/>
          </a:xfrm>
          <a:prstGeom prst="rect">
            <a:avLst/>
          </a:prstGeom>
        </p:spPr>
      </p:pic>
      <p:sp>
        <p:nvSpPr>
          <p:cNvPr id="80" name="文本框 79">
            <a:extLst>
              <a:ext uri="{FF2B5EF4-FFF2-40B4-BE49-F238E27FC236}">
                <a16:creationId xmlns:a16="http://schemas.microsoft.com/office/drawing/2014/main" id="{E9B86EDC-E6B2-5421-670A-98FD83B2081A}"/>
              </a:ext>
            </a:extLst>
          </p:cNvPr>
          <p:cNvSpPr txBox="1"/>
          <p:nvPr/>
        </p:nvSpPr>
        <p:spPr>
          <a:xfrm>
            <a:off x="123588" y="1064433"/>
            <a:ext cx="2987793" cy="2938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研究方向一：概述该领域的主要问题、常用方法与代表性结论。结合文献说明已有研究已经形成的共识。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907E9377-32B3-F98E-382D-F026B199B551}"/>
              </a:ext>
            </a:extLst>
          </p:cNvPr>
          <p:cNvSpPr txBox="1"/>
          <p:nvPr/>
        </p:nvSpPr>
        <p:spPr>
          <a:xfrm>
            <a:off x="110438" y="4387140"/>
            <a:ext cx="3067267" cy="2218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None/>
            </a:pP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研究不足一：围绕研究对象、解释机制或适用情境指出当前证据的局限。说明这些局限与本研究问题的关系。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9B33107E-C570-3104-A952-01425247436F}"/>
              </a:ext>
            </a:extLst>
          </p:cNvPr>
          <p:cNvSpPr txBox="1"/>
          <p:nvPr/>
        </p:nvSpPr>
        <p:spPr>
          <a:xfrm>
            <a:off x="7131998" y="2086376"/>
            <a:ext cx="4980810" cy="4794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理论视角：介绍解释该问题的主要理论及其基本假设。</a:t>
            </a:r>
            <a:endParaRPr lang="en-US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代表成果：比较不同研究如何界定变量、建立关系并验证结论。</a:t>
            </a:r>
            <a:endParaRPr lang="en-US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发展趋势：指出正在出现的新问题、新方法或新情境，明确本研究的切入点。</a:t>
            </a: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2F1A56B5-6304-6613-8BCE-9C7F83B14FEC}"/>
              </a:ext>
            </a:extLst>
          </p:cNvPr>
          <p:cNvSpPr/>
          <p:nvPr/>
        </p:nvSpPr>
        <p:spPr>
          <a:xfrm>
            <a:off x="3239493" y="1064308"/>
            <a:ext cx="8873315" cy="874407"/>
          </a:xfrm>
          <a:prstGeom prst="roundRect">
            <a:avLst>
              <a:gd name="adj" fmla="val 0"/>
            </a:avLst>
          </a:prstGeom>
          <a:pattFill prst="pct20">
            <a:fgClr>
              <a:srgbClr val="9BBB59"/>
            </a:fgClr>
            <a:bgClr>
              <a:sysClr val="window" lastClr="FFFFFF"/>
            </a:bgClr>
          </a:pattFill>
          <a:ln w="25400" cap="flat" cmpd="sng" algn="ctr">
            <a:solidFill>
              <a:sysClr val="windowText" lastClr="000000"/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9CD2D37D-829D-DCCB-DC08-DA6BA95B12F8}"/>
              </a:ext>
            </a:extLst>
          </p:cNvPr>
          <p:cNvSpPr txBox="1"/>
          <p:nvPr/>
        </p:nvSpPr>
        <p:spPr>
          <a:xfrm>
            <a:off x="3176472" y="2457217"/>
            <a:ext cx="4127152" cy="4203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研究范围：列出已有研究重点关注的对象与场景，说明覆盖范围。</a:t>
            </a:r>
            <a:endParaRPr lang="en-US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600" b="1" kern="100" dirty="0">
                <a:solidFill>
                  <a:srgbClr val="0E66B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证据局限：比较资料来源、样本结构与研究方法，说明结论尚待验证的部分。</a:t>
            </a:r>
            <a:endParaRPr lang="en-US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研究空间：概括仍需进一步解释的问题，并衔接后续的研究目标。</a:t>
            </a:r>
          </a:p>
        </p:txBody>
      </p:sp>
      <p:sp>
        <p:nvSpPr>
          <p:cNvPr id="102" name="梯形 101">
            <a:extLst>
              <a:ext uri="{FF2B5EF4-FFF2-40B4-BE49-F238E27FC236}">
                <a16:creationId xmlns:a16="http://schemas.microsoft.com/office/drawing/2014/main" id="{0FB4E84C-52A3-9391-4F1D-3D5C9A8D6931}"/>
              </a:ext>
            </a:extLst>
          </p:cNvPr>
          <p:cNvSpPr/>
          <p:nvPr/>
        </p:nvSpPr>
        <p:spPr>
          <a:xfrm rot="10800000">
            <a:off x="91500" y="4064067"/>
            <a:ext cx="3067267" cy="152788"/>
          </a:xfrm>
          <a:prstGeom prst="trapezoid">
            <a:avLst>
              <a:gd name="adj" fmla="val 223709"/>
            </a:avLst>
          </a:prstGeom>
          <a:gradFill flip="none" rotWithShape="1">
            <a:gsLst>
              <a:gs pos="0">
                <a:schemeClr val="bg1"/>
              </a:gs>
              <a:gs pos="79000">
                <a:srgbClr val="002060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BBBB49BE-2B39-E526-3248-CCE33CDA2FCC}"/>
              </a:ext>
            </a:extLst>
          </p:cNvPr>
          <p:cNvCxnSpPr>
            <a:cxnSpLocks/>
          </p:cNvCxnSpPr>
          <p:nvPr/>
        </p:nvCxnSpPr>
        <p:spPr>
          <a:xfrm flipH="1">
            <a:off x="469940" y="975002"/>
            <a:ext cx="302256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2B95218F-7602-DCFE-0E8A-0C96EF6CAE14}"/>
              </a:ext>
            </a:extLst>
          </p:cNvPr>
          <p:cNvSpPr txBox="1"/>
          <p:nvPr/>
        </p:nvSpPr>
        <p:spPr>
          <a:xfrm>
            <a:off x="3239493" y="1045701"/>
            <a:ext cx="8919135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研究方向二：说明另一类研究的分析视角和主要成果。比较其与前一方向的联系，归纳可以借鉴的思路。</a:t>
            </a:r>
            <a:endParaRPr lang="zh-CN" altLang="en-US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6" name="梯形 105">
            <a:extLst>
              <a:ext uri="{FF2B5EF4-FFF2-40B4-BE49-F238E27FC236}">
                <a16:creationId xmlns:a16="http://schemas.microsoft.com/office/drawing/2014/main" id="{5A0B3015-F349-F4FC-823F-F2D8A021CF5A}"/>
              </a:ext>
            </a:extLst>
          </p:cNvPr>
          <p:cNvSpPr/>
          <p:nvPr/>
        </p:nvSpPr>
        <p:spPr>
          <a:xfrm rot="10800000">
            <a:off x="3211197" y="1979145"/>
            <a:ext cx="3999993" cy="148691"/>
          </a:xfrm>
          <a:prstGeom prst="trapezoid">
            <a:avLst>
              <a:gd name="adj" fmla="val 223709"/>
            </a:avLst>
          </a:prstGeom>
          <a:gradFill flip="none" rotWithShape="1">
            <a:gsLst>
              <a:gs pos="0">
                <a:schemeClr val="bg1"/>
              </a:gs>
              <a:gs pos="79000">
                <a:srgbClr val="002060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梯形 106">
            <a:extLst>
              <a:ext uri="{FF2B5EF4-FFF2-40B4-BE49-F238E27FC236}">
                <a16:creationId xmlns:a16="http://schemas.microsoft.com/office/drawing/2014/main" id="{8188C612-FE85-CD53-5190-0C42B730CDCD}"/>
              </a:ext>
            </a:extLst>
          </p:cNvPr>
          <p:cNvSpPr/>
          <p:nvPr/>
        </p:nvSpPr>
        <p:spPr>
          <a:xfrm rot="10800000">
            <a:off x="7211190" y="1968059"/>
            <a:ext cx="4857222" cy="159778"/>
          </a:xfrm>
          <a:prstGeom prst="trapezoid">
            <a:avLst>
              <a:gd name="adj" fmla="val 223709"/>
            </a:avLst>
          </a:prstGeom>
          <a:gradFill flip="none" rotWithShape="1">
            <a:gsLst>
              <a:gs pos="0">
                <a:schemeClr val="bg1"/>
              </a:gs>
              <a:gs pos="79000">
                <a:srgbClr val="002060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039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DEC9A-920D-0E35-2777-EEE387557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C549E92-9B2F-803B-5BB0-965AFE3B3D8A}"/>
              </a:ext>
            </a:extLst>
          </p:cNvPr>
          <p:cNvSpPr/>
          <p:nvPr/>
        </p:nvSpPr>
        <p:spPr>
          <a:xfrm>
            <a:off x="104737" y="3424173"/>
            <a:ext cx="11949611" cy="3367827"/>
          </a:xfrm>
          <a:prstGeom prst="roundRect">
            <a:avLst>
              <a:gd name="adj" fmla="val 0"/>
            </a:avLst>
          </a:prstGeom>
          <a:pattFill prst="pct20">
            <a:fgClr>
              <a:schemeClr val="bg1">
                <a:lumMod val="85000"/>
              </a:schemeClr>
            </a:fgClr>
            <a:bgClr>
              <a:sysClr val="window" lastClr="FFFFFF"/>
            </a:bgClr>
          </a:pattFill>
          <a:ln w="19050" cap="flat" cmpd="sng" algn="ctr">
            <a:solidFill>
              <a:sysClr val="windowText" lastClr="000000"/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流程图: 过程 12">
            <a:extLst>
              <a:ext uri="{FF2B5EF4-FFF2-40B4-BE49-F238E27FC236}">
                <a16:creationId xmlns:a16="http://schemas.microsoft.com/office/drawing/2014/main" id="{9C407D89-B968-004C-4CF5-DB907D479868}"/>
              </a:ext>
            </a:extLst>
          </p:cNvPr>
          <p:cNvSpPr/>
          <p:nvPr/>
        </p:nvSpPr>
        <p:spPr>
          <a:xfrm>
            <a:off x="2174" y="1095732"/>
            <a:ext cx="12192000" cy="2241544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C4129A-652E-4D3C-985A-C6AA69399CCA}"/>
              </a:ext>
            </a:extLst>
          </p:cNvPr>
          <p:cNvSpPr/>
          <p:nvPr/>
        </p:nvSpPr>
        <p:spPr>
          <a:xfrm>
            <a:off x="0" y="-5902"/>
            <a:ext cx="12192000" cy="646661"/>
          </a:xfrm>
          <a:prstGeom prst="rect">
            <a:avLst/>
          </a:prstGeom>
          <a:solidFill>
            <a:srgbClr val="2B57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91D0CD5-0721-F3FF-2EFD-74362FD05598}"/>
              </a:ext>
            </a:extLst>
          </p:cNvPr>
          <p:cNvSpPr txBox="1"/>
          <p:nvPr/>
        </p:nvSpPr>
        <p:spPr>
          <a:xfrm>
            <a:off x="0" y="639502"/>
            <a:ext cx="1219200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4B180CAB-1C37-217F-4B46-1CE6F2C111E8}"/>
              </a:ext>
            </a:extLst>
          </p:cNvPr>
          <p:cNvCxnSpPr>
            <a:cxnSpLocks/>
          </p:cNvCxnSpPr>
          <p:nvPr/>
        </p:nvCxnSpPr>
        <p:spPr>
          <a:xfrm>
            <a:off x="5793026" y="133562"/>
            <a:ext cx="0" cy="374895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8F789275-F888-8A53-4AD2-F3CE8FBD2CA6}"/>
              </a:ext>
            </a:extLst>
          </p:cNvPr>
          <p:cNvCxnSpPr>
            <a:cxnSpLocks/>
          </p:cNvCxnSpPr>
          <p:nvPr/>
        </p:nvCxnSpPr>
        <p:spPr>
          <a:xfrm>
            <a:off x="3959520" y="125606"/>
            <a:ext cx="0" cy="375083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363CAC4D-0439-F04F-853C-F643DF1D7A8A}"/>
              </a:ext>
            </a:extLst>
          </p:cNvPr>
          <p:cNvCxnSpPr>
            <a:cxnSpLocks/>
          </p:cNvCxnSpPr>
          <p:nvPr/>
        </p:nvCxnSpPr>
        <p:spPr>
          <a:xfrm>
            <a:off x="7618568" y="125499"/>
            <a:ext cx="0" cy="375190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09817358-7025-347A-C803-72E42D951A60}"/>
              </a:ext>
            </a:extLst>
          </p:cNvPr>
          <p:cNvCxnSpPr>
            <a:cxnSpLocks/>
          </p:cNvCxnSpPr>
          <p:nvPr/>
        </p:nvCxnSpPr>
        <p:spPr>
          <a:xfrm>
            <a:off x="9903426" y="125499"/>
            <a:ext cx="0" cy="382958"/>
          </a:xfrm>
          <a:prstGeom prst="line">
            <a:avLst/>
          </a:prstGeom>
          <a:solidFill>
            <a:srgbClr val="2B579B"/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8217D415-A28F-AEBD-C2D8-3CE4CA6FCC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1" y="66000"/>
            <a:ext cx="1978182" cy="517025"/>
          </a:xfrm>
          <a:prstGeom prst="rect">
            <a:avLst/>
          </a:prstGeom>
        </p:spPr>
      </p:pic>
      <p:sp>
        <p:nvSpPr>
          <p:cNvPr id="14" name="PA_文本框 46">
            <a:extLst>
              <a:ext uri="{FF2B5EF4-FFF2-40B4-BE49-F238E27FC236}">
                <a16:creationId xmlns:a16="http://schemas.microsoft.com/office/drawing/2014/main" id="{59975EC4-6603-9F44-DE5D-D920A71930BE}"/>
              </a:ext>
            </a:extLst>
          </p:cNvPr>
          <p:cNvSpPr txBox="1"/>
          <p:nvPr/>
        </p:nvSpPr>
        <p:spPr>
          <a:xfrm>
            <a:off x="3978340" y="134169"/>
            <a:ext cx="1810755" cy="366520"/>
          </a:xfrm>
          <a:prstGeom prst="rect">
            <a:avLst/>
          </a:prstGeom>
          <a:noFill/>
          <a:effectLst>
            <a:outerShdw blurRad="139700" dist="63500" dir="5400000" algn="t" rotWithShape="0">
              <a:schemeClr val="bg1">
                <a:alpha val="40000"/>
              </a:schemeClr>
            </a:outerShdw>
          </a:effectLst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国内外研究现状</a:t>
            </a:r>
          </a:p>
        </p:txBody>
      </p:sp>
      <p:sp>
        <p:nvSpPr>
          <p:cNvPr id="16" name="PA_文本框 46">
            <a:extLst>
              <a:ext uri="{FF2B5EF4-FFF2-40B4-BE49-F238E27FC236}">
                <a16:creationId xmlns:a16="http://schemas.microsoft.com/office/drawing/2014/main" id="{51229FB4-F095-DE54-31DD-FF0566FB02BA}"/>
              </a:ext>
            </a:extLst>
          </p:cNvPr>
          <p:cNvSpPr txBox="1"/>
          <p:nvPr/>
        </p:nvSpPr>
        <p:spPr>
          <a:xfrm>
            <a:off x="5793024" y="125499"/>
            <a:ext cx="1821609" cy="374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研究目标与内容</a:t>
            </a:r>
          </a:p>
        </p:txBody>
      </p:sp>
      <p:sp>
        <p:nvSpPr>
          <p:cNvPr id="17" name="PA_文本框 46">
            <a:extLst>
              <a:ext uri="{FF2B5EF4-FFF2-40B4-BE49-F238E27FC236}">
                <a16:creationId xmlns:a16="http://schemas.microsoft.com/office/drawing/2014/main" id="{563A75C3-7B2F-DDA2-2034-3EEE4A624E90}"/>
              </a:ext>
            </a:extLst>
          </p:cNvPr>
          <p:cNvSpPr txBox="1"/>
          <p:nvPr/>
        </p:nvSpPr>
        <p:spPr>
          <a:xfrm>
            <a:off x="7622500" y="125499"/>
            <a:ext cx="2266140" cy="380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研究方法与技术路线</a:t>
            </a:r>
          </a:p>
        </p:txBody>
      </p:sp>
      <p:sp>
        <p:nvSpPr>
          <p:cNvPr id="18" name="PA_文本框 46">
            <a:extLst>
              <a:ext uri="{FF2B5EF4-FFF2-40B4-BE49-F238E27FC236}">
                <a16:creationId xmlns:a16="http://schemas.microsoft.com/office/drawing/2014/main" id="{3E928A39-4827-DF65-BCC0-3D2323A06AE8}"/>
              </a:ext>
            </a:extLst>
          </p:cNvPr>
          <p:cNvSpPr txBox="1"/>
          <p:nvPr/>
        </p:nvSpPr>
        <p:spPr>
          <a:xfrm>
            <a:off x="9926968" y="133562"/>
            <a:ext cx="2266036" cy="34462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研究条件与进度计划</a:t>
            </a:r>
          </a:p>
        </p:txBody>
      </p:sp>
      <p:sp>
        <p:nvSpPr>
          <p:cNvPr id="45" name="等腰三角形 44">
            <a:extLst>
              <a:ext uri="{FF2B5EF4-FFF2-40B4-BE49-F238E27FC236}">
                <a16:creationId xmlns:a16="http://schemas.microsoft.com/office/drawing/2014/main" id="{34A8756C-3116-01AB-0E78-C87A912FC545}"/>
              </a:ext>
            </a:extLst>
          </p:cNvPr>
          <p:cNvSpPr/>
          <p:nvPr/>
        </p:nvSpPr>
        <p:spPr>
          <a:xfrm>
            <a:off x="4554820" y="532159"/>
            <a:ext cx="657793" cy="108493"/>
          </a:xfrm>
          <a:prstGeom prst="triangle">
            <a:avLst>
              <a:gd name="adj" fmla="val 5038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PA_文本框 46">
            <a:extLst>
              <a:ext uri="{FF2B5EF4-FFF2-40B4-BE49-F238E27FC236}">
                <a16:creationId xmlns:a16="http://schemas.microsoft.com/office/drawing/2014/main" id="{92E0F433-860E-054C-DE7B-2848C14FD371}"/>
              </a:ext>
            </a:extLst>
          </p:cNvPr>
          <p:cNvSpPr txBox="1"/>
          <p:nvPr/>
        </p:nvSpPr>
        <p:spPr>
          <a:xfrm>
            <a:off x="2139245" y="125499"/>
            <a:ext cx="1821609" cy="374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</a:p>
        </p:txBody>
      </p:sp>
      <p:sp>
        <p:nvSpPr>
          <p:cNvPr id="69" name="PA_文本框 46">
            <a:extLst>
              <a:ext uri="{FF2B5EF4-FFF2-40B4-BE49-F238E27FC236}">
                <a16:creationId xmlns:a16="http://schemas.microsoft.com/office/drawing/2014/main" id="{D9C4A440-B837-8C2E-7587-0455231F8E81}"/>
              </a:ext>
            </a:extLst>
          </p:cNvPr>
          <p:cNvSpPr txBox="1"/>
          <p:nvPr/>
        </p:nvSpPr>
        <p:spPr>
          <a:xfrm>
            <a:off x="387863" y="654173"/>
            <a:ext cx="3571657" cy="3546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1B4F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核心概念与理论基础</a:t>
            </a:r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E3440FCF-24E3-2B3B-6B72-04F92534AFE3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4189" b="45133" l="37316" r="6342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074" t="24136" r="35143" b="54170"/>
          <a:stretch>
            <a:fillRect/>
          </a:stretch>
        </p:blipFill>
        <p:spPr>
          <a:xfrm>
            <a:off x="0" y="639502"/>
            <a:ext cx="492760" cy="369333"/>
          </a:xfrm>
          <a:prstGeom prst="rect">
            <a:avLst/>
          </a:prstGeom>
        </p:spPr>
      </p:pic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E2A972FF-EAEB-7808-F0DC-15713B70BF12}"/>
              </a:ext>
            </a:extLst>
          </p:cNvPr>
          <p:cNvCxnSpPr>
            <a:cxnSpLocks/>
          </p:cNvCxnSpPr>
          <p:nvPr/>
        </p:nvCxnSpPr>
        <p:spPr>
          <a:xfrm flipH="1">
            <a:off x="469940" y="975002"/>
            <a:ext cx="28219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4F911C46-37BC-9168-DCB5-01DCF37F9B21}"/>
              </a:ext>
            </a:extLst>
          </p:cNvPr>
          <p:cNvSpPr txBox="1"/>
          <p:nvPr/>
        </p:nvSpPr>
        <p:spPr>
          <a:xfrm>
            <a:off x="79191" y="3520725"/>
            <a:ext cx="11849064" cy="3102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概念界定：说明核心概念的含义、构成及适用范围，并交代其与相关概念的关系。</a:t>
            </a:r>
            <a:endParaRPr lang="en-US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理论依据：介绍所选理论的核心观点与基本假设，指出能够解释的研究现象。</a:t>
            </a:r>
            <a:endParaRPr lang="en-US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研究衔接：说明理论如何支持变量选择、机制分析或研究设计，明确后续验证的重点。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E73F7E-FA62-1223-36D4-5B8D7B8830DE}"/>
              </a:ext>
            </a:extLst>
          </p:cNvPr>
          <p:cNvSpPr txBox="1"/>
          <p:nvPr/>
        </p:nvSpPr>
        <p:spPr>
          <a:xfrm>
            <a:off x="2174" y="1139879"/>
            <a:ext cx="12189826" cy="248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理论整合：归纳不同理论的作用及相互联系。说明采用该分析框架的原因，明确研究对象、分析层次和预期解释路径。</a:t>
            </a:r>
          </a:p>
          <a:p>
            <a:pPr>
              <a:lnSpc>
                <a:spcPct val="125000"/>
              </a:lnSpc>
              <a:buNone/>
            </a:pPr>
            <a:endParaRPr lang="zh-CN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7679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C2128-6AE9-941B-C7DF-F984DCF92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B9A2511E-7E18-46C1-C853-348FA1AAC997}"/>
              </a:ext>
            </a:extLst>
          </p:cNvPr>
          <p:cNvSpPr/>
          <p:nvPr/>
        </p:nvSpPr>
        <p:spPr>
          <a:xfrm>
            <a:off x="658840" y="5340273"/>
            <a:ext cx="11483139" cy="1369136"/>
          </a:xfrm>
          <a:prstGeom prst="roundRect">
            <a:avLst>
              <a:gd name="adj" fmla="val 9562"/>
            </a:avLst>
          </a:prstGeom>
          <a:solidFill>
            <a:srgbClr val="2B579B"/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C05A84B-AA6F-2FA1-F219-24CF6082821A}"/>
              </a:ext>
            </a:extLst>
          </p:cNvPr>
          <p:cNvSpPr txBox="1"/>
          <p:nvPr/>
        </p:nvSpPr>
        <p:spPr>
          <a:xfrm>
            <a:off x="0" y="639502"/>
            <a:ext cx="1219200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等腰三角形 80">
            <a:extLst>
              <a:ext uri="{FF2B5EF4-FFF2-40B4-BE49-F238E27FC236}">
                <a16:creationId xmlns:a16="http://schemas.microsoft.com/office/drawing/2014/main" id="{2E476CBC-0F92-0CAD-CD13-2E15F658455B}"/>
              </a:ext>
            </a:extLst>
          </p:cNvPr>
          <p:cNvSpPr/>
          <p:nvPr/>
        </p:nvSpPr>
        <p:spPr>
          <a:xfrm>
            <a:off x="5165777" y="1451639"/>
            <a:ext cx="657793" cy="108493"/>
          </a:xfrm>
          <a:prstGeom prst="triangle">
            <a:avLst>
              <a:gd name="adj" fmla="val 5038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DD7E3FF-4CFD-A57A-4844-2CE95D8223C7}"/>
              </a:ext>
            </a:extLst>
          </p:cNvPr>
          <p:cNvSpPr/>
          <p:nvPr/>
        </p:nvSpPr>
        <p:spPr>
          <a:xfrm>
            <a:off x="692088" y="1059732"/>
            <a:ext cx="11435239" cy="1341983"/>
          </a:xfrm>
          <a:prstGeom prst="roundRect">
            <a:avLst>
              <a:gd name="adj" fmla="val 10868"/>
            </a:avLst>
          </a:prstGeom>
          <a:noFill/>
          <a:ln w="28575" cap="rnd">
            <a:solidFill>
              <a:srgbClr val="2B579B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31EB1FC-0D4B-E69A-5263-E9B467A95324}"/>
              </a:ext>
            </a:extLst>
          </p:cNvPr>
          <p:cNvSpPr txBox="1"/>
          <p:nvPr/>
        </p:nvSpPr>
        <p:spPr>
          <a:xfrm>
            <a:off x="97921" y="1109383"/>
            <a:ext cx="382027" cy="1253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000" b="1" kern="100" dirty="0">
                <a:solidFill>
                  <a:srgbClr val="2819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目标一</a:t>
            </a:r>
            <a:endParaRPr lang="zh-CN" altLang="en-US" sz="2000" b="1" kern="100" dirty="0">
              <a:solidFill>
                <a:srgbClr val="2819B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08D0015-07D6-F769-8FDF-89D782EF96CF}"/>
              </a:ext>
            </a:extLst>
          </p:cNvPr>
          <p:cNvSpPr txBox="1"/>
          <p:nvPr/>
        </p:nvSpPr>
        <p:spPr>
          <a:xfrm>
            <a:off x="865762" y="1082129"/>
            <a:ext cx="11276218" cy="1321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buNone/>
            </a:pPr>
            <a:r>
              <a:rPr lang="zh-CN" altLang="zh-CN" sz="17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界定研究对象与核心概念，明确分析范围。围绕现实问题梳理关键要素，形成可支撑后续研究的概念框架。</a:t>
            </a:r>
          </a:p>
        </p:txBody>
      </p:sp>
      <p:sp>
        <p:nvSpPr>
          <p:cNvPr id="20" name="等腰三角形 19">
            <a:extLst>
              <a:ext uri="{FF2B5EF4-FFF2-40B4-BE49-F238E27FC236}">
                <a16:creationId xmlns:a16="http://schemas.microsoft.com/office/drawing/2014/main" id="{C01E59C4-F3BE-B81B-2558-D51F6C202959}"/>
              </a:ext>
            </a:extLst>
          </p:cNvPr>
          <p:cNvSpPr/>
          <p:nvPr/>
        </p:nvSpPr>
        <p:spPr>
          <a:xfrm>
            <a:off x="5541697" y="4703389"/>
            <a:ext cx="657793" cy="108493"/>
          </a:xfrm>
          <a:prstGeom prst="triangle">
            <a:avLst>
              <a:gd name="adj" fmla="val 5038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728CBCB-873D-3563-6649-2FC6531F3F58}"/>
              </a:ext>
            </a:extLst>
          </p:cNvPr>
          <p:cNvSpPr/>
          <p:nvPr/>
        </p:nvSpPr>
        <p:spPr>
          <a:xfrm>
            <a:off x="692089" y="2463610"/>
            <a:ext cx="11435238" cy="1369136"/>
          </a:xfrm>
          <a:prstGeom prst="roundRect">
            <a:avLst>
              <a:gd name="adj" fmla="val 9562"/>
            </a:avLst>
          </a:prstGeom>
          <a:solidFill>
            <a:srgbClr val="2B579B"/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dirty="0"/>
          </a:p>
        </p:txBody>
      </p: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BDDBB373-2858-F0E0-EE70-0F0AE9E469B8}"/>
              </a:ext>
            </a:extLst>
          </p:cNvPr>
          <p:cNvSpPr/>
          <p:nvPr/>
        </p:nvSpPr>
        <p:spPr>
          <a:xfrm>
            <a:off x="5165778" y="5230166"/>
            <a:ext cx="657793" cy="108493"/>
          </a:xfrm>
          <a:prstGeom prst="triangle">
            <a:avLst>
              <a:gd name="adj" fmla="val 5038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4EE65E2-448A-A8DE-3A9B-8A1FA0758E11}"/>
              </a:ext>
            </a:extLst>
          </p:cNvPr>
          <p:cNvSpPr txBox="1"/>
          <p:nvPr/>
        </p:nvSpPr>
        <p:spPr>
          <a:xfrm>
            <a:off x="706744" y="2513232"/>
            <a:ext cx="11474464" cy="1321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zh-CN" sz="17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识别关键变量及其关系，提出需要验证的研究假设。结合理论与证据说明变量之间可能存在的作用机制。</a:t>
            </a:r>
            <a:endParaRPr lang="zh-CN" altLang="en-US" sz="17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等腰三角形 31">
            <a:extLst>
              <a:ext uri="{FF2B5EF4-FFF2-40B4-BE49-F238E27FC236}">
                <a16:creationId xmlns:a16="http://schemas.microsoft.com/office/drawing/2014/main" id="{3B7F24AA-BD47-E5A2-8281-9A3D9F14EF3C}"/>
              </a:ext>
            </a:extLst>
          </p:cNvPr>
          <p:cNvSpPr/>
          <p:nvPr/>
        </p:nvSpPr>
        <p:spPr>
          <a:xfrm>
            <a:off x="5141604" y="4499913"/>
            <a:ext cx="657793" cy="108493"/>
          </a:xfrm>
          <a:prstGeom prst="triangle">
            <a:avLst>
              <a:gd name="adj" fmla="val 5038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389D9BF-F414-0A35-B57E-F9BFBDFF91CC}"/>
              </a:ext>
            </a:extLst>
          </p:cNvPr>
          <p:cNvSpPr txBox="1"/>
          <p:nvPr/>
        </p:nvSpPr>
        <p:spPr>
          <a:xfrm>
            <a:off x="756762" y="3966733"/>
            <a:ext cx="11385218" cy="1321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buNone/>
            </a:pPr>
            <a:r>
              <a:rPr lang="zh-CN" altLang="en-US" sz="17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建立分析模型并设计验证方案，明确数据、方法与评价标准。通过实证、实验或案例研究检验主要判断。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8F6B28A-1900-21E9-58F7-790B696957B0}"/>
              </a:ext>
            </a:extLst>
          </p:cNvPr>
          <p:cNvSpPr txBox="1"/>
          <p:nvPr/>
        </p:nvSpPr>
        <p:spPr>
          <a:xfrm>
            <a:off x="706743" y="5344265"/>
            <a:ext cx="11435235" cy="1321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7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归纳研究发现并形成应用建议，说明结果的适用条件。提出与实际问题对应的改进方案及后续研究方向。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718406C-98B2-0DC3-E66B-7704238854D3}"/>
              </a:ext>
            </a:extLst>
          </p:cNvPr>
          <p:cNvSpPr txBox="1"/>
          <p:nvPr/>
        </p:nvSpPr>
        <p:spPr>
          <a:xfrm>
            <a:off x="111721" y="2463609"/>
            <a:ext cx="382027" cy="1253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000" b="1" kern="100" dirty="0">
                <a:solidFill>
                  <a:srgbClr val="2819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目标二</a:t>
            </a:r>
            <a:endParaRPr lang="zh-CN" altLang="en-US" sz="2000" b="1" kern="100" dirty="0">
              <a:solidFill>
                <a:srgbClr val="2819B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7EC61CF-FEE5-49F5-8C16-E7CFB97F9B88}"/>
              </a:ext>
            </a:extLst>
          </p:cNvPr>
          <p:cNvSpPr txBox="1"/>
          <p:nvPr/>
        </p:nvSpPr>
        <p:spPr>
          <a:xfrm>
            <a:off x="97921" y="3937162"/>
            <a:ext cx="382027" cy="1253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000" b="1" kern="100" dirty="0">
                <a:solidFill>
                  <a:srgbClr val="2819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目标三</a:t>
            </a:r>
            <a:endParaRPr lang="zh-CN" altLang="en-US" sz="2000" b="1" kern="100" dirty="0">
              <a:solidFill>
                <a:srgbClr val="2819B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20CB6E8-DDDE-239D-D279-6683121A20BC}"/>
              </a:ext>
            </a:extLst>
          </p:cNvPr>
          <p:cNvSpPr txBox="1"/>
          <p:nvPr/>
        </p:nvSpPr>
        <p:spPr>
          <a:xfrm>
            <a:off x="97921" y="5422172"/>
            <a:ext cx="382027" cy="1253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000" b="1" kern="100" dirty="0">
                <a:solidFill>
                  <a:srgbClr val="2819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目标四</a:t>
            </a:r>
            <a:endParaRPr lang="zh-CN" altLang="en-US" sz="2000" b="1" kern="100" dirty="0">
              <a:solidFill>
                <a:srgbClr val="2819B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PA_文本框 46">
            <a:extLst>
              <a:ext uri="{FF2B5EF4-FFF2-40B4-BE49-F238E27FC236}">
                <a16:creationId xmlns:a16="http://schemas.microsoft.com/office/drawing/2014/main" id="{6D18A462-5FB4-B8DC-A763-ECBB138CAE13}"/>
              </a:ext>
            </a:extLst>
          </p:cNvPr>
          <p:cNvSpPr txBox="1"/>
          <p:nvPr/>
        </p:nvSpPr>
        <p:spPr>
          <a:xfrm>
            <a:off x="387863" y="654173"/>
            <a:ext cx="1188335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1B4F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</a:t>
            </a: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0434732D-A25C-B6DF-E30A-BBB0530C869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4189" b="45133" l="37316" r="6342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074" t="24136" r="35143" b="54170"/>
          <a:stretch>
            <a:fillRect/>
          </a:stretch>
        </p:blipFill>
        <p:spPr>
          <a:xfrm>
            <a:off x="0" y="639502"/>
            <a:ext cx="492760" cy="369333"/>
          </a:xfrm>
          <a:prstGeom prst="rect">
            <a:avLst/>
          </a:prstGeom>
        </p:spPr>
      </p:pic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FA27CC3C-59AF-B941-5C60-9BC01ADB5300}"/>
              </a:ext>
            </a:extLst>
          </p:cNvPr>
          <p:cNvCxnSpPr>
            <a:cxnSpLocks/>
          </p:cNvCxnSpPr>
          <p:nvPr/>
        </p:nvCxnSpPr>
        <p:spPr>
          <a:xfrm flipH="1">
            <a:off x="469940" y="975002"/>
            <a:ext cx="102417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2DEFCA9A-955D-FFD9-DBC8-A879EBBA082B}"/>
              </a:ext>
            </a:extLst>
          </p:cNvPr>
          <p:cNvSpPr/>
          <p:nvPr/>
        </p:nvSpPr>
        <p:spPr>
          <a:xfrm>
            <a:off x="706744" y="3918483"/>
            <a:ext cx="11435239" cy="1341983"/>
          </a:xfrm>
          <a:prstGeom prst="roundRect">
            <a:avLst>
              <a:gd name="adj" fmla="val 10868"/>
            </a:avLst>
          </a:prstGeom>
          <a:noFill/>
          <a:ln w="28575" cap="rnd">
            <a:solidFill>
              <a:srgbClr val="2B579B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70945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87DA7-614E-3F52-0DC6-7B7B8D7B5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EF8A2CF4-A482-47C3-9322-C30C80C5B6EA}"/>
              </a:ext>
            </a:extLst>
          </p:cNvPr>
          <p:cNvSpPr txBox="1"/>
          <p:nvPr/>
        </p:nvSpPr>
        <p:spPr>
          <a:xfrm>
            <a:off x="0" y="639502"/>
            <a:ext cx="1219200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5BAE3AE-7FF0-14C2-FE63-53393A142063}"/>
              </a:ext>
            </a:extLst>
          </p:cNvPr>
          <p:cNvSpPr txBox="1"/>
          <p:nvPr/>
        </p:nvSpPr>
        <p:spPr>
          <a:xfrm>
            <a:off x="0" y="4177595"/>
            <a:ext cx="12191999" cy="17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说明各研究模块如何共同支撑总体研究目标。交代模块之间的数据、方法或结论传递关系，并归纳预期形成的成果及其应用场景。</a:t>
            </a:r>
            <a:endParaRPr lang="zh-CN" altLang="zh-CN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E3CACB5-AB67-F157-4CEF-EC80F660A1FE}"/>
              </a:ext>
            </a:extLst>
          </p:cNvPr>
          <p:cNvSpPr/>
          <p:nvPr/>
        </p:nvSpPr>
        <p:spPr>
          <a:xfrm>
            <a:off x="4316293" y="1787817"/>
            <a:ext cx="3517381" cy="753736"/>
          </a:xfrm>
          <a:prstGeom prst="roundRect">
            <a:avLst>
              <a:gd name="adj" fmla="val 4260"/>
            </a:avLst>
          </a:prstGeom>
          <a:blipFill>
            <a:blip r:embed="rId4"/>
            <a:tile tx="0" ty="0" sx="100000" sy="100000" flip="none" algn="tl"/>
          </a:blipFill>
          <a:ln w="28575">
            <a:solidFill>
              <a:srgbClr val="0F2C67"/>
            </a:solidFill>
          </a:ln>
          <a:effectLst>
            <a:outerShdw blurRad="50800" dist="38100" dir="60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A09574-4741-91DB-F564-C3E7497BC8D6}"/>
              </a:ext>
            </a:extLst>
          </p:cNvPr>
          <p:cNvSpPr txBox="1"/>
          <p:nvPr/>
        </p:nvSpPr>
        <p:spPr>
          <a:xfrm>
            <a:off x="4299605" y="1795494"/>
            <a:ext cx="3534070" cy="758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总体研究目标</a:t>
            </a:r>
            <a:endParaRPr lang="en-US" altLang="zh-CN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预期成果</a:t>
            </a:r>
            <a:endParaRPr lang="zh-CN" altLang="en-US" b="1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5F37D7B-7CD7-E9D2-AE4C-2897ED3D2EA6}"/>
              </a:ext>
            </a:extLst>
          </p:cNvPr>
          <p:cNvSpPr/>
          <p:nvPr/>
        </p:nvSpPr>
        <p:spPr>
          <a:xfrm>
            <a:off x="565608" y="1793563"/>
            <a:ext cx="3133880" cy="753736"/>
          </a:xfrm>
          <a:prstGeom prst="roundRect">
            <a:avLst>
              <a:gd name="adj" fmla="val 4260"/>
            </a:avLst>
          </a:prstGeom>
          <a:pattFill prst="pct10">
            <a:fgClr>
              <a:schemeClr val="accent1"/>
            </a:fgClr>
            <a:bgClr>
              <a:schemeClr val="bg1"/>
            </a:bgClr>
          </a:pattFill>
          <a:ln w="28575" cmpd="sng">
            <a:solidFill>
              <a:srgbClr val="0F2C67"/>
            </a:solidFill>
            <a:prstDash val="dash"/>
          </a:ln>
          <a:effectLst>
            <a:outerShdw blurRad="50800" dist="38100" dir="6000000" algn="ctr" rotWithShape="0">
              <a:srgbClr val="2819B9">
                <a:alpha val="4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90A4E31-FC52-EFDF-85D1-21EA66B00B36}"/>
              </a:ext>
            </a:extLst>
          </p:cNvPr>
          <p:cNvSpPr txBox="1"/>
          <p:nvPr/>
        </p:nvSpPr>
        <p:spPr>
          <a:xfrm>
            <a:off x="565608" y="1847720"/>
            <a:ext cx="3133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研究模块一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概念与框架</a:t>
            </a:r>
            <a:endParaRPr lang="zh-CN" altLang="en-US" b="1" dirty="0"/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0C2D7C74-5E04-7A93-E0B8-3C5A607B89A0}"/>
              </a:ext>
            </a:extLst>
          </p:cNvPr>
          <p:cNvSpPr/>
          <p:nvPr/>
        </p:nvSpPr>
        <p:spPr>
          <a:xfrm rot="16200000">
            <a:off x="3797633" y="1961722"/>
            <a:ext cx="451648" cy="433268"/>
          </a:xfrm>
          <a:prstGeom prst="downArrow">
            <a:avLst/>
          </a:prstGeom>
          <a:solidFill>
            <a:schemeClr val="bg1"/>
          </a:solidFill>
          <a:ln w="38100" cmpd="sng">
            <a:solidFill>
              <a:srgbClr val="2819B9"/>
            </a:solidFill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BAA641FD-AEAC-207E-D8B4-4038BB49EDF4}"/>
              </a:ext>
            </a:extLst>
          </p:cNvPr>
          <p:cNvSpPr/>
          <p:nvPr/>
        </p:nvSpPr>
        <p:spPr>
          <a:xfrm rot="10800000">
            <a:off x="5870175" y="2719561"/>
            <a:ext cx="451648" cy="433268"/>
          </a:xfrm>
          <a:prstGeom prst="downArrow">
            <a:avLst/>
          </a:prstGeom>
          <a:solidFill>
            <a:schemeClr val="bg1"/>
          </a:solidFill>
          <a:ln w="38100" cmpd="sng">
            <a:solidFill>
              <a:srgbClr val="2819B9"/>
            </a:solidFill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1B27B4D3-C48E-46C2-514C-8136D4495296}"/>
              </a:ext>
            </a:extLst>
          </p:cNvPr>
          <p:cNvSpPr/>
          <p:nvPr/>
        </p:nvSpPr>
        <p:spPr>
          <a:xfrm rot="5400000">
            <a:off x="7913400" y="1924932"/>
            <a:ext cx="451648" cy="433268"/>
          </a:xfrm>
          <a:prstGeom prst="downArrow">
            <a:avLst/>
          </a:prstGeom>
          <a:solidFill>
            <a:schemeClr val="bg1"/>
          </a:solidFill>
          <a:ln w="38100" cmpd="sng">
            <a:solidFill>
              <a:srgbClr val="2819B9"/>
            </a:solidFill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PA_文本框 46">
            <a:extLst>
              <a:ext uri="{FF2B5EF4-FFF2-40B4-BE49-F238E27FC236}">
                <a16:creationId xmlns:a16="http://schemas.microsoft.com/office/drawing/2014/main" id="{08013C38-4D0C-7E7E-D99F-D191466BA8AC}"/>
              </a:ext>
            </a:extLst>
          </p:cNvPr>
          <p:cNvSpPr txBox="1"/>
          <p:nvPr/>
        </p:nvSpPr>
        <p:spPr>
          <a:xfrm>
            <a:off x="387863" y="654173"/>
            <a:ext cx="8999205" cy="32082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1B4F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研究内容：总体框架与模块关系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DA2B5E8A-36DB-410E-01B5-EC2F300EECB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4189" b="45133" l="37316" r="6342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074" t="24136" r="35143" b="54170"/>
          <a:stretch>
            <a:fillRect/>
          </a:stretch>
        </p:blipFill>
        <p:spPr>
          <a:xfrm>
            <a:off x="0" y="639502"/>
            <a:ext cx="492760" cy="369333"/>
          </a:xfrm>
          <a:prstGeom prst="rect">
            <a:avLst/>
          </a:prstGeom>
        </p:spPr>
      </p:pic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3B353FC-00FA-BDCC-A60D-539375CC7DBC}"/>
              </a:ext>
            </a:extLst>
          </p:cNvPr>
          <p:cNvCxnSpPr>
            <a:cxnSpLocks/>
          </p:cNvCxnSpPr>
          <p:nvPr/>
        </p:nvCxnSpPr>
        <p:spPr>
          <a:xfrm flipH="1">
            <a:off x="469940" y="975002"/>
            <a:ext cx="780538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5B735A7-E8D9-9DE7-4033-0DADCFFFCF3D}"/>
              </a:ext>
            </a:extLst>
          </p:cNvPr>
          <p:cNvSpPr/>
          <p:nvPr/>
        </p:nvSpPr>
        <p:spPr>
          <a:xfrm>
            <a:off x="8492514" y="1758385"/>
            <a:ext cx="3133880" cy="753736"/>
          </a:xfrm>
          <a:prstGeom prst="roundRect">
            <a:avLst>
              <a:gd name="adj" fmla="val 4260"/>
            </a:avLst>
          </a:prstGeom>
          <a:pattFill prst="pct10">
            <a:fgClr>
              <a:schemeClr val="accent1"/>
            </a:fgClr>
            <a:bgClr>
              <a:schemeClr val="bg1"/>
            </a:bgClr>
          </a:pattFill>
          <a:ln w="28575" cmpd="sng">
            <a:solidFill>
              <a:srgbClr val="0F2C67"/>
            </a:solidFill>
            <a:prstDash val="dash"/>
          </a:ln>
          <a:effectLst>
            <a:outerShdw blurRad="50800" dist="38100" dir="6000000" algn="ctr" rotWithShape="0">
              <a:srgbClr val="2819B9">
                <a:alpha val="4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A82CB72-F904-8C27-44F0-94EA70175270}"/>
              </a:ext>
            </a:extLst>
          </p:cNvPr>
          <p:cNvSpPr txBox="1"/>
          <p:nvPr/>
        </p:nvSpPr>
        <p:spPr>
          <a:xfrm>
            <a:off x="8492514" y="1818354"/>
            <a:ext cx="3133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研究模块三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验证与应用</a:t>
            </a:r>
            <a:endParaRPr lang="zh-CN" altLang="en-US" b="1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64FF18D-B7A7-238B-3293-304864CAE569}"/>
              </a:ext>
            </a:extLst>
          </p:cNvPr>
          <p:cNvSpPr/>
          <p:nvPr/>
        </p:nvSpPr>
        <p:spPr>
          <a:xfrm>
            <a:off x="4529061" y="3268244"/>
            <a:ext cx="3133880" cy="753736"/>
          </a:xfrm>
          <a:prstGeom prst="roundRect">
            <a:avLst>
              <a:gd name="adj" fmla="val 4260"/>
            </a:avLst>
          </a:prstGeom>
          <a:pattFill prst="pct10">
            <a:fgClr>
              <a:schemeClr val="accent1"/>
            </a:fgClr>
            <a:bgClr>
              <a:schemeClr val="bg1"/>
            </a:bgClr>
          </a:pattFill>
          <a:ln w="28575" cmpd="sng">
            <a:solidFill>
              <a:srgbClr val="0F2C67"/>
            </a:solidFill>
            <a:prstDash val="dash"/>
          </a:ln>
          <a:effectLst>
            <a:outerShdw blurRad="50800" dist="38100" dir="6000000" algn="ctr" rotWithShape="0">
              <a:srgbClr val="2819B9">
                <a:alpha val="4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AA52B76-0F6E-100F-999B-1291BB0EE8AD}"/>
              </a:ext>
            </a:extLst>
          </p:cNvPr>
          <p:cNvSpPr txBox="1"/>
          <p:nvPr/>
        </p:nvSpPr>
        <p:spPr>
          <a:xfrm>
            <a:off x="4529061" y="3331686"/>
            <a:ext cx="3133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研究模块二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机制与模型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913978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F78F77A6-E227-7AF0-4897-02245C4C70C5}"/>
              </a:ext>
            </a:extLst>
          </p:cNvPr>
          <p:cNvSpPr/>
          <p:nvPr/>
        </p:nvSpPr>
        <p:spPr>
          <a:xfrm>
            <a:off x="-1" y="638088"/>
            <a:ext cx="7884161" cy="6219911"/>
          </a:xfrm>
          <a:prstGeom prst="roundRect">
            <a:avLst>
              <a:gd name="adj" fmla="val 0"/>
            </a:avLst>
          </a:prstGeom>
          <a:pattFill prst="pct20">
            <a:fgClr>
              <a:schemeClr val="tx2">
                <a:lumMod val="40000"/>
                <a:lumOff val="60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插入概念框架图">
            <a:extLst>
              <a:ext uri="{FF2B5EF4-FFF2-40B4-BE49-F238E27FC236}">
                <a16:creationId xmlns:a16="http://schemas.microsoft.com/office/drawing/2014/main" id="{8B42C36B-C1D5-C62E-98B9-A15B19985237}"/>
              </a:ext>
            </a:extLst>
          </p:cNvPr>
          <p:cNvSpPr/>
          <p:nvPr/>
        </p:nvSpPr>
        <p:spPr>
          <a:xfrm>
            <a:off x="97920" y="1229361"/>
            <a:ext cx="3981711" cy="2280882"/>
          </a:xfrm>
          <a:prstGeom prst="rect">
            <a:avLst/>
          </a:prstGeom>
          <a:solidFill>
            <a:srgbClr val="F3F6FA"/>
          </a:solidFill>
          <a:ln w="12700">
            <a:solidFill>
              <a:srgbClr val="7896B7"/>
            </a:solidFill>
            <a:prstDash val="dash"/>
          </a:ln>
        </p:spPr>
        <p:txBody>
          <a:bodyPr wrap="square" anchor="ctr" lIns="91440" rIns="91440"/>
          <a:lstStyle/>
          <a:p>
            <a:pPr algn="ctr"/>
            <a:r>
              <a:rPr lang="zh-CN" sz="1800">
                <a:solidFill>
                  <a:srgbClr val="2D527A"/>
                </a:solidFill>
                <a:latin typeface="Arial"/>
                <a:ea typeface="微软雅黑"/>
              </a:rPr>
              <a:t>插入概念框架图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7D675AA-9106-5BAF-7620-ED321C1066DE}"/>
              </a:ext>
            </a:extLst>
          </p:cNvPr>
          <p:cNvSpPr txBox="1"/>
          <p:nvPr/>
        </p:nvSpPr>
        <p:spPr>
          <a:xfrm>
            <a:off x="48857" y="633430"/>
            <a:ext cx="40307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zh-CN" sz="1600" b="1" kern="100" dirty="0">
                <a:solidFill>
                  <a:srgbClr val="2819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研究任务一：概念界定与框架构建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2071DDA-2DA5-61FD-8F29-15D8CBB04835}"/>
              </a:ext>
            </a:extLst>
          </p:cNvPr>
          <p:cNvSpPr txBox="1"/>
          <p:nvPr/>
        </p:nvSpPr>
        <p:spPr>
          <a:xfrm>
            <a:off x="4088857" y="667677"/>
            <a:ext cx="37161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600" b="1" kern="100" dirty="0">
                <a:solidFill>
                  <a:srgbClr val="2819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研究任务三：模型验证与结果分析</a:t>
            </a:r>
            <a:endParaRPr lang="zh-CN" altLang="en-US" sz="1600" b="1" kern="100" dirty="0">
              <a:solidFill>
                <a:srgbClr val="2819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38353A1-BFB7-19BF-D950-A955C7C3974A}"/>
              </a:ext>
            </a:extLst>
          </p:cNvPr>
          <p:cNvSpPr txBox="1"/>
          <p:nvPr/>
        </p:nvSpPr>
        <p:spPr>
          <a:xfrm>
            <a:off x="67440" y="3678146"/>
            <a:ext cx="40214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kern="100" dirty="0">
                <a:solidFill>
                  <a:srgbClr val="2819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研究任务二：变量识别</a:t>
            </a:r>
            <a:endParaRPr lang="en-US" altLang="zh-CN" sz="1600" b="1" kern="100" dirty="0">
              <a:solidFill>
                <a:srgbClr val="2819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kern="100" dirty="0">
                <a:solidFill>
                  <a:srgbClr val="2819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与机制分析</a:t>
            </a:r>
            <a:endParaRPr lang="zh-CN" altLang="zh-CN" sz="1600" b="1" kern="100" dirty="0">
              <a:solidFill>
                <a:srgbClr val="2819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等腰三角形 37">
            <a:extLst>
              <a:ext uri="{FF2B5EF4-FFF2-40B4-BE49-F238E27FC236}">
                <a16:creationId xmlns:a16="http://schemas.microsoft.com/office/drawing/2014/main" id="{385F7095-2DA6-C53C-7C83-404C6B35772C}"/>
              </a:ext>
            </a:extLst>
          </p:cNvPr>
          <p:cNvSpPr/>
          <p:nvPr/>
        </p:nvSpPr>
        <p:spPr>
          <a:xfrm rot="10800000">
            <a:off x="97920" y="3551366"/>
            <a:ext cx="3990938" cy="143016"/>
          </a:xfrm>
          <a:prstGeom prst="triangle">
            <a:avLst>
              <a:gd name="adj" fmla="val 50448"/>
            </a:avLst>
          </a:prstGeom>
          <a:gradFill>
            <a:gsLst>
              <a:gs pos="0">
                <a:srgbClr val="4C42D2"/>
              </a:gs>
              <a:gs pos="31000">
                <a:srgbClr val="4C42D2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CABE903-AF47-9A9F-6F58-AC284CF3EC8A}"/>
              </a:ext>
            </a:extLst>
          </p:cNvPr>
          <p:cNvSpPr txBox="1"/>
          <p:nvPr/>
        </p:nvSpPr>
        <p:spPr>
          <a:xfrm>
            <a:off x="4392393" y="5103701"/>
            <a:ext cx="34287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kern="100" dirty="0">
                <a:solidFill>
                  <a:srgbClr val="2819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研究任务四：结论归纳</a:t>
            </a:r>
            <a:endParaRPr lang="en-US" altLang="zh-CN" sz="1600" b="1" kern="100" dirty="0">
              <a:solidFill>
                <a:srgbClr val="2819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kern="100" dirty="0">
                <a:solidFill>
                  <a:srgbClr val="2819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与应用建议</a:t>
            </a: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11ECDA77-F6DF-E123-3DBB-FFC97A12D5AC}"/>
              </a:ext>
            </a:extLst>
          </p:cNvPr>
          <p:cNvCxnSpPr>
            <a:cxnSpLocks/>
          </p:cNvCxnSpPr>
          <p:nvPr/>
        </p:nvCxnSpPr>
        <p:spPr>
          <a:xfrm flipV="1">
            <a:off x="4079632" y="2935689"/>
            <a:ext cx="286786" cy="2601625"/>
          </a:xfrm>
          <a:prstGeom prst="bentConnector3">
            <a:avLst/>
          </a:prstGeom>
          <a:ln w="19050">
            <a:solidFill>
              <a:srgbClr val="203F7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等腰三角形 41">
            <a:extLst>
              <a:ext uri="{FF2B5EF4-FFF2-40B4-BE49-F238E27FC236}">
                <a16:creationId xmlns:a16="http://schemas.microsoft.com/office/drawing/2014/main" id="{7D7A09CD-8149-52B8-3055-5E0398827D8F}"/>
              </a:ext>
            </a:extLst>
          </p:cNvPr>
          <p:cNvSpPr/>
          <p:nvPr/>
        </p:nvSpPr>
        <p:spPr>
          <a:xfrm rot="10800000">
            <a:off x="4203172" y="4754581"/>
            <a:ext cx="3545455" cy="143016"/>
          </a:xfrm>
          <a:prstGeom prst="triangle">
            <a:avLst>
              <a:gd name="adj" fmla="val 50448"/>
            </a:avLst>
          </a:prstGeom>
          <a:gradFill>
            <a:gsLst>
              <a:gs pos="0">
                <a:srgbClr val="4C42D2"/>
              </a:gs>
              <a:gs pos="31000">
                <a:srgbClr val="4C42D2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8375E128-A0B4-F7C4-FACB-16386CF1AC16}"/>
              </a:ext>
            </a:extLst>
          </p:cNvPr>
          <p:cNvSpPr/>
          <p:nvPr/>
        </p:nvSpPr>
        <p:spPr>
          <a:xfrm>
            <a:off x="7933017" y="689852"/>
            <a:ext cx="4210126" cy="380489"/>
          </a:xfrm>
          <a:prstGeom prst="roundRect">
            <a:avLst>
              <a:gd name="adj" fmla="val 4651"/>
            </a:avLst>
          </a:prstGeom>
          <a:solidFill>
            <a:srgbClr val="2B57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b="1" kern="10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5F1F7E0-5DB9-8DAA-92E7-8A627DCF507C}"/>
              </a:ext>
            </a:extLst>
          </p:cNvPr>
          <p:cNvSpPr txBox="1"/>
          <p:nvPr/>
        </p:nvSpPr>
        <p:spPr>
          <a:xfrm>
            <a:off x="7933018" y="712166"/>
            <a:ext cx="4210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拟采用的主要研究方法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76F7B4B-A265-A05D-610B-ADC691F8E53E}"/>
              </a:ext>
            </a:extLst>
          </p:cNvPr>
          <p:cNvSpPr txBox="1"/>
          <p:nvPr/>
        </p:nvSpPr>
        <p:spPr>
          <a:xfrm>
            <a:off x="7872168" y="1030698"/>
            <a:ext cx="4319832" cy="582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600" b="1" kern="100" dirty="0">
                <a:solidFill>
                  <a:srgbClr val="203F7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文献研究</a:t>
            </a:r>
            <a:endParaRPr lang="en-US" altLang="zh-CN" sz="1600" b="1" kern="100" dirty="0">
              <a:solidFill>
                <a:srgbClr val="203F7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说明检索范围、筛选规则与分析步骤，梳理已有成果并确定理论基础。</a:t>
            </a:r>
            <a:endParaRPr lang="en-US" altLang="zh-CN" sz="14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600" b="1" kern="100" dirty="0">
                <a:solidFill>
                  <a:srgbClr val="203F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资料收集</a:t>
            </a:r>
            <a:endParaRPr lang="en-US" altLang="zh-CN" sz="1600" b="1" kern="100" dirty="0">
              <a:solidFill>
                <a:srgbClr val="203F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说明样本来源、收集方式与质量控制，明确资料如何支撑研究问题。</a:t>
            </a:r>
            <a:endParaRPr lang="en-US" altLang="zh-CN" sz="1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600" b="1" kern="100" dirty="0">
                <a:solidFill>
                  <a:srgbClr val="203F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模型分析</a:t>
            </a:r>
            <a:endParaRPr lang="en-US" altLang="zh-CN" sz="1600" b="1" kern="100" dirty="0">
              <a:solidFill>
                <a:srgbClr val="203F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说明变量、假设与分析方法的对应关系，交代主要检验步骤和判断标准。</a:t>
            </a:r>
            <a:endParaRPr lang="en-US" altLang="zh-CN" sz="1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600" b="1" kern="100" dirty="0">
                <a:solidFill>
                  <a:srgbClr val="203F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结果验证</a:t>
            </a:r>
            <a:endParaRPr lang="en-US" altLang="zh-CN" sz="1600" b="1" kern="100" dirty="0">
              <a:solidFill>
                <a:srgbClr val="203F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说明验证方法、对照方案与适用条件，解释主要发现并形成研究结论。</a:t>
            </a:r>
            <a:endParaRPr lang="en-US" altLang="zh-CN" sz="1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插入变量关系图">
            <a:extLst>
              <a:ext uri="{FF2B5EF4-FFF2-40B4-BE49-F238E27FC236}">
                <a16:creationId xmlns:a16="http://schemas.microsoft.com/office/drawing/2014/main" id="{595483CE-5370-1355-3194-A353308662E3}"/>
              </a:ext>
            </a:extLst>
          </p:cNvPr>
          <p:cNvSpPr/>
          <p:nvPr/>
        </p:nvSpPr>
        <p:spPr>
          <a:xfrm>
            <a:off x="114480" y="4262921"/>
            <a:ext cx="3974378" cy="2561611"/>
          </a:xfrm>
          <a:prstGeom prst="rect">
            <a:avLst/>
          </a:prstGeom>
          <a:solidFill>
            <a:srgbClr val="F3F6FA"/>
          </a:solidFill>
          <a:ln w="12700">
            <a:solidFill>
              <a:srgbClr val="7896B7"/>
            </a:solidFill>
            <a:prstDash val="dash"/>
          </a:ln>
        </p:spPr>
        <p:txBody>
          <a:bodyPr wrap="square" anchor="ctr" lIns="91440" rIns="91440"/>
          <a:lstStyle/>
          <a:p>
            <a:pPr algn="ctr"/>
            <a:r>
              <a:rPr lang="zh-CN" sz="1800">
                <a:solidFill>
                  <a:srgbClr val="2D527A"/>
                </a:solidFill>
                <a:latin typeface="Arial"/>
                <a:ea typeface="微软雅黑"/>
              </a:rPr>
              <a:t>插入变量关系图</a:t>
            </a:r>
          </a:p>
        </p:txBody>
      </p:sp>
      <p:sp>
        <p:nvSpPr>
          <p:cNvPr id="4" name="插入模型验证流程">
            <a:extLst>
              <a:ext uri="{FF2B5EF4-FFF2-40B4-BE49-F238E27FC236}">
                <a16:creationId xmlns:a16="http://schemas.microsoft.com/office/drawing/2014/main" id="{BCA86538-2FD5-FA16-F00F-4BD50A07B117}"/>
              </a:ext>
            </a:extLst>
          </p:cNvPr>
          <p:cNvSpPr/>
          <p:nvPr/>
        </p:nvSpPr>
        <p:spPr>
          <a:xfrm>
            <a:off x="4392394" y="1282041"/>
            <a:ext cx="3430916" cy="3617304"/>
          </a:xfrm>
          <a:prstGeom prst="rect">
            <a:avLst/>
          </a:prstGeom>
          <a:solidFill>
            <a:srgbClr val="F3F6FA"/>
          </a:solidFill>
          <a:ln w="12700">
            <a:solidFill>
              <a:srgbClr val="7896B7"/>
            </a:solidFill>
            <a:prstDash val="dash"/>
          </a:ln>
        </p:spPr>
        <p:txBody>
          <a:bodyPr wrap="square" anchor="ctr" lIns="91440" rIns="91440"/>
          <a:lstStyle/>
          <a:p>
            <a:pPr algn="ctr"/>
            <a:r>
              <a:rPr lang="zh-CN" sz="1800">
                <a:solidFill>
                  <a:srgbClr val="2D527A"/>
                </a:solidFill>
                <a:latin typeface="Arial"/>
                <a:ea typeface="微软雅黑"/>
              </a:rPr>
              <a:t>插入模型验证流程</a:t>
            </a:r>
          </a:p>
        </p:txBody>
      </p:sp>
      <p:sp>
        <p:nvSpPr>
          <p:cNvPr id="6" name="插入成果应用路径">
            <a:extLst>
              <a:ext uri="{FF2B5EF4-FFF2-40B4-BE49-F238E27FC236}">
                <a16:creationId xmlns:a16="http://schemas.microsoft.com/office/drawing/2014/main" id="{4BC7C951-0322-5651-0D5D-A2BCA970FAAF}"/>
              </a:ext>
            </a:extLst>
          </p:cNvPr>
          <p:cNvSpPr/>
          <p:nvPr/>
        </p:nvSpPr>
        <p:spPr>
          <a:xfrm>
            <a:off x="4366416" y="5717126"/>
            <a:ext cx="3428794" cy="773734"/>
          </a:xfrm>
          <a:prstGeom prst="rect">
            <a:avLst/>
          </a:prstGeom>
          <a:solidFill>
            <a:srgbClr val="F3F6FA"/>
          </a:solidFill>
          <a:ln w="12700">
            <a:solidFill>
              <a:srgbClr val="7896B7"/>
            </a:solidFill>
            <a:prstDash val="dash"/>
          </a:ln>
        </p:spPr>
        <p:txBody>
          <a:bodyPr wrap="square" anchor="ctr" lIns="91440" rIns="91440"/>
          <a:lstStyle/>
          <a:p>
            <a:pPr algn="ctr"/>
            <a:r>
              <a:rPr lang="zh-CN" sz="1800">
                <a:solidFill>
                  <a:srgbClr val="2D527A"/>
                </a:solidFill>
                <a:latin typeface="Arial"/>
                <a:ea typeface="微软雅黑"/>
              </a:rPr>
              <a:t>插入成果应用路径</a:t>
            </a: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AB70EE20-7CB0-6A13-59D2-E23C274BF984}"/>
              </a:ext>
            </a:extLst>
          </p:cNvPr>
          <p:cNvSpPr/>
          <p:nvPr/>
        </p:nvSpPr>
        <p:spPr>
          <a:xfrm rot="10800000">
            <a:off x="4366417" y="4960684"/>
            <a:ext cx="3505750" cy="143016"/>
          </a:xfrm>
          <a:prstGeom prst="triangle">
            <a:avLst>
              <a:gd name="adj" fmla="val 50448"/>
            </a:avLst>
          </a:prstGeom>
          <a:gradFill>
            <a:gsLst>
              <a:gs pos="0">
                <a:srgbClr val="4C42D2"/>
              </a:gs>
              <a:gs pos="31000">
                <a:srgbClr val="4C42D2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569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AA4C0-ECF5-DADB-4F43-9020B69D0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1F6335D-4801-A238-DC76-140EF4AD172C}"/>
              </a:ext>
            </a:extLst>
          </p:cNvPr>
          <p:cNvSpPr/>
          <p:nvPr/>
        </p:nvSpPr>
        <p:spPr>
          <a:xfrm>
            <a:off x="469940" y="1275512"/>
            <a:ext cx="11571064" cy="1480088"/>
          </a:xfrm>
          <a:prstGeom prst="roundRect">
            <a:avLst>
              <a:gd name="adj" fmla="val 5591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</a:gsLst>
            <a:lin ang="16200000" scaled="1"/>
            <a:tileRect/>
          </a:gradFill>
          <a:ln>
            <a:solidFill>
              <a:srgbClr val="203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CFAF0E5-5297-7838-7BFF-7083D2080FEA}"/>
              </a:ext>
            </a:extLst>
          </p:cNvPr>
          <p:cNvSpPr txBox="1"/>
          <p:nvPr/>
        </p:nvSpPr>
        <p:spPr>
          <a:xfrm>
            <a:off x="0" y="639502"/>
            <a:ext cx="1219200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991EAE8-DB54-A93E-143E-782CB84C54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4189" b="45133" l="37316" r="6342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074" t="24136" r="35143" b="54170"/>
          <a:stretch>
            <a:fillRect/>
          </a:stretch>
        </p:blipFill>
        <p:spPr>
          <a:xfrm>
            <a:off x="0" y="639502"/>
            <a:ext cx="492760" cy="369333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073642A-FB6F-4493-8CF9-D1F17AFD970B}"/>
              </a:ext>
            </a:extLst>
          </p:cNvPr>
          <p:cNvCxnSpPr>
            <a:cxnSpLocks/>
          </p:cNvCxnSpPr>
          <p:nvPr/>
        </p:nvCxnSpPr>
        <p:spPr>
          <a:xfrm flipH="1">
            <a:off x="469940" y="975002"/>
            <a:ext cx="185797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1F43965F-9029-0D48-2CCF-94D3E4FEFAC4}"/>
              </a:ext>
            </a:extLst>
          </p:cNvPr>
          <p:cNvSpPr/>
          <p:nvPr/>
        </p:nvSpPr>
        <p:spPr>
          <a:xfrm>
            <a:off x="248042" y="1062676"/>
            <a:ext cx="2336800" cy="539638"/>
          </a:xfrm>
          <a:prstGeom prst="parallelogram">
            <a:avLst>
              <a:gd name="adj" fmla="val 16113"/>
            </a:avLst>
          </a:prstGeom>
          <a:solidFill>
            <a:srgbClr val="CDE1F3"/>
          </a:solidFill>
          <a:ln w="22225" cap="flat" cmpd="sng" algn="ctr">
            <a:noFill/>
            <a:prstDash val="solid"/>
            <a:miter lim="800000"/>
          </a:ln>
          <a:effectLst>
            <a:outerShdw blurRad="304800" dist="1016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F77CF29F-7E80-780E-0106-63ECB67F0147}"/>
              </a:ext>
            </a:extLst>
          </p:cNvPr>
          <p:cNvSpPr/>
          <p:nvPr/>
        </p:nvSpPr>
        <p:spPr>
          <a:xfrm>
            <a:off x="163040" y="1122166"/>
            <a:ext cx="2336800" cy="480147"/>
          </a:xfrm>
          <a:prstGeom prst="parallelogram">
            <a:avLst>
              <a:gd name="adj" fmla="val 16113"/>
            </a:avLst>
          </a:prstGeom>
          <a:solidFill>
            <a:srgbClr val="2B579B"/>
          </a:solidFill>
          <a:ln>
            <a:solidFill>
              <a:srgbClr val="2B579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CACA8E-7579-49E4-AF87-9B44864A19E3}"/>
              </a:ext>
            </a:extLst>
          </p:cNvPr>
          <p:cNvSpPr txBox="1"/>
          <p:nvPr/>
        </p:nvSpPr>
        <p:spPr>
          <a:xfrm>
            <a:off x="238562" y="1192962"/>
            <a:ext cx="2185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文献分析工作</a:t>
            </a:r>
          </a:p>
        </p:txBody>
      </p:sp>
      <p:sp>
        <p:nvSpPr>
          <p:cNvPr id="16" name="PA_文本框 46">
            <a:extLst>
              <a:ext uri="{FF2B5EF4-FFF2-40B4-BE49-F238E27FC236}">
                <a16:creationId xmlns:a16="http://schemas.microsoft.com/office/drawing/2014/main" id="{94E7ABF9-3861-237B-3E5B-BBB71D31930C}"/>
              </a:ext>
            </a:extLst>
          </p:cNvPr>
          <p:cNvSpPr txBox="1"/>
          <p:nvPr/>
        </p:nvSpPr>
        <p:spPr>
          <a:xfrm>
            <a:off x="387863" y="654173"/>
            <a:ext cx="2119795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1B4F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研究工作积累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17C9232-FBDC-1ABC-75CF-67008C4FC54B}"/>
              </a:ext>
            </a:extLst>
          </p:cNvPr>
          <p:cNvSpPr txBox="1"/>
          <p:nvPr/>
        </p:nvSpPr>
        <p:spPr>
          <a:xfrm>
            <a:off x="457896" y="1586918"/>
            <a:ext cx="11559020" cy="115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说明已完成的文献检索、阅读与整理工作。概括已经形成的理论认识、研究思路，以及对后续研究的具体支持。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A43C764E-12CD-B123-BFCD-BB2BCDD3CD7A}"/>
              </a:ext>
            </a:extLst>
          </p:cNvPr>
          <p:cNvSpPr/>
          <p:nvPr/>
        </p:nvSpPr>
        <p:spPr>
          <a:xfrm>
            <a:off x="445852" y="3016099"/>
            <a:ext cx="11571064" cy="2182301"/>
          </a:xfrm>
          <a:prstGeom prst="roundRect">
            <a:avLst>
              <a:gd name="adj" fmla="val 5591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207FD6">
                  <a:alpha val="26000"/>
                </a:srgbClr>
              </a:gs>
            </a:gsLst>
            <a:lin ang="16200000" scaled="1"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平行四边形 27">
            <a:extLst>
              <a:ext uri="{FF2B5EF4-FFF2-40B4-BE49-F238E27FC236}">
                <a16:creationId xmlns:a16="http://schemas.microsoft.com/office/drawing/2014/main" id="{1D80C1DE-C9D7-8F4F-DBE7-A2DDDEB5F14F}"/>
              </a:ext>
            </a:extLst>
          </p:cNvPr>
          <p:cNvSpPr/>
          <p:nvPr/>
        </p:nvSpPr>
        <p:spPr>
          <a:xfrm>
            <a:off x="223954" y="2803263"/>
            <a:ext cx="2336800" cy="539638"/>
          </a:xfrm>
          <a:prstGeom prst="parallelogram">
            <a:avLst>
              <a:gd name="adj" fmla="val 16113"/>
            </a:avLst>
          </a:prstGeom>
          <a:solidFill>
            <a:srgbClr val="CDE1F3"/>
          </a:solidFill>
          <a:ln w="22225" cap="flat" cmpd="sng" algn="ctr">
            <a:noFill/>
            <a:prstDash val="solid"/>
            <a:miter lim="800000"/>
          </a:ln>
          <a:effectLst>
            <a:outerShdw blurRad="304800" dist="1016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平行四边形 28">
            <a:extLst>
              <a:ext uri="{FF2B5EF4-FFF2-40B4-BE49-F238E27FC236}">
                <a16:creationId xmlns:a16="http://schemas.microsoft.com/office/drawing/2014/main" id="{D07B7DEB-3EC4-DE21-F288-FCC220323062}"/>
              </a:ext>
            </a:extLst>
          </p:cNvPr>
          <p:cNvSpPr/>
          <p:nvPr/>
        </p:nvSpPr>
        <p:spPr>
          <a:xfrm>
            <a:off x="138952" y="2862753"/>
            <a:ext cx="2336800" cy="480147"/>
          </a:xfrm>
          <a:prstGeom prst="parallelogram">
            <a:avLst>
              <a:gd name="adj" fmla="val 16113"/>
            </a:avLst>
          </a:prstGeom>
          <a:solidFill>
            <a:srgbClr val="2B579B"/>
          </a:solidFill>
          <a:ln>
            <a:solidFill>
              <a:srgbClr val="2B579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53B5F48-6F4E-9297-E178-AC5C64A5CB94}"/>
              </a:ext>
            </a:extLst>
          </p:cNvPr>
          <p:cNvSpPr txBox="1"/>
          <p:nvPr/>
        </p:nvSpPr>
        <p:spPr>
          <a:xfrm>
            <a:off x="214474" y="2933549"/>
            <a:ext cx="2185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相关课题参与情况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E1A6235-D0B8-21D4-76F0-58645ED80265}"/>
              </a:ext>
            </a:extLst>
          </p:cNvPr>
          <p:cNvSpPr txBox="1"/>
          <p:nvPr/>
        </p:nvSpPr>
        <p:spPr>
          <a:xfrm>
            <a:off x="445852" y="3302881"/>
            <a:ext cx="11571064" cy="1895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课题经历：填写参与项目、承担任务及获得的研究经验，说明这些经验与当前研究的关联。</a:t>
            </a:r>
            <a:endParaRPr lang="en-US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资料积累：填写已开展的调研、实验或案例分析，以及可用于本研究的数据和材料。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F9036956-1702-3E1B-F90C-FFF3281DBA02}"/>
              </a:ext>
            </a:extLst>
          </p:cNvPr>
          <p:cNvSpPr/>
          <p:nvPr/>
        </p:nvSpPr>
        <p:spPr>
          <a:xfrm>
            <a:off x="469939" y="5469059"/>
            <a:ext cx="11571065" cy="1378781"/>
          </a:xfrm>
          <a:prstGeom prst="roundRect">
            <a:avLst>
              <a:gd name="adj" fmla="val 5591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60000"/>
                </a:schemeClr>
              </a:gs>
              <a:gs pos="100000">
                <a:srgbClr val="157E9F">
                  <a:alpha val="32000"/>
                </a:srgbClr>
              </a:gs>
            </a:gsLst>
            <a:lin ang="16200000" scaled="1"/>
          </a:gradFill>
          <a:ln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平行四边形 40">
            <a:extLst>
              <a:ext uri="{FF2B5EF4-FFF2-40B4-BE49-F238E27FC236}">
                <a16:creationId xmlns:a16="http://schemas.microsoft.com/office/drawing/2014/main" id="{C6C4FA35-A017-2034-8086-F80D2CD16498}"/>
              </a:ext>
            </a:extLst>
          </p:cNvPr>
          <p:cNvSpPr/>
          <p:nvPr/>
        </p:nvSpPr>
        <p:spPr>
          <a:xfrm>
            <a:off x="171455" y="5256223"/>
            <a:ext cx="2336800" cy="539638"/>
          </a:xfrm>
          <a:prstGeom prst="parallelogram">
            <a:avLst>
              <a:gd name="adj" fmla="val 16113"/>
            </a:avLst>
          </a:prstGeom>
          <a:solidFill>
            <a:srgbClr val="CDE1F3"/>
          </a:solidFill>
          <a:ln w="22225" cap="flat" cmpd="sng" algn="ctr">
            <a:noFill/>
            <a:prstDash val="solid"/>
            <a:miter lim="800000"/>
          </a:ln>
          <a:effectLst>
            <a:outerShdw blurRad="304800" dist="1016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平行四边形 41">
            <a:extLst>
              <a:ext uri="{FF2B5EF4-FFF2-40B4-BE49-F238E27FC236}">
                <a16:creationId xmlns:a16="http://schemas.microsoft.com/office/drawing/2014/main" id="{55750DAF-174E-6730-319A-8EEFE25BAF97}"/>
              </a:ext>
            </a:extLst>
          </p:cNvPr>
          <p:cNvSpPr/>
          <p:nvPr/>
        </p:nvSpPr>
        <p:spPr>
          <a:xfrm>
            <a:off x="86453" y="5315713"/>
            <a:ext cx="2336800" cy="480147"/>
          </a:xfrm>
          <a:prstGeom prst="parallelogram">
            <a:avLst>
              <a:gd name="adj" fmla="val 16113"/>
            </a:avLst>
          </a:prstGeom>
          <a:solidFill>
            <a:srgbClr val="2B579B"/>
          </a:solidFill>
          <a:ln>
            <a:solidFill>
              <a:srgbClr val="2B579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FDEF32C-C284-DF88-9D96-2DEA77438523}"/>
              </a:ext>
            </a:extLst>
          </p:cNvPr>
          <p:cNvSpPr txBox="1"/>
          <p:nvPr/>
        </p:nvSpPr>
        <p:spPr>
          <a:xfrm>
            <a:off x="161975" y="5386509"/>
            <a:ext cx="2185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已取得的主要成果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DB5F776-5846-3D5B-4D3C-147567D5A56F}"/>
              </a:ext>
            </a:extLst>
          </p:cNvPr>
          <p:cNvSpPr txBox="1"/>
          <p:nvPr/>
        </p:nvSpPr>
        <p:spPr>
          <a:xfrm>
            <a:off x="463387" y="5725361"/>
            <a:ext cx="11559019" cy="115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成果一：填写论文、报告、数据集或工具名称，以及完成状态和本人贡献。</a:t>
            </a: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成果二：填写相关成果及其与拟开展研究的衔接关系。</a:t>
            </a:r>
          </a:p>
        </p:txBody>
      </p:sp>
    </p:spTree>
    <p:extLst>
      <p:ext uri="{BB962C8B-B14F-4D97-AF65-F5344CB8AC3E}">
        <p14:creationId xmlns:p14="http://schemas.microsoft.com/office/powerpoint/2010/main" val="2609091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ADE6E-5540-3446-14ED-DADCD6241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0308B89-E59C-C83F-B555-424922DD563F}"/>
              </a:ext>
            </a:extLst>
          </p:cNvPr>
          <p:cNvSpPr/>
          <p:nvPr/>
        </p:nvSpPr>
        <p:spPr>
          <a:xfrm>
            <a:off x="469940" y="1295832"/>
            <a:ext cx="11571064" cy="2576257"/>
          </a:xfrm>
          <a:prstGeom prst="roundRect">
            <a:avLst>
              <a:gd name="adj" fmla="val 5591"/>
            </a:avLst>
          </a:prstGeom>
          <a:gradFill flip="none" rotWithShape="1">
            <a:gsLst>
              <a:gs pos="0">
                <a:srgbClr val="0070C0">
                  <a:lumMod val="34000"/>
                  <a:lumOff val="66000"/>
                </a:srgbClr>
              </a:gs>
              <a:gs pos="100000">
                <a:srgbClr val="E7EAFD">
                  <a:alpha val="11765"/>
                </a:srgbClr>
              </a:gs>
            </a:gsLst>
            <a:lin ang="5400000" scaled="1"/>
            <a:tileRect/>
          </a:gradFill>
          <a:ln>
            <a:solidFill>
              <a:schemeClr val="accent1">
                <a:shade val="15000"/>
                <a:alpha val="41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0937339-F72D-B2A9-11A4-7C7AE42CCE13}"/>
              </a:ext>
            </a:extLst>
          </p:cNvPr>
          <p:cNvSpPr txBox="1"/>
          <p:nvPr/>
        </p:nvSpPr>
        <p:spPr>
          <a:xfrm>
            <a:off x="0" y="639502"/>
            <a:ext cx="1219200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5C64AA73-8BB5-444A-684C-122EACD427DE}"/>
              </a:ext>
            </a:extLst>
          </p:cNvPr>
          <p:cNvSpPr/>
          <p:nvPr/>
        </p:nvSpPr>
        <p:spPr>
          <a:xfrm>
            <a:off x="248042" y="1082996"/>
            <a:ext cx="2336800" cy="539638"/>
          </a:xfrm>
          <a:prstGeom prst="parallelogram">
            <a:avLst>
              <a:gd name="adj" fmla="val 16113"/>
            </a:avLst>
          </a:prstGeom>
          <a:solidFill>
            <a:srgbClr val="CDE1F3"/>
          </a:solidFill>
          <a:ln w="22225" cap="flat" cmpd="sng" algn="ctr">
            <a:noFill/>
            <a:prstDash val="solid"/>
            <a:miter lim="800000"/>
          </a:ln>
          <a:effectLst>
            <a:outerShdw blurRad="304800" dist="1016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BFDCDD8-C42F-AF72-BA32-BD221D133B5C}"/>
              </a:ext>
            </a:extLst>
          </p:cNvPr>
          <p:cNvSpPr/>
          <p:nvPr/>
        </p:nvSpPr>
        <p:spPr>
          <a:xfrm>
            <a:off x="163040" y="1142486"/>
            <a:ext cx="2336800" cy="480147"/>
          </a:xfrm>
          <a:prstGeom prst="parallelogram">
            <a:avLst>
              <a:gd name="adj" fmla="val 16113"/>
            </a:avLst>
          </a:prstGeom>
          <a:solidFill>
            <a:srgbClr val="2B579B"/>
          </a:solidFill>
          <a:ln>
            <a:solidFill>
              <a:srgbClr val="2B579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421048-DF1E-0B94-E1EA-B9F2EA39E7F9}"/>
              </a:ext>
            </a:extLst>
          </p:cNvPr>
          <p:cNvSpPr txBox="1"/>
          <p:nvPr/>
        </p:nvSpPr>
        <p:spPr>
          <a:xfrm>
            <a:off x="238562" y="1213282"/>
            <a:ext cx="2185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尚缺少研究条件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E8E0DA5-152D-850C-AF7A-35E3B30C1C3F}"/>
              </a:ext>
            </a:extLst>
          </p:cNvPr>
          <p:cNvSpPr txBox="1"/>
          <p:nvPr/>
        </p:nvSpPr>
        <p:spPr>
          <a:xfrm>
            <a:off x="457896" y="1607238"/>
            <a:ext cx="11559020" cy="2264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资料条件：列出目前尚待补充的数据、样本或案例，说明其对完成研究任务的影响。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方法条件：列出需要进一步掌握的理论方法、实验技能或分析工具，明确学习重点。</a:t>
            </a:r>
            <a:endParaRPr lang="zh-CN" altLang="zh-CN" sz="14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PA_文本框 46">
            <a:extLst>
              <a:ext uri="{FF2B5EF4-FFF2-40B4-BE49-F238E27FC236}">
                <a16:creationId xmlns:a16="http://schemas.microsoft.com/office/drawing/2014/main" id="{AB1A751F-81EA-25BD-3EDE-95B54027C7BD}"/>
              </a:ext>
            </a:extLst>
          </p:cNvPr>
          <p:cNvSpPr txBox="1"/>
          <p:nvPr/>
        </p:nvSpPr>
        <p:spPr>
          <a:xfrm>
            <a:off x="387863" y="654173"/>
            <a:ext cx="1188335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1B4F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研究条件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226E38-EC8E-6142-FEE7-47D0AC6F0FD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4189" b="45133" l="37316" r="6342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074" t="24136" r="35143" b="54170"/>
          <a:stretch>
            <a:fillRect/>
          </a:stretch>
        </p:blipFill>
        <p:spPr>
          <a:xfrm>
            <a:off x="0" y="639502"/>
            <a:ext cx="492760" cy="369333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312633C-1C92-1112-0E4F-7F893778D7A2}"/>
              </a:ext>
            </a:extLst>
          </p:cNvPr>
          <p:cNvCxnSpPr>
            <a:cxnSpLocks/>
          </p:cNvCxnSpPr>
          <p:nvPr/>
        </p:nvCxnSpPr>
        <p:spPr>
          <a:xfrm flipH="1">
            <a:off x="469940" y="975002"/>
            <a:ext cx="102417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8AEE0E0-AF13-285C-823D-3D24E7A6548B}"/>
              </a:ext>
            </a:extLst>
          </p:cNvPr>
          <p:cNvSpPr/>
          <p:nvPr/>
        </p:nvSpPr>
        <p:spPr>
          <a:xfrm>
            <a:off x="481984" y="4159087"/>
            <a:ext cx="11571064" cy="2576257"/>
          </a:xfrm>
          <a:prstGeom prst="roundRect">
            <a:avLst>
              <a:gd name="adj" fmla="val 5591"/>
            </a:avLst>
          </a:prstGeom>
          <a:gradFill flip="none" rotWithShape="1">
            <a:gsLst>
              <a:gs pos="0">
                <a:srgbClr val="ACC0FA"/>
              </a:gs>
              <a:gs pos="100000">
                <a:srgbClr val="E7EAFD">
                  <a:alpha val="11765"/>
                </a:srgbClr>
              </a:gs>
            </a:gsLst>
            <a:lin ang="5400000" scaled="1"/>
            <a:tileRect/>
          </a:gradFill>
          <a:ln>
            <a:solidFill>
              <a:schemeClr val="accent1">
                <a:shade val="15000"/>
                <a:alpha val="41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平行四边形 11">
            <a:extLst>
              <a:ext uri="{FF2B5EF4-FFF2-40B4-BE49-F238E27FC236}">
                <a16:creationId xmlns:a16="http://schemas.microsoft.com/office/drawing/2014/main" id="{06E8C43D-E0EA-122A-D665-5DF9A34682F3}"/>
              </a:ext>
            </a:extLst>
          </p:cNvPr>
          <p:cNvSpPr/>
          <p:nvPr/>
        </p:nvSpPr>
        <p:spPr>
          <a:xfrm>
            <a:off x="260086" y="3946251"/>
            <a:ext cx="2336800" cy="539638"/>
          </a:xfrm>
          <a:prstGeom prst="parallelogram">
            <a:avLst>
              <a:gd name="adj" fmla="val 16113"/>
            </a:avLst>
          </a:prstGeom>
          <a:solidFill>
            <a:srgbClr val="CDE1F3"/>
          </a:solidFill>
          <a:ln w="22225" cap="flat" cmpd="sng" algn="ctr">
            <a:noFill/>
            <a:prstDash val="solid"/>
            <a:miter lim="800000"/>
          </a:ln>
          <a:effectLst>
            <a:outerShdw blurRad="304800" dist="101600" dir="2700000" algn="t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平行四边形 12">
            <a:extLst>
              <a:ext uri="{FF2B5EF4-FFF2-40B4-BE49-F238E27FC236}">
                <a16:creationId xmlns:a16="http://schemas.microsoft.com/office/drawing/2014/main" id="{9159D4C7-892C-AB7D-9C04-1C2AF8986070}"/>
              </a:ext>
            </a:extLst>
          </p:cNvPr>
          <p:cNvSpPr/>
          <p:nvPr/>
        </p:nvSpPr>
        <p:spPr>
          <a:xfrm>
            <a:off x="175084" y="4005741"/>
            <a:ext cx="2336800" cy="480147"/>
          </a:xfrm>
          <a:prstGeom prst="parallelogram">
            <a:avLst>
              <a:gd name="adj" fmla="val 16113"/>
            </a:avLst>
          </a:prstGeom>
          <a:solidFill>
            <a:srgbClr val="2B579B"/>
          </a:solidFill>
          <a:ln>
            <a:solidFill>
              <a:srgbClr val="2B579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3BEF4A-EE29-50C3-D9CA-23ABAF41481A}"/>
              </a:ext>
            </a:extLst>
          </p:cNvPr>
          <p:cNvSpPr txBox="1"/>
          <p:nvPr/>
        </p:nvSpPr>
        <p:spPr>
          <a:xfrm>
            <a:off x="250606" y="4076537"/>
            <a:ext cx="2185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拟解决途径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2761FDD-31AA-6A67-29DA-EDD9487823DA}"/>
              </a:ext>
            </a:extLst>
          </p:cNvPr>
          <p:cNvSpPr txBox="1"/>
          <p:nvPr/>
        </p:nvSpPr>
        <p:spPr>
          <a:xfrm>
            <a:off x="457896" y="4599215"/>
            <a:ext cx="11559020" cy="1895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资料获取：说明拟采用的调研、实验或公开资料收集方式，明确实施步骤与时间安排。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能力准备：说明拟通过课程、文献或实践训练完善的方法能力，并设置阶段性检查。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3264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BCEDF-5C33-43CA-3203-A6EDB07D9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7FB0D7FA-EF63-680B-4DAE-FD6B814383D9}"/>
              </a:ext>
            </a:extLst>
          </p:cNvPr>
          <p:cNvSpPr txBox="1"/>
          <p:nvPr/>
        </p:nvSpPr>
        <p:spPr>
          <a:xfrm>
            <a:off x="0" y="639502"/>
            <a:ext cx="1219200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PA_文本框 46">
            <a:extLst>
              <a:ext uri="{FF2B5EF4-FFF2-40B4-BE49-F238E27FC236}">
                <a16:creationId xmlns:a16="http://schemas.microsoft.com/office/drawing/2014/main" id="{3A96F775-634F-BF95-D8D3-C14B69020F35}"/>
              </a:ext>
            </a:extLst>
          </p:cNvPr>
          <p:cNvSpPr txBox="1"/>
          <p:nvPr/>
        </p:nvSpPr>
        <p:spPr>
          <a:xfrm>
            <a:off x="387863" y="654173"/>
            <a:ext cx="1188335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1B4F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进度计划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AE32D9E-9CD6-2950-607F-B842A4A30D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4189" b="45133" l="37316" r="6342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074" t="24136" r="35143" b="54170"/>
          <a:stretch>
            <a:fillRect/>
          </a:stretch>
        </p:blipFill>
        <p:spPr>
          <a:xfrm>
            <a:off x="0" y="639502"/>
            <a:ext cx="492760" cy="369333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A7D61BF-EF79-75A6-9154-004E941E2CBE}"/>
              </a:ext>
            </a:extLst>
          </p:cNvPr>
          <p:cNvCxnSpPr>
            <a:cxnSpLocks/>
          </p:cNvCxnSpPr>
          <p:nvPr/>
        </p:nvCxnSpPr>
        <p:spPr>
          <a:xfrm flipH="1">
            <a:off x="469940" y="975002"/>
            <a:ext cx="102417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0E23469-5D55-7158-71B2-759EC5D74A69}"/>
              </a:ext>
            </a:extLst>
          </p:cNvPr>
          <p:cNvGraphicFramePr>
            <a:graphicFrameLocks noGrp="1"/>
          </p:cNvGraphicFramePr>
          <p:nvPr/>
        </p:nvGraphicFramePr>
        <p:xfrm>
          <a:off x="150829" y="1057031"/>
          <a:ext cx="11892385" cy="57396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91912">
                  <a:extLst>
                    <a:ext uri="{9D8B030D-6E8A-4147-A177-3AD203B41FA5}">
                      <a16:colId xmlns:a16="http://schemas.microsoft.com/office/drawing/2014/main" val="1360139631"/>
                    </a:ext>
                  </a:extLst>
                </a:gridCol>
                <a:gridCol w="7900473">
                  <a:extLst>
                    <a:ext uri="{9D8B030D-6E8A-4147-A177-3AD203B41FA5}">
                      <a16:colId xmlns:a16="http://schemas.microsoft.com/office/drawing/2014/main" val="3162012473"/>
                    </a:ext>
                  </a:extLst>
                </a:gridCol>
              </a:tblGrid>
              <a:tr h="44030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1600" b="1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时间区间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1600" b="1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主要任务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919092"/>
                  </a:ext>
                </a:extLst>
              </a:tr>
              <a:tr h="7877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i="0" u="none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阶段1：起止年月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lang="zh-CN" sz="14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文献整理与理论学习，明确研究问题、概念范围及初步思路。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554720"/>
                  </a:ext>
                </a:extLst>
              </a:tr>
              <a:tr h="590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i="0" u="none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阶段2：起止年月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lang="zh-CN" sz="14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设计研究方案，明确样本、资料来源、分析方法和实施步骤。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0670425"/>
                  </a:ext>
                </a:extLst>
              </a:tr>
              <a:tr h="590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i="0" u="none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阶段3：起止年月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4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开展调研或实验，完成资料收集、整理与质量检查。</a:t>
                      </a:r>
                      <a:endParaRPr lang="zh-CN" sz="14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829987"/>
                  </a:ext>
                </a:extLst>
              </a:tr>
              <a:tr h="590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i="0" u="none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阶段4：起止年月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4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建立分析模型，完成主要变量测量、参数设置或假设检验。</a:t>
                      </a:r>
                      <a:endParaRPr lang="zh-CN" sz="14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1213342"/>
                  </a:ext>
                </a:extLst>
              </a:tr>
              <a:tr h="393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i="0" u="none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阶段5：起止年月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lang="zh-CN" sz="14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分析初步结果，核对主要发现并补充必要证据。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476166"/>
                  </a:ext>
                </a:extLst>
              </a:tr>
              <a:tr h="3575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i="0" u="none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阶段6：起止年月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lang="zh-CN" sz="14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准备中期检查材料与汇报。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574367"/>
                  </a:ext>
                </a:extLst>
              </a:tr>
              <a:tr h="6677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i="0" u="none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阶段7：起止年月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lang="zh-CN" sz="14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完成进一步验证，比较不同条件下的结果并解释差异。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5773151"/>
                  </a:ext>
                </a:extLst>
              </a:tr>
              <a:tr h="393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i="0" u="none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阶段8：起止年月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lang="zh-CN" sz="14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归纳研究结论，形成应用建议与成果框架。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7971348"/>
                  </a:ext>
                </a:extLst>
              </a:tr>
              <a:tr h="308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i="0" u="none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阶段9：起止年月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lang="zh-CN" sz="14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修改论文初稿。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2864232"/>
                  </a:ext>
                </a:extLst>
              </a:tr>
              <a:tr h="308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i="0" u="none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阶段10：起止年月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lang="zh-CN" sz="14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提交论文评审。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414445"/>
                  </a:ext>
                </a:extLst>
              </a:tr>
              <a:tr h="308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i="0" u="none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阶段11：起止年月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buNone/>
                      </a:pPr>
                      <a:r>
                        <a:rPr lang="zh-CN" sz="14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准备预答辩及正式答辩。</a:t>
                      </a:r>
                    </a:p>
                  </a:txBody>
                  <a:tcPr marL="66991" marR="669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185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3000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iṡ1íḋe">
            <a:extLst>
              <a:ext uri="{FF2B5EF4-FFF2-40B4-BE49-F238E27FC236}">
                <a16:creationId xmlns:a16="http://schemas.microsoft.com/office/drawing/2014/main" id="{97D0FACB-C364-2F3F-76FF-A0FE0020E24C}"/>
              </a:ext>
            </a:extLst>
          </p:cNvPr>
          <p:cNvSpPr/>
          <p:nvPr/>
        </p:nvSpPr>
        <p:spPr>
          <a:xfrm>
            <a:off x="0" y="1161239"/>
            <a:ext cx="12192000" cy="4085439"/>
          </a:xfrm>
          <a:prstGeom prst="rect">
            <a:avLst/>
          </a:prstGeom>
          <a:solidFill>
            <a:srgbClr val="2B579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E419C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7BB08F9-D4A6-6777-D3DB-2A4561042E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00" y="187280"/>
            <a:ext cx="851734" cy="851734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51BE2C96-30DA-7B63-0822-FBF37BDB9B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951" y="140068"/>
            <a:ext cx="3486802" cy="898946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4C8544F4-72D1-5C04-245D-BA7ECAEEC72A}"/>
              </a:ext>
            </a:extLst>
          </p:cNvPr>
          <p:cNvSpPr/>
          <p:nvPr/>
        </p:nvSpPr>
        <p:spPr>
          <a:xfrm>
            <a:off x="1" y="2788459"/>
            <a:ext cx="121919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敬请各位老师批评指正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85707F7-5065-EE9F-BF4B-7832CDA749DE}"/>
              </a:ext>
            </a:extLst>
          </p:cNvPr>
          <p:cNvSpPr/>
          <p:nvPr/>
        </p:nvSpPr>
        <p:spPr>
          <a:xfrm>
            <a:off x="1395951" y="5544922"/>
            <a:ext cx="2738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导师：姓名 职称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85803BE-56B0-0DC6-A6C1-3FD1EC8394CB}"/>
              </a:ext>
            </a:extLst>
          </p:cNvPr>
          <p:cNvSpPr/>
          <p:nvPr/>
        </p:nvSpPr>
        <p:spPr>
          <a:xfrm>
            <a:off x="4508569" y="5544922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报告人：姓名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638D5C2-03C8-60A9-999D-AEB0BE1D51DA}"/>
              </a:ext>
            </a:extLst>
          </p:cNvPr>
          <p:cNvSpPr/>
          <p:nvPr/>
        </p:nvSpPr>
        <p:spPr>
          <a:xfrm>
            <a:off x="7222039" y="5544922"/>
            <a:ext cx="3413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汇报时间：YYYY.MM.DD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5909F20-2AD4-448F-3421-C1E80F278C3F}"/>
              </a:ext>
            </a:extLst>
          </p:cNvPr>
          <p:cNvCxnSpPr/>
          <p:nvPr/>
        </p:nvCxnSpPr>
        <p:spPr>
          <a:xfrm flipV="1">
            <a:off x="3048952" y="2676612"/>
            <a:ext cx="6094095" cy="4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49AED72A-98A4-FE75-10A7-6BC1361883BF}"/>
              </a:ext>
            </a:extLst>
          </p:cNvPr>
          <p:cNvCxnSpPr/>
          <p:nvPr/>
        </p:nvCxnSpPr>
        <p:spPr>
          <a:xfrm flipV="1">
            <a:off x="3048951" y="3722413"/>
            <a:ext cx="6094095" cy="4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4767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</TotalTime>
  <Words>7304</Words>
  <Application>Microsoft Office PowerPoint</Application>
  <PresentationFormat>宽屏</PresentationFormat>
  <Paragraphs>265</Paragraphs>
  <Slides>13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模板一</dc:title>
  <dc:creator/>
  <cp:lastModifiedBy/>
  <cp:revision>11</cp:revision>
  <dcterms:created xsi:type="dcterms:W3CDTF">2025-10-11T07:55:55Z</dcterms:created>
  <dcterms:modified xsi:type="dcterms:W3CDTF">2025-10-12T16:05:13Z</dcterms:modified>
</cp:coreProperties>
</file>