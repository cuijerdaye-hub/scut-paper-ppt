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11"/>
  </p:handoutMasterIdLst>
  <p:sldIdLst>
    <p:sldId id="1148" r:id="rId2"/>
    <p:sldId id="16602728" r:id="rId3"/>
    <p:sldId id="1155" r:id="rId4"/>
    <p:sldId id="2147309192" r:id="rId5"/>
    <p:sldId id="2147309193" r:id="rId6"/>
    <p:sldId id="16602763" r:id="rId7"/>
    <p:sldId id="2147309235" r:id="rId8"/>
    <p:sldId id="32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1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902" y="8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E793769-4303-2BF7-9365-15EA85D68E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266EF8-2021-196D-FA2C-5E61D6464C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FB9A1-06AE-4D9E-936C-DA287E03D181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C9DB2E-DBB5-F2AC-1649-62508A4349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4779FF-9404-CE10-8A6B-7C63B42655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0B6B9-2A11-4625-B259-BC330E24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1239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内页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1999" cy="800100"/>
          </a:xfrm>
          <a:prstGeom prst="rect">
            <a:avLst/>
          </a:prstGeom>
          <a:gradFill>
            <a:gsLst>
              <a:gs pos="100000">
                <a:srgbClr val="EEC988"/>
              </a:gs>
              <a:gs pos="0">
                <a:srgbClr val="CB954D"/>
              </a:gs>
            </a:gsLst>
            <a:lin ang="0" scaled="0"/>
          </a:gradFill>
        </p:spPr>
      </p:pic>
      <p:grpSp>
        <p:nvGrpSpPr>
          <p:cNvPr id="7" name="组合 6"/>
          <p:cNvGrpSpPr/>
          <p:nvPr userDrawn="1"/>
        </p:nvGrpSpPr>
        <p:grpSpPr>
          <a:xfrm>
            <a:off x="10564791" y="17780"/>
            <a:ext cx="1678902" cy="944382"/>
            <a:chOff x="10363376" y="-86192"/>
            <a:chExt cx="1899129" cy="1068260"/>
          </a:xfrm>
        </p:grpSpPr>
        <p:pic>
          <p:nvPicPr>
            <p:cNvPr id="27" name="Picture 5_1"/>
            <p:cNvPicPr>
              <a:picLocks noChangeAspect="1"/>
            </p:cNvPicPr>
            <p:nvPr userDrawn="1"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363376" y="-86192"/>
              <a:ext cx="1899129" cy="1068260"/>
            </a:xfrm>
            <a:prstGeom prst="rect">
              <a:avLst/>
            </a:prstGeom>
          </p:spPr>
        </p:pic>
        <p:pic>
          <p:nvPicPr>
            <p:cNvPr id="19" name="Picture 5_1_1"/>
            <p:cNvPicPr>
              <a:picLocks noChangeAspect="1"/>
            </p:cNvPicPr>
            <p:nvPr userDrawn="1"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363376" y="-86192"/>
              <a:ext cx="1899129" cy="1068260"/>
            </a:xfrm>
            <a:prstGeom prst="rect">
              <a:avLst/>
            </a:prstGeom>
          </p:spPr>
        </p:pic>
        <p:pic>
          <p:nvPicPr>
            <p:cNvPr id="20" name="Picture 5_1_2"/>
            <p:cNvPicPr>
              <a:picLocks noChangeAspect="1"/>
            </p:cNvPicPr>
            <p:nvPr userDrawn="1"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363376" y="-86192"/>
              <a:ext cx="1899129" cy="10682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4166" y="56140"/>
            <a:ext cx="10969200" cy="705600"/>
          </a:xfrm>
        </p:spPr>
        <p:txBody>
          <a:bodyPr>
            <a:normAutofit/>
          </a:bodyPr>
          <a:lstStyle>
            <a:lvl1pPr mar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u="none" strike="noStrike" kern="1200" cap="none" spc="150" normalizeH="0" baseline="0" dirty="0">
                <a:gradFill>
                  <a:gsLst>
                    <a:gs pos="100000">
                      <a:schemeClr val="accent1">
                        <a:lumMod val="90000"/>
                      </a:schemeClr>
                    </a:gs>
                    <a:gs pos="20000">
                      <a:schemeClr val="accent1">
                        <a:lumMod val="50000"/>
                      </a:schemeClr>
                    </a:gs>
                  </a:gsLst>
                  <a:lin ang="2700000" scaled="0"/>
                </a:gra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1" y="800099"/>
            <a:ext cx="12192000" cy="81459"/>
          </a:xfrm>
          <a:prstGeom prst="rect">
            <a:avLst/>
          </a:prstGeom>
          <a:gradFill>
            <a:gsLst>
              <a:gs pos="100000">
                <a:srgbClr val="EEC988"/>
              </a:gs>
              <a:gs pos="0">
                <a:srgbClr val="CB954D"/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65474" y="99664"/>
            <a:ext cx="677536" cy="64527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929CA73-B851-248B-10D0-A64C13D41615}"/>
              </a:ext>
            </a:extLst>
          </p:cNvPr>
          <p:cNvSpPr txBox="1"/>
          <p:nvPr userDrawn="1"/>
        </p:nvSpPr>
        <p:spPr>
          <a:xfrm>
            <a:off x="233330" y="99664"/>
            <a:ext cx="59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5430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年 月 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7" Type="http://schemas.openxmlformats.org/officeDocument/2006/relationships/image" Target="../media/image13.jpe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16" Type="http://schemas.openxmlformats.org/officeDocument/2006/relationships/image" Target="../media/image22.png"/><Relationship Id="rId11" Type="http://schemas.openxmlformats.org/officeDocument/2006/relationships/image" Target="../media/image17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12.xml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9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32.png"/><Relationship Id="rId12" Type="http://schemas.openxmlformats.org/officeDocument/2006/relationships/image" Target="../media/image31.png"/><Relationship Id="rId9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6.xml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/>
        </p:nvGrpSpPr>
        <p:grpSpPr>
          <a:xfrm>
            <a:off x="-24680" y="1344718"/>
            <a:ext cx="12241359" cy="2444322"/>
            <a:chOff x="-14602" y="2185036"/>
            <a:chExt cx="9158599" cy="1226054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" y="2191354"/>
              <a:ext cx="9144000" cy="12197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</p:pic>
        <p:sp>
          <p:nvSpPr>
            <p:cNvPr id="6" name="Rectangle 30"/>
            <p:cNvSpPr>
              <a:spLocks noChangeArrowheads="1"/>
            </p:cNvSpPr>
            <p:nvPr/>
          </p:nvSpPr>
          <p:spPr bwMode="auto">
            <a:xfrm>
              <a:off x="-14602" y="2185036"/>
              <a:ext cx="9121666" cy="1170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noAutofit/>
            </a:bodyPr>
            <a:lstStyle/>
            <a:p>
              <a:pPr lvl="0" algn="ctr" defTabSz="1218565">
                <a:lnSpc>
                  <a:spcPct val="120000"/>
                </a:lnSpc>
                <a:spcBef>
                  <a:spcPts val="0"/>
                </a:spcBef>
                <a:buClr>
                  <a:srgbClr val="C00000"/>
                </a:buClr>
                <a:buSzPct val="80000"/>
                <a:defRPr/>
              </a:pPr>
              <a:r>
                <a:rPr lang="zh-CN" altLang="zh-CN" sz="6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学术研究汇报：研究主题、技术路径及预期成果</a:t>
              </a:r>
              <a:endParaRPr kumimoji="0" lang="en-US" altLang="zh-CN" sz="6000" b="1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-31626"/>
            <a:ext cx="12191995" cy="69352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408368" y="6237312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年 月 日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279576" y="4481392"/>
            <a:ext cx="7810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0"/>
              </a:spcBef>
              <a:tabLst>
                <a:tab pos="2350770" algn="l"/>
                <a:tab pos="4688840" algn="l"/>
                <a:tab pos="7208520" algn="l"/>
              </a:tabLst>
            </a:pPr>
            <a:r>
              <a:rPr lang="zh-CN" altLang="en-US" sz="4000" b="1" dirty="0">
                <a:solidFill>
                  <a:srgbClr val="014F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汇报人：姓名</a:t>
            </a:r>
            <a:endParaRPr lang="en-US" altLang="zh-CN" sz="4000" b="1" dirty="0">
              <a:solidFill>
                <a:srgbClr val="014F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D8EC15-7CEC-5468-CBA5-6276A2941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408" y="-27384"/>
            <a:ext cx="2423592" cy="547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Tm="19750">
        <p:wipe/>
      </p:transition>
    </mc:Choice>
    <mc:Fallback xmlns="">
      <p:transition advTm="19750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矩形 58"/>
          <p:cNvSpPr/>
          <p:nvPr/>
        </p:nvSpPr>
        <p:spPr>
          <a:xfrm>
            <a:off x="0" y="0"/>
            <a:ext cx="2668307" cy="6858000"/>
          </a:xfrm>
          <a:prstGeom prst="rect">
            <a:avLst/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思源黑体 CN Medium" panose="020B0600000000000000" pitchFamily="34" charset="-122"/>
            </a:endParaRPr>
          </a:p>
        </p:txBody>
      </p:sp>
      <p:cxnSp>
        <p:nvCxnSpPr>
          <p:cNvPr id="865" name="直接连接符 176"/>
          <p:cNvCxnSpPr/>
          <p:nvPr/>
        </p:nvCxnSpPr>
        <p:spPr>
          <a:xfrm flipV="1">
            <a:off x="1031801" y="1687027"/>
            <a:ext cx="0" cy="2863799"/>
          </a:xfrm>
          <a:prstGeom prst="line">
            <a:avLst/>
          </a:prstGeom>
          <a:ln w="28575">
            <a:gradFill flip="none" rotWithShape="1">
              <a:gsLst>
                <a:gs pos="0">
                  <a:srgbClr val="0070C0">
                    <a:alpha val="0"/>
                  </a:srgbClr>
                </a:gs>
                <a:gs pos="100000">
                  <a:schemeClr val="bg1"/>
                </a:gs>
              </a:gsLst>
              <a:lin ang="54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6" name="TextBox 64"/>
          <p:cNvSpPr txBox="1">
            <a:spLocks noChangeArrowheads="1"/>
          </p:cNvSpPr>
          <p:nvPr/>
        </p:nvSpPr>
        <p:spPr bwMode="auto">
          <a:xfrm>
            <a:off x="3675500" y="829223"/>
            <a:ext cx="7474251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spcBef>
                <a:spcPct val="20000"/>
              </a:spcBef>
              <a:buClr>
                <a:srgbClr val="C0504D"/>
              </a:buClr>
              <a:buFont typeface="Arial" panose="020B0604020202020204" pitchFamily="34" charset="0"/>
              <a:buNone/>
              <a:defRPr sz="3000" b="1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研究背景：</a:t>
            </a:r>
            <a:r>
              <a:rPr lang="zh-CN" altLang="zh-CN" dirty="0">
                <a:solidFill>
                  <a:srgbClr val="0048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研究主题与问题来源</a:t>
            </a:r>
            <a:endParaRPr lang="zh-CN" altLang="en-US" dirty="0">
              <a:solidFill>
                <a:srgbClr val="0048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867" name="组合 27"/>
          <p:cNvGrpSpPr/>
          <p:nvPr/>
        </p:nvGrpSpPr>
        <p:grpSpPr>
          <a:xfrm>
            <a:off x="2639617" y="692696"/>
            <a:ext cx="9217023" cy="798195"/>
            <a:chOff x="3431415" y="1936871"/>
            <a:chExt cx="6048961" cy="798247"/>
          </a:xfrm>
        </p:grpSpPr>
        <p:sp>
          <p:nvSpPr>
            <p:cNvPr id="868" name="矩形: 圆角 10"/>
            <p:cNvSpPr/>
            <p:nvPr/>
          </p:nvSpPr>
          <p:spPr bwMode="auto">
            <a:xfrm>
              <a:off x="3449030" y="2017926"/>
              <a:ext cx="6031346" cy="71719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rgbClr val="486C9C">
                  <a:alpha val="100000"/>
                </a:srgbClr>
              </a:solidFill>
              <a:miter lim="800000"/>
            </a:ln>
            <a:effectLst/>
          </p:spPr>
          <p:txBody>
            <a:bodyPr wrap="none" rtlCol="0" anchor="ctr"/>
            <a:lstStyle/>
            <a:p>
              <a:pPr marL="0" marR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69" name="矩形: 圆角 7"/>
            <p:cNvSpPr/>
            <p:nvPr/>
          </p:nvSpPr>
          <p:spPr bwMode="auto">
            <a:xfrm>
              <a:off x="3491141" y="1936871"/>
              <a:ext cx="665425" cy="757009"/>
            </a:xfrm>
            <a:prstGeom prst="roundRect">
              <a:avLst>
                <a:gd name="adj" fmla="val 0"/>
              </a:avLst>
            </a:prstGeom>
            <a:solidFill>
              <a:srgbClr val="486C9C">
                <a:alpha val="100000"/>
              </a:srgbClr>
            </a:solidFill>
            <a:ln w="12700">
              <a:solidFill>
                <a:srgbClr val="486C9C">
                  <a:alpha val="10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70" name="矩形 26"/>
            <p:cNvSpPr/>
            <p:nvPr/>
          </p:nvSpPr>
          <p:spPr>
            <a:xfrm rot="5400000">
              <a:off x="3222188" y="2146101"/>
              <a:ext cx="75700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600" dirty="0">
                  <a:ln w="0" cmpd="thickThin">
                    <a:noFill/>
                  </a:ln>
                  <a:solidFill>
                    <a:schemeClr val="bg1">
                      <a:alpha val="13000"/>
                    </a:schemeClr>
                  </a:solidFill>
                  <a:latin typeface="Times New Roman" panose="02020603050405020304" pitchFamily="18" charset="0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PART</a:t>
              </a:r>
              <a:endParaRPr lang="zh-CN" altLang="en-US" sz="100" dirty="0">
                <a:ln w="0">
                  <a:noFill/>
                </a:ln>
                <a:solidFill>
                  <a:schemeClr val="bg1">
                    <a:alpha val="13000"/>
                  </a:schemeClr>
                </a:solidFill>
              </a:endParaRPr>
            </a:p>
          </p:txBody>
        </p:sp>
        <p:sp>
          <p:nvSpPr>
            <p:cNvPr id="871" name="Rectangle 6"/>
            <p:cNvSpPr>
              <a:spLocks noChangeArrowheads="1"/>
            </p:cNvSpPr>
            <p:nvPr/>
          </p:nvSpPr>
          <p:spPr bwMode="auto">
            <a:xfrm>
              <a:off x="3708665" y="2057483"/>
              <a:ext cx="424486" cy="471004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50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5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2" name="TextBox 64"/>
          <p:cNvSpPr txBox="1">
            <a:spLocks noChangeArrowheads="1"/>
          </p:cNvSpPr>
          <p:nvPr/>
        </p:nvSpPr>
        <p:spPr bwMode="auto">
          <a:xfrm>
            <a:off x="3675500" y="1903236"/>
            <a:ext cx="8154299" cy="11079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spcBef>
                <a:spcPct val="20000"/>
              </a:spcBef>
              <a:buClr>
                <a:srgbClr val="C0504D"/>
              </a:buClr>
              <a:buFont typeface="Arial" panose="020B0604020202020204" pitchFamily="34" charset="0"/>
              <a:buNone/>
              <a:defRPr sz="3000" b="1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9pPr>
          </a:lstStyle>
          <a:p>
            <a:pPr>
              <a:buClrTx/>
            </a:pP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文献现状：</a:t>
            </a:r>
            <a:r>
              <a:rPr lang="zh-CN" altLang="zh-CN" dirty="0">
                <a:solidFill>
                  <a:srgbClr val="0048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已有成果与关键不足</a:t>
            </a:r>
          </a:p>
          <a:p>
            <a:pPr lvl="0">
              <a:buClrTx/>
              <a:buSzTx/>
              <a:buFontTx/>
            </a:pPr>
            <a:endParaRPr lang="zh-CN" altLang="en-US" dirty="0">
              <a:solidFill>
                <a:srgbClr val="0048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grpSp>
        <p:nvGrpSpPr>
          <p:cNvPr id="873" name="组合 38"/>
          <p:cNvGrpSpPr/>
          <p:nvPr/>
        </p:nvGrpSpPr>
        <p:grpSpPr>
          <a:xfrm>
            <a:off x="2639617" y="1766709"/>
            <a:ext cx="9190182" cy="798195"/>
            <a:chOff x="3431415" y="1936871"/>
            <a:chExt cx="6048961" cy="798247"/>
          </a:xfrm>
        </p:grpSpPr>
        <p:sp>
          <p:nvSpPr>
            <p:cNvPr id="874" name="矩形: 圆角 39"/>
            <p:cNvSpPr/>
            <p:nvPr/>
          </p:nvSpPr>
          <p:spPr bwMode="auto">
            <a:xfrm>
              <a:off x="3449030" y="2017926"/>
              <a:ext cx="6031346" cy="71719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rgbClr val="486C9C">
                  <a:alpha val="100000"/>
                </a:srgbClr>
              </a:solidFill>
              <a:miter lim="800000"/>
            </a:ln>
            <a:effectLst/>
          </p:spPr>
          <p:txBody>
            <a:bodyPr wrap="none" rtlCol="0" anchor="ctr"/>
            <a:lstStyle/>
            <a:p>
              <a:pPr marL="0" marR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75" name="矩形: 圆角 40"/>
            <p:cNvSpPr/>
            <p:nvPr/>
          </p:nvSpPr>
          <p:spPr bwMode="auto">
            <a:xfrm>
              <a:off x="3491141" y="1936871"/>
              <a:ext cx="665426" cy="757009"/>
            </a:xfrm>
            <a:prstGeom prst="roundRect">
              <a:avLst>
                <a:gd name="adj" fmla="val 0"/>
              </a:avLst>
            </a:prstGeom>
            <a:solidFill>
              <a:srgbClr val="486C9C">
                <a:alpha val="100000"/>
              </a:srgbClr>
            </a:solidFill>
            <a:ln w="19050">
              <a:noFill/>
              <a:miter lim="800000"/>
            </a:ln>
            <a:effectLst/>
          </p:spPr>
          <p:txBody>
            <a:bodyPr wrap="none" rtlCol="0" anchor="ctr"/>
            <a:lstStyle/>
            <a:p>
              <a:pPr marL="0" marR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76" name="矩形 41"/>
            <p:cNvSpPr/>
            <p:nvPr/>
          </p:nvSpPr>
          <p:spPr>
            <a:xfrm rot="5400000">
              <a:off x="3222188" y="2146101"/>
              <a:ext cx="75700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600" dirty="0">
                  <a:ln w="0" cmpd="thickThin">
                    <a:noFill/>
                  </a:ln>
                  <a:solidFill>
                    <a:schemeClr val="bg1">
                      <a:alpha val="13000"/>
                    </a:schemeClr>
                  </a:solidFill>
                  <a:latin typeface="Times New Roman" panose="02020603050405020304" pitchFamily="18" charset="0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PART</a:t>
              </a:r>
              <a:endParaRPr lang="zh-CN" altLang="en-US" sz="100" dirty="0">
                <a:ln w="0">
                  <a:noFill/>
                </a:ln>
                <a:solidFill>
                  <a:schemeClr val="bg1">
                    <a:alpha val="13000"/>
                  </a:schemeClr>
                </a:solidFill>
              </a:endParaRPr>
            </a:p>
          </p:txBody>
        </p:sp>
        <p:sp>
          <p:nvSpPr>
            <p:cNvPr id="877" name="Rectangle 6"/>
            <p:cNvSpPr>
              <a:spLocks noChangeArrowheads="1"/>
            </p:cNvSpPr>
            <p:nvPr/>
          </p:nvSpPr>
          <p:spPr bwMode="auto">
            <a:xfrm>
              <a:off x="3708665" y="2057483"/>
              <a:ext cx="424487" cy="471004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50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2</a:t>
              </a:r>
              <a:endParaRPr kumimoji="0" lang="zh-CN" altLang="en-US" sz="5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8" name="TextBox 64"/>
          <p:cNvSpPr txBox="1">
            <a:spLocks noChangeArrowheads="1"/>
          </p:cNvSpPr>
          <p:nvPr/>
        </p:nvSpPr>
        <p:spPr bwMode="auto">
          <a:xfrm>
            <a:off x="3675499" y="2991679"/>
            <a:ext cx="8207981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spcBef>
                <a:spcPct val="20000"/>
              </a:spcBef>
              <a:buClr>
                <a:srgbClr val="C0504D"/>
              </a:buClr>
              <a:buFont typeface="Arial" panose="020B0604020202020204" pitchFamily="34" charset="0"/>
              <a:buNone/>
              <a:defRPr sz="3000" b="1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研究内容：</a:t>
            </a:r>
            <a:r>
              <a:rPr lang="zh-CN" altLang="zh-CN" dirty="0">
                <a:solidFill>
                  <a:srgbClr val="0048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核心问题与研究目标</a:t>
            </a:r>
            <a:endParaRPr lang="zh-CN" altLang="en-US" dirty="0">
              <a:solidFill>
                <a:srgbClr val="0048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879" name="组合 43"/>
          <p:cNvGrpSpPr/>
          <p:nvPr/>
        </p:nvGrpSpPr>
        <p:grpSpPr>
          <a:xfrm>
            <a:off x="2639616" y="2846829"/>
            <a:ext cx="9217023" cy="798195"/>
            <a:chOff x="3431415" y="1936871"/>
            <a:chExt cx="6048961" cy="798247"/>
          </a:xfrm>
        </p:grpSpPr>
        <p:sp>
          <p:nvSpPr>
            <p:cNvPr id="880" name="矩形: 圆角 44"/>
            <p:cNvSpPr/>
            <p:nvPr/>
          </p:nvSpPr>
          <p:spPr bwMode="auto">
            <a:xfrm>
              <a:off x="3449030" y="2017926"/>
              <a:ext cx="6031346" cy="71719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rgbClr val="486C9C">
                  <a:alpha val="100000"/>
                </a:srgbClr>
              </a:solidFill>
              <a:miter lim="800000"/>
            </a:ln>
            <a:effectLst/>
          </p:spPr>
          <p:txBody>
            <a:bodyPr wrap="none" rtlCol="0" anchor="ctr"/>
            <a:lstStyle/>
            <a:p>
              <a:pPr marL="0" marR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81" name="矩形: 圆角 45"/>
            <p:cNvSpPr/>
            <p:nvPr/>
          </p:nvSpPr>
          <p:spPr bwMode="auto">
            <a:xfrm>
              <a:off x="3491141" y="1936871"/>
              <a:ext cx="665425" cy="757009"/>
            </a:xfrm>
            <a:prstGeom prst="roundRect">
              <a:avLst>
                <a:gd name="adj" fmla="val 0"/>
              </a:avLst>
            </a:prstGeom>
            <a:solidFill>
              <a:srgbClr val="486C9C">
                <a:alpha val="100000"/>
              </a:srgbClr>
            </a:solidFill>
            <a:ln w="19050">
              <a:noFill/>
              <a:miter lim="800000"/>
            </a:ln>
            <a:effectLst/>
          </p:spPr>
          <p:txBody>
            <a:bodyPr wrap="none" rtlCol="0" anchor="ctr"/>
            <a:lstStyle/>
            <a:p>
              <a:pPr marL="0" marR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82" name="矩形 46"/>
            <p:cNvSpPr/>
            <p:nvPr/>
          </p:nvSpPr>
          <p:spPr>
            <a:xfrm rot="5400000">
              <a:off x="3222188" y="2146101"/>
              <a:ext cx="75700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600" dirty="0">
                  <a:ln w="0" cmpd="thickThin">
                    <a:noFill/>
                  </a:ln>
                  <a:solidFill>
                    <a:schemeClr val="bg1">
                      <a:alpha val="13000"/>
                    </a:schemeClr>
                  </a:solidFill>
                  <a:latin typeface="Times New Roman" panose="02020603050405020304" pitchFamily="18" charset="0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PART</a:t>
              </a:r>
              <a:endParaRPr lang="zh-CN" altLang="en-US" sz="100" dirty="0">
                <a:ln w="0">
                  <a:noFill/>
                </a:ln>
                <a:solidFill>
                  <a:schemeClr val="bg1">
                    <a:alpha val="13000"/>
                  </a:schemeClr>
                </a:solidFill>
              </a:endParaRPr>
            </a:p>
          </p:txBody>
        </p:sp>
        <p:sp>
          <p:nvSpPr>
            <p:cNvPr id="883" name="Rectangle 6"/>
            <p:cNvSpPr>
              <a:spLocks noChangeArrowheads="1"/>
            </p:cNvSpPr>
            <p:nvPr/>
          </p:nvSpPr>
          <p:spPr bwMode="auto">
            <a:xfrm>
              <a:off x="3708665" y="2057483"/>
              <a:ext cx="424487" cy="471004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50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3</a:t>
              </a:r>
              <a:endParaRPr kumimoji="0" lang="zh-CN" altLang="en-US" sz="5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84" name="文本框 59"/>
          <p:cNvSpPr txBox="1"/>
          <p:nvPr/>
        </p:nvSpPr>
        <p:spPr>
          <a:xfrm>
            <a:off x="1138816" y="818632"/>
            <a:ext cx="649818" cy="399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汇报提纲</a:t>
            </a:r>
          </a:p>
        </p:txBody>
      </p:sp>
      <p:grpSp>
        <p:nvGrpSpPr>
          <p:cNvPr id="887" name="组合 33"/>
          <p:cNvGrpSpPr/>
          <p:nvPr/>
        </p:nvGrpSpPr>
        <p:grpSpPr>
          <a:xfrm>
            <a:off x="2649777" y="3926949"/>
            <a:ext cx="9206862" cy="798195"/>
            <a:chOff x="3431415" y="1936871"/>
            <a:chExt cx="6048961" cy="798247"/>
          </a:xfrm>
        </p:grpSpPr>
        <p:sp>
          <p:nvSpPr>
            <p:cNvPr id="888" name="矩形: 圆角 44"/>
            <p:cNvSpPr/>
            <p:nvPr/>
          </p:nvSpPr>
          <p:spPr bwMode="auto">
            <a:xfrm>
              <a:off x="3449030" y="2017926"/>
              <a:ext cx="6031346" cy="71719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rgbClr val="486C9C">
                  <a:alpha val="100000"/>
                </a:srgbClr>
              </a:solidFill>
              <a:miter lim="800000"/>
            </a:ln>
            <a:effectLst/>
          </p:spPr>
          <p:txBody>
            <a:bodyPr wrap="none" rtlCol="0" anchor="ctr"/>
            <a:lstStyle/>
            <a:p>
              <a:pPr marL="0" marR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89" name="矩形: 圆角 45"/>
            <p:cNvSpPr/>
            <p:nvPr/>
          </p:nvSpPr>
          <p:spPr bwMode="auto">
            <a:xfrm>
              <a:off x="3491141" y="1936871"/>
              <a:ext cx="658313" cy="757009"/>
            </a:xfrm>
            <a:prstGeom prst="roundRect">
              <a:avLst>
                <a:gd name="adj" fmla="val 0"/>
              </a:avLst>
            </a:prstGeom>
            <a:solidFill>
              <a:srgbClr val="486C9C">
                <a:alpha val="100000"/>
              </a:srgbClr>
            </a:solidFill>
            <a:ln w="12700">
              <a:solidFill>
                <a:schemeClr val="accent1">
                  <a:lumMod val="75000"/>
                  <a:alpha val="100000"/>
                </a:scheme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90" name="矩形 49"/>
            <p:cNvSpPr/>
            <p:nvPr/>
          </p:nvSpPr>
          <p:spPr>
            <a:xfrm rot="5400000">
              <a:off x="3222188" y="2146101"/>
              <a:ext cx="75700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600" dirty="0">
                  <a:ln w="0" cmpd="thickThin">
                    <a:noFill/>
                  </a:ln>
                  <a:solidFill>
                    <a:schemeClr val="bg1">
                      <a:alpha val="13000"/>
                    </a:schemeClr>
                  </a:solidFill>
                  <a:latin typeface="Times New Roman" panose="02020603050405020304" pitchFamily="18" charset="0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PART</a:t>
              </a:r>
              <a:endParaRPr lang="zh-CN" altLang="en-US" sz="100" dirty="0">
                <a:ln w="0">
                  <a:noFill/>
                </a:ln>
                <a:solidFill>
                  <a:schemeClr val="bg1">
                    <a:alpha val="13000"/>
                  </a:schemeClr>
                </a:solidFill>
              </a:endParaRPr>
            </a:p>
          </p:txBody>
        </p:sp>
        <p:sp>
          <p:nvSpPr>
            <p:cNvPr id="891" name="Rectangle 6"/>
            <p:cNvSpPr>
              <a:spLocks noChangeArrowheads="1"/>
            </p:cNvSpPr>
            <p:nvPr/>
          </p:nvSpPr>
          <p:spPr bwMode="auto">
            <a:xfrm>
              <a:off x="3708665" y="2057483"/>
              <a:ext cx="424487" cy="471004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50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4</a:t>
              </a:r>
              <a:endParaRPr kumimoji="0" lang="zh-CN" altLang="en-US" sz="5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64"/>
          <p:cNvSpPr txBox="1">
            <a:spLocks noChangeArrowheads="1"/>
          </p:cNvSpPr>
          <p:nvPr/>
        </p:nvSpPr>
        <p:spPr bwMode="auto">
          <a:xfrm>
            <a:off x="3685660" y="4067418"/>
            <a:ext cx="8144139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spcBef>
                <a:spcPct val="20000"/>
              </a:spcBef>
              <a:buClr>
                <a:srgbClr val="C0504D"/>
              </a:buClr>
              <a:buFont typeface="Arial" panose="020B0604020202020204" pitchFamily="34" charset="0"/>
              <a:buNone/>
              <a:defRPr sz="3000" b="1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技术路线：</a:t>
            </a:r>
            <a:r>
              <a:rPr lang="zh-CN" altLang="zh-CN" dirty="0">
                <a:solidFill>
                  <a:srgbClr val="0048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方法选择与实施步骤</a:t>
            </a:r>
            <a:endParaRPr lang="zh-CN" altLang="en-US" dirty="0">
              <a:solidFill>
                <a:srgbClr val="0048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" name="组合 33">
            <a:extLst>
              <a:ext uri="{FF2B5EF4-FFF2-40B4-BE49-F238E27FC236}">
                <a16:creationId xmlns:a16="http://schemas.microsoft.com/office/drawing/2014/main" id="{66F5AD2D-5B98-9D97-1DFF-5C145E68F0D6}"/>
              </a:ext>
            </a:extLst>
          </p:cNvPr>
          <p:cNvGrpSpPr/>
          <p:nvPr/>
        </p:nvGrpSpPr>
        <p:grpSpPr>
          <a:xfrm>
            <a:off x="2639617" y="5013176"/>
            <a:ext cx="9206862" cy="798195"/>
            <a:chOff x="3431415" y="1936871"/>
            <a:chExt cx="6048961" cy="798247"/>
          </a:xfrm>
        </p:grpSpPr>
        <p:sp>
          <p:nvSpPr>
            <p:cNvPr id="4" name="矩形: 圆角 44">
              <a:extLst>
                <a:ext uri="{FF2B5EF4-FFF2-40B4-BE49-F238E27FC236}">
                  <a16:creationId xmlns:a16="http://schemas.microsoft.com/office/drawing/2014/main" id="{79D9C613-D402-F988-EE6B-93A0643CFDF4}"/>
                </a:ext>
              </a:extLst>
            </p:cNvPr>
            <p:cNvSpPr/>
            <p:nvPr/>
          </p:nvSpPr>
          <p:spPr bwMode="auto">
            <a:xfrm>
              <a:off x="3449030" y="2017926"/>
              <a:ext cx="6031346" cy="71719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rgbClr val="486C9C">
                  <a:alpha val="100000"/>
                </a:srgbClr>
              </a:solidFill>
              <a:miter lim="800000"/>
            </a:ln>
            <a:effectLst/>
          </p:spPr>
          <p:txBody>
            <a:bodyPr wrap="none" rtlCol="0" anchor="ctr"/>
            <a:lstStyle/>
            <a:p>
              <a:pPr marL="0" marR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矩形: 圆角 45">
              <a:extLst>
                <a:ext uri="{FF2B5EF4-FFF2-40B4-BE49-F238E27FC236}">
                  <a16:creationId xmlns:a16="http://schemas.microsoft.com/office/drawing/2014/main" id="{15D78949-491E-985B-2836-1C1DF7E9F0DB}"/>
                </a:ext>
              </a:extLst>
            </p:cNvPr>
            <p:cNvSpPr/>
            <p:nvPr/>
          </p:nvSpPr>
          <p:spPr bwMode="auto">
            <a:xfrm>
              <a:off x="3491141" y="1936871"/>
              <a:ext cx="658313" cy="757009"/>
            </a:xfrm>
            <a:prstGeom prst="roundRect">
              <a:avLst>
                <a:gd name="adj" fmla="val 0"/>
              </a:avLst>
            </a:prstGeom>
            <a:solidFill>
              <a:srgbClr val="486C9C">
                <a:alpha val="100000"/>
              </a:srgbClr>
            </a:solidFill>
            <a:ln w="12700">
              <a:solidFill>
                <a:schemeClr val="accent1">
                  <a:lumMod val="75000"/>
                  <a:alpha val="100000"/>
                </a:scheme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 49">
              <a:extLst>
                <a:ext uri="{FF2B5EF4-FFF2-40B4-BE49-F238E27FC236}">
                  <a16:creationId xmlns:a16="http://schemas.microsoft.com/office/drawing/2014/main" id="{EFAC2401-19A9-9D1B-2F0E-C1A1BB521C3C}"/>
                </a:ext>
              </a:extLst>
            </p:cNvPr>
            <p:cNvSpPr/>
            <p:nvPr/>
          </p:nvSpPr>
          <p:spPr>
            <a:xfrm rot="5400000">
              <a:off x="3222188" y="2146101"/>
              <a:ext cx="75700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600" dirty="0">
                  <a:ln w="0" cmpd="thickThin">
                    <a:noFill/>
                  </a:ln>
                  <a:solidFill>
                    <a:schemeClr val="bg1">
                      <a:alpha val="13000"/>
                    </a:schemeClr>
                  </a:solidFill>
                  <a:latin typeface="Times New Roman" panose="02020603050405020304" pitchFamily="18" charset="0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PART</a:t>
              </a:r>
              <a:endParaRPr lang="zh-CN" altLang="en-US" sz="100" dirty="0">
                <a:ln w="0">
                  <a:noFill/>
                </a:ln>
                <a:solidFill>
                  <a:schemeClr val="bg1">
                    <a:alpha val="13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A09819-23B3-5FD3-0393-DC7FC0FDA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665" y="2057483"/>
              <a:ext cx="424487" cy="471004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50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5</a:t>
              </a:r>
              <a:endParaRPr kumimoji="0" lang="zh-CN" altLang="en-US" sz="5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64">
            <a:extLst>
              <a:ext uri="{FF2B5EF4-FFF2-40B4-BE49-F238E27FC236}">
                <a16:creationId xmlns:a16="http://schemas.microsoft.com/office/drawing/2014/main" id="{F46F815A-CDBE-A29A-F48A-DC43CF20C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500" y="5153645"/>
            <a:ext cx="8144139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spcBef>
                <a:spcPct val="20000"/>
              </a:spcBef>
              <a:buClr>
                <a:srgbClr val="C0504D"/>
              </a:buClr>
              <a:buFont typeface="Arial" panose="020B0604020202020204" pitchFamily="34" charset="0"/>
              <a:buNone/>
              <a:defRPr sz="3000" b="1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latin typeface="黑体" panose="02010609060101010101" pitchFamily="2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计划成果：</a:t>
            </a:r>
            <a:r>
              <a:rPr lang="zh-CN" altLang="zh-CN" dirty="0">
                <a:solidFill>
                  <a:srgbClr val="0048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进度安排与预期贡献</a:t>
            </a:r>
            <a:endParaRPr lang="zh-CN" altLang="en-US" dirty="0">
              <a:solidFill>
                <a:srgbClr val="0048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/>
      </p:transition>
    </mc:Choice>
    <mc:Fallback xmlns=""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7175858" y="861761"/>
            <a:ext cx="4256684" cy="1612900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6600" dirty="0"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3" name="文本占位符 4"/>
          <p:cNvSpPr txBox="1"/>
          <p:nvPr/>
        </p:nvSpPr>
        <p:spPr>
          <a:xfrm>
            <a:off x="407368" y="2492896"/>
            <a:ext cx="10273030" cy="2342485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defRPr/>
            </a:pPr>
            <a:r>
              <a:rPr lang="zh-CN" altLang="zh-CN" sz="6000" spc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研究背景：</a:t>
            </a:r>
            <a:endParaRPr lang="en-US" altLang="zh-CN" sz="6000" spc="1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0" algn="ctr">
              <a:lnSpc>
                <a:spcPct val="100000"/>
              </a:lnSpc>
              <a:defRPr/>
            </a:pPr>
            <a:r>
              <a:rPr lang="zh-CN" altLang="zh-CN" sz="5000" spc="100" dirty="0">
                <a:solidFill>
                  <a:srgbClr val="0048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研究主题与问题来源</a:t>
            </a:r>
            <a:endParaRPr lang="zh-CN" altLang="en-US" sz="5000" spc="100" dirty="0">
              <a:solidFill>
                <a:srgbClr val="0048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828328" y="3429000"/>
            <a:ext cx="10142220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Tm="6084">
        <p:wipe/>
      </p:transition>
    </mc:Choice>
    <mc:Fallback xmlns="">
      <p:transition advTm="6084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0" y="81388"/>
            <a:ext cx="10969200" cy="7553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mar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u="none" strike="noStrike" kern="1200" cap="none" spc="150" normalizeH="0" baseline="0" dirty="0">
                <a:gradFill>
                  <a:gsLst>
                    <a:gs pos="100000">
                      <a:schemeClr val="accent1">
                        <a:lumMod val="90000"/>
                      </a:schemeClr>
                    </a:gs>
                    <a:gs pos="20000">
                      <a:schemeClr val="accent1">
                        <a:lumMod val="50000"/>
                      </a:schemeClr>
                    </a:gs>
                  </a:gsLst>
                  <a:lin ang="2700000" scaled="0"/>
                </a:gra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>
              <a:spcAft>
                <a:spcPts val="0"/>
              </a:spcAft>
              <a:defRPr/>
            </a:pPr>
            <a:r>
              <a:rPr lang="zh-CN" altLang="en-US" spc="0" dirty="0">
                <a:solidFill>
                  <a:srgbClr val="FF0000"/>
                </a:solidFill>
              </a:rPr>
              <a:t>1.1研究背景与典型案例</a:t>
            </a:r>
          </a:p>
        </p:txBody>
      </p:sp>
      <p:sp>
        <p:nvSpPr>
          <p:cNvPr id="4" name="矩形 3"/>
          <p:cNvSpPr/>
          <p:nvPr/>
        </p:nvSpPr>
        <p:spPr>
          <a:xfrm>
            <a:off x="20554" y="997894"/>
            <a:ext cx="12124118" cy="846930"/>
          </a:xfrm>
          <a:prstGeom prst="rect">
            <a:avLst/>
          </a:prstGeom>
          <a:solidFill>
            <a:srgbClr val="024C89"/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anchor="ctr" anchorCtr="0">
            <a:no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围绕研究主题，从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问题来源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现实需求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已有基础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发展趋势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四个方面展开说明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81533" y="2073967"/>
            <a:ext cx="11422411" cy="960351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</a:pPr>
            <a:r>
              <a:rPr lang="zh-CN" altLang="en-US" dirty="0"/>
              <a:t>选择具有代表性的案例，交代研究情境与关键特征，明确本研究需要解决的问题。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A157A00-E288-6237-BF06-A5B7238D93C9}"/>
              </a:ext>
            </a:extLst>
          </p:cNvPr>
          <p:cNvGrpSpPr/>
          <p:nvPr/>
        </p:nvGrpSpPr>
        <p:grpSpPr>
          <a:xfrm>
            <a:off x="-96688" y="3285554"/>
            <a:ext cx="12313368" cy="2610582"/>
            <a:chOff x="-96688" y="3501008"/>
            <a:chExt cx="12313368" cy="261058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E4E146A-BCFE-EBAD-85A2-26CCCBC0D98D}"/>
                </a:ext>
              </a:extLst>
            </p:cNvPr>
            <p:cNvGrpSpPr/>
            <p:nvPr/>
          </p:nvGrpSpPr>
          <p:grpSpPr>
            <a:xfrm>
              <a:off x="-96688" y="3501008"/>
              <a:ext cx="12313368" cy="2610582"/>
              <a:chOff x="-96688" y="3547196"/>
              <a:chExt cx="12313368" cy="2610582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-96688" y="3547196"/>
                <a:ext cx="12313368" cy="2610582"/>
                <a:chOff x="184072" y="2745631"/>
                <a:chExt cx="12313368" cy="2610582"/>
              </a:xfrm>
            </p:grpSpPr>
            <p:pic>
              <p:nvPicPr>
                <p:cNvPr id="7" name="图片 6"/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6270" r="16270"/>
                <a:stretch/>
              </p:blipFill>
              <p:spPr>
                <a:xfrm>
                  <a:off x="382355" y="3177679"/>
                  <a:ext cx="1800200" cy="1638331"/>
                </a:xfrm>
                <a:prstGeom prst="rect">
                  <a:avLst/>
                </a:prstGeom>
              </p:spPr>
            </p:pic>
            <p:pic>
              <p:nvPicPr>
                <p:cNvPr id="15" name="图片 14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0454338" y="3194504"/>
                  <a:ext cx="1949804" cy="1639359"/>
                </a:xfrm>
                <a:prstGeom prst="rect">
                  <a:avLst/>
                </a:prstGeom>
              </p:spPr>
            </p:pic>
            <p:sp>
              <p:nvSpPr>
                <p:cNvPr id="16" name="矩形 15"/>
                <p:cNvSpPr/>
                <p:nvPr/>
              </p:nvSpPr>
              <p:spPr>
                <a:xfrm>
                  <a:off x="301314" y="2745631"/>
                  <a:ext cx="5904594" cy="2610582"/>
                </a:xfrm>
                <a:prstGeom prst="rect">
                  <a:avLst/>
                </a:prstGeom>
                <a:noFill/>
                <a:ln w="12700">
                  <a:solidFill>
                    <a:schemeClr val="accent5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zh-CN" altLang="en-US" dirty="0"/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184072" y="4814699"/>
                  <a:ext cx="223714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案例一</a:t>
                  </a:r>
                  <a:endPara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r>
                    <a:rPr lang="zh-CN" altLang="en-US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背景与特点</a:t>
                  </a:r>
                  <a:endPara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2079126" y="4814699"/>
                  <a:ext cx="220940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案例二</a:t>
                  </a:r>
                  <a:endPara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r>
                    <a:rPr lang="zh-CN" altLang="en-US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背景与特点</a:t>
                  </a:r>
                  <a:endPara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10325117" y="4825334"/>
                  <a:ext cx="217232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/>
                  <a:r>
                    <a:rPr lang="zh-CN" altLang="en-US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案例六</a:t>
                  </a:r>
                  <a:endPara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eaLnBrk="1" hangingPunct="1"/>
                  <a:r>
                    <a:rPr lang="zh-CN" altLang="en-US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背景与特点</a:t>
                  </a:r>
                  <a:endPara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22" name="图片 21"/>
                <p:cNvPicPr>
                  <a:picLocks noChangeAspect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" b="2038"/>
                <a:stretch>
                  <a:fillRect/>
                </a:stretch>
              </p:blipFill>
              <p:spPr>
                <a:xfrm>
                  <a:off x="2242841" y="3177679"/>
                  <a:ext cx="1973679" cy="1639359"/>
                </a:xfrm>
                <a:prstGeom prst="rect">
                  <a:avLst/>
                </a:prstGeom>
              </p:spPr>
            </p:pic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414057" y="3194504"/>
                  <a:ext cx="2022753" cy="1639359"/>
                </a:xfrm>
                <a:prstGeom prst="rect">
                  <a:avLst/>
                </a:prstGeom>
              </p:spPr>
            </p:pic>
            <p:sp>
              <p:nvSpPr>
                <p:cNvPr id="24" name="文本框 23"/>
                <p:cNvSpPr txBox="1"/>
                <p:nvPr/>
              </p:nvSpPr>
              <p:spPr>
                <a:xfrm>
                  <a:off x="8191310" y="4825334"/>
                  <a:ext cx="24128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/>
                  <a:r>
                    <a:rPr lang="zh-CN" altLang="en-US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案例五</a:t>
                  </a:r>
                  <a:endPara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eaLnBrk="1" hangingPunct="1"/>
                  <a:r>
                    <a:rPr lang="zh-CN" altLang="en-US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背景与特点</a:t>
                  </a:r>
                  <a:endPara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DA06863B-49FB-E60C-DC3A-9C0C65DCB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r="20836"/>
              <a:stretch>
                <a:fillRect/>
              </a:stretch>
            </p:blipFill>
            <p:spPr>
              <a:xfrm>
                <a:off x="6057197" y="3979244"/>
                <a:ext cx="2054561" cy="1639359"/>
              </a:xfrm>
              <a:prstGeom prst="rect">
                <a:avLst/>
              </a:prstGeom>
            </p:spPr>
          </p:pic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195973B-4253-412B-11FF-CB020D1EA72C}"/>
                </a:ext>
              </a:extLst>
            </p:cNvPr>
            <p:cNvSpPr txBox="1"/>
            <p:nvPr/>
          </p:nvSpPr>
          <p:spPr>
            <a:xfrm>
              <a:off x="5859353" y="5580711"/>
              <a:ext cx="241283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案例四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背景与特点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E93EF5D6-3E70-B83D-9DBB-A51F381F2D52}"/>
              </a:ext>
            </a:extLst>
          </p:cNvPr>
          <p:cNvSpPr/>
          <p:nvPr/>
        </p:nvSpPr>
        <p:spPr>
          <a:xfrm>
            <a:off x="6023992" y="3284984"/>
            <a:ext cx="6176352" cy="2610582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27" name="矩形: 圆角 136">
            <a:extLst>
              <a:ext uri="{FF2B5EF4-FFF2-40B4-BE49-F238E27FC236}">
                <a16:creationId xmlns:a16="http://schemas.microsoft.com/office/drawing/2014/main" id="{D4DBFC57-7DF7-1CF0-6402-450E9C025D08}"/>
              </a:ext>
            </a:extLst>
          </p:cNvPr>
          <p:cNvSpPr/>
          <p:nvPr/>
        </p:nvSpPr>
        <p:spPr>
          <a:xfrm>
            <a:off x="47328" y="3284984"/>
            <a:ext cx="5845411" cy="368317"/>
          </a:xfrm>
          <a:prstGeom prst="roundRect">
            <a:avLst>
              <a:gd name="adj" fmla="val 0"/>
            </a:avLst>
          </a:prstGeom>
          <a:solidFill>
            <a:srgbClr val="2F5597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第一组案例</a:t>
            </a:r>
          </a:p>
        </p:txBody>
      </p:sp>
      <p:sp>
        <p:nvSpPr>
          <p:cNvPr id="28" name="矩形: 圆角 136">
            <a:extLst>
              <a:ext uri="{FF2B5EF4-FFF2-40B4-BE49-F238E27FC236}">
                <a16:creationId xmlns:a16="http://schemas.microsoft.com/office/drawing/2014/main" id="{93D9AD5C-B003-2732-3DFE-43EF20853326}"/>
              </a:ext>
            </a:extLst>
          </p:cNvPr>
          <p:cNvSpPr/>
          <p:nvPr/>
        </p:nvSpPr>
        <p:spPr>
          <a:xfrm>
            <a:off x="6042390" y="3297023"/>
            <a:ext cx="6102282" cy="368317"/>
          </a:xfrm>
          <a:prstGeom prst="roundRect">
            <a:avLst>
              <a:gd name="adj" fmla="val 0"/>
            </a:avLst>
          </a:prstGeom>
          <a:solidFill>
            <a:srgbClr val="2F5597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第二组案例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FB7D566-CBF3-B6E2-AD02-ACBAB9D9AD91}"/>
              </a:ext>
            </a:extLst>
          </p:cNvPr>
          <p:cNvSpPr txBox="1"/>
          <p:nvPr/>
        </p:nvSpPr>
        <p:spPr>
          <a:xfrm>
            <a:off x="3736422" y="5352648"/>
            <a:ext cx="22094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案例三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背景与特点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55E2970-7688-A341-CB6B-CB7DB042AE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4567" y="3729592"/>
            <a:ext cx="1844786" cy="1644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Tm="10900">
        <p:wipe/>
      </p:transition>
    </mc:Choice>
    <mc:Fallback xmlns="">
      <p:transition advTm="10900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01C36-0E0D-F973-D4B5-3F1186F4D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>
            <a:extLst>
              <a:ext uri="{FF2B5EF4-FFF2-40B4-BE49-F238E27FC236}">
                <a16:creationId xmlns:a16="http://schemas.microsoft.com/office/drawing/2014/main" id="{D61D5F57-88F2-B823-AC6F-CE155D8EDAAD}"/>
              </a:ext>
            </a:extLst>
          </p:cNvPr>
          <p:cNvSpPr/>
          <p:nvPr/>
        </p:nvSpPr>
        <p:spPr>
          <a:xfrm>
            <a:off x="4497511" y="3449160"/>
            <a:ext cx="7539259" cy="2816837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0B0DBB1-512E-A0C9-09ED-0CCE8B2DCC9D}"/>
              </a:ext>
            </a:extLst>
          </p:cNvPr>
          <p:cNvSpPr/>
          <p:nvPr/>
        </p:nvSpPr>
        <p:spPr>
          <a:xfrm>
            <a:off x="265310" y="3449159"/>
            <a:ext cx="4085896" cy="2833445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998EEF-8B9E-6DA9-0B97-503CDA8C1AFF}"/>
              </a:ext>
            </a:extLst>
          </p:cNvPr>
          <p:cNvSpPr txBox="1"/>
          <p:nvPr/>
        </p:nvSpPr>
        <p:spPr>
          <a:xfrm>
            <a:off x="1191" y="187169"/>
            <a:ext cx="8368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1.2研究基础与阶段推进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2298903-CC73-8A51-F226-B7E1755518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368" y="3701800"/>
            <a:ext cx="1797685" cy="769144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425B2BC4-D2A1-8CF7-9509-0034DEB7E23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368" y="4504094"/>
            <a:ext cx="1797685" cy="886787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A5B0DC33-5AB5-DB27-85DE-933B3204BB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474366" y="4504094"/>
            <a:ext cx="1749425" cy="842703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06393C86-DF28-F22D-1805-6D36F354ECE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4366" y="3701800"/>
            <a:ext cx="1749425" cy="788169"/>
          </a:xfrm>
          <a:prstGeom prst="rect">
            <a:avLst/>
          </a:prstGeom>
        </p:spPr>
      </p:pic>
      <p:sp>
        <p:nvSpPr>
          <p:cNvPr id="2" name="矩形: 圆角 136">
            <a:extLst>
              <a:ext uri="{FF2B5EF4-FFF2-40B4-BE49-F238E27FC236}">
                <a16:creationId xmlns:a16="http://schemas.microsoft.com/office/drawing/2014/main" id="{A8A30D2A-3ECC-717C-1D93-173F4E47D8A9}"/>
              </a:ext>
            </a:extLst>
          </p:cNvPr>
          <p:cNvSpPr/>
          <p:nvPr/>
        </p:nvSpPr>
        <p:spPr>
          <a:xfrm>
            <a:off x="407368" y="4470379"/>
            <a:ext cx="1798955" cy="297815"/>
          </a:xfrm>
          <a:prstGeom prst="roundRect">
            <a:avLst>
              <a:gd name="adj" fmla="val 0"/>
            </a:avLst>
          </a:prstGeom>
          <a:solidFill>
            <a:srgbClr val="2F5597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研究起点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" name="矩形: 圆角 136">
            <a:extLst>
              <a:ext uri="{FF2B5EF4-FFF2-40B4-BE49-F238E27FC236}">
                <a16:creationId xmlns:a16="http://schemas.microsoft.com/office/drawing/2014/main" id="{59B4957B-6886-E34F-DE41-77AF6B0CF7AB}"/>
              </a:ext>
            </a:extLst>
          </p:cNvPr>
          <p:cNvSpPr/>
          <p:nvPr/>
        </p:nvSpPr>
        <p:spPr>
          <a:xfrm>
            <a:off x="407368" y="5346798"/>
            <a:ext cx="1786255" cy="297180"/>
          </a:xfrm>
          <a:prstGeom prst="roundRect">
            <a:avLst>
              <a:gd name="adj" fmla="val 0"/>
            </a:avLst>
          </a:prstGeom>
          <a:solidFill>
            <a:srgbClr val="2F5597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当前进展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矩形: 圆角 136">
            <a:extLst>
              <a:ext uri="{FF2B5EF4-FFF2-40B4-BE49-F238E27FC236}">
                <a16:creationId xmlns:a16="http://schemas.microsoft.com/office/drawing/2014/main" id="{EF7CADD4-FB53-6AF5-46B7-3D9011E54930}"/>
              </a:ext>
            </a:extLst>
          </p:cNvPr>
          <p:cNvSpPr/>
          <p:nvPr/>
        </p:nvSpPr>
        <p:spPr>
          <a:xfrm>
            <a:off x="2475002" y="5346798"/>
            <a:ext cx="1748790" cy="297180"/>
          </a:xfrm>
          <a:prstGeom prst="roundRect">
            <a:avLst>
              <a:gd name="adj" fmla="val 0"/>
            </a:avLst>
          </a:prstGeom>
          <a:solidFill>
            <a:srgbClr val="2F5597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" name="矩形: 圆角 136">
            <a:extLst>
              <a:ext uri="{FF2B5EF4-FFF2-40B4-BE49-F238E27FC236}">
                <a16:creationId xmlns:a16="http://schemas.microsoft.com/office/drawing/2014/main" id="{D1F60EAA-BEBF-A34E-0AB7-6CF577BB737C}"/>
              </a:ext>
            </a:extLst>
          </p:cNvPr>
          <p:cNvSpPr/>
          <p:nvPr/>
        </p:nvSpPr>
        <p:spPr>
          <a:xfrm>
            <a:off x="2474367" y="4470379"/>
            <a:ext cx="1749425" cy="300355"/>
          </a:xfrm>
          <a:prstGeom prst="roundRect">
            <a:avLst>
              <a:gd name="adj" fmla="val 0"/>
            </a:avLst>
          </a:prstGeom>
          <a:solidFill>
            <a:srgbClr val="2F5597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已有基础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91" name="Group 3">
            <a:extLst>
              <a:ext uri="{FF2B5EF4-FFF2-40B4-BE49-F238E27FC236}">
                <a16:creationId xmlns:a16="http://schemas.microsoft.com/office/drawing/2014/main" id="{DBE7B2E9-CC42-A5CE-3DDF-BE8FC6A3B33F}"/>
              </a:ext>
            </a:extLst>
          </p:cNvPr>
          <p:cNvGrpSpPr/>
          <p:nvPr/>
        </p:nvGrpSpPr>
        <p:grpSpPr>
          <a:xfrm>
            <a:off x="4476131" y="3734834"/>
            <a:ext cx="1800000" cy="336321"/>
            <a:chOff x="463387" y="1142091"/>
            <a:chExt cx="2936523" cy="561600"/>
          </a:xfrm>
        </p:grpSpPr>
        <p:sp>
          <p:nvSpPr>
            <p:cNvPr id="92" name="Rectangle 114">
              <a:extLst>
                <a:ext uri="{FF2B5EF4-FFF2-40B4-BE49-F238E27FC236}">
                  <a16:creationId xmlns:a16="http://schemas.microsoft.com/office/drawing/2014/main" id="{EFD06AC1-73F0-5474-255F-8FD37443F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618" y="1142091"/>
              <a:ext cx="2762063" cy="561600"/>
            </a:xfrm>
            <a:prstGeom prst="roundRect">
              <a:avLst>
                <a:gd name="adj" fmla="val 0"/>
              </a:avLst>
            </a:prstGeom>
            <a:solidFill>
              <a:srgbClr val="022466"/>
            </a:solidFill>
            <a:ln>
              <a:noFill/>
            </a:ln>
            <a:effectLst>
              <a:outerShdw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square" anchor="ctr">
              <a:noAutofit/>
            </a:bodyPr>
            <a:lstStyle/>
            <a:p>
              <a:pPr marL="0" marR="0" lvl="0" indent="0" algn="ctr" defTabSz="9836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3" name="TextBox 14">
              <a:extLst>
                <a:ext uri="{FF2B5EF4-FFF2-40B4-BE49-F238E27FC236}">
                  <a16:creationId xmlns:a16="http://schemas.microsoft.com/office/drawing/2014/main" id="{2EB5414B-7194-EDD6-8181-67C10386E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387" y="1230957"/>
              <a:ext cx="2936523" cy="3583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anchor="ctr">
              <a:noAutofit/>
            </a:bodyPr>
            <a:lstStyle>
              <a:defPPr>
                <a:defRPr lang="en-US"/>
              </a:defPPr>
              <a:lvl1pPr marR="0" lvl="0" indent="0" algn="ctr" defTabSz="98361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800" b="1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836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任务一</a:t>
              </a:r>
            </a:p>
          </p:txBody>
        </p:sp>
      </p:grpSp>
      <p:grpSp>
        <p:nvGrpSpPr>
          <p:cNvPr id="94" name="Group 54">
            <a:extLst>
              <a:ext uri="{FF2B5EF4-FFF2-40B4-BE49-F238E27FC236}">
                <a16:creationId xmlns:a16="http://schemas.microsoft.com/office/drawing/2014/main" id="{C90C7AD5-76B8-F54C-6EDB-9CEE60745881}"/>
              </a:ext>
            </a:extLst>
          </p:cNvPr>
          <p:cNvGrpSpPr/>
          <p:nvPr/>
        </p:nvGrpSpPr>
        <p:grpSpPr>
          <a:xfrm>
            <a:off x="10236771" y="3734834"/>
            <a:ext cx="1788687" cy="336322"/>
            <a:chOff x="463387" y="1142091"/>
            <a:chExt cx="2936523" cy="561600"/>
          </a:xfrm>
        </p:grpSpPr>
        <p:sp>
          <p:nvSpPr>
            <p:cNvPr id="95" name="Rectangle 114">
              <a:extLst>
                <a:ext uri="{FF2B5EF4-FFF2-40B4-BE49-F238E27FC236}">
                  <a16:creationId xmlns:a16="http://schemas.microsoft.com/office/drawing/2014/main" id="{7A546F45-54E4-ABB5-B40B-146F66558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618" y="1142091"/>
              <a:ext cx="2762063" cy="561600"/>
            </a:xfrm>
            <a:prstGeom prst="roundRect">
              <a:avLst>
                <a:gd name="adj" fmla="val 0"/>
              </a:avLst>
            </a:prstGeom>
            <a:solidFill>
              <a:srgbClr val="022466"/>
            </a:solidFill>
            <a:ln>
              <a:noFill/>
            </a:ln>
            <a:effectLst>
              <a:outerShdw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square" anchor="ctr">
              <a:noAutofit/>
            </a:bodyPr>
            <a:lstStyle/>
            <a:p>
              <a:pPr marL="0" marR="0" lvl="0" indent="0" algn="ctr" defTabSz="9836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6" name="TextBox 14">
              <a:extLst>
                <a:ext uri="{FF2B5EF4-FFF2-40B4-BE49-F238E27FC236}">
                  <a16:creationId xmlns:a16="http://schemas.microsoft.com/office/drawing/2014/main" id="{7F247C8A-F3B9-8D01-C6B3-8FA9521F7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387" y="1230957"/>
              <a:ext cx="2936523" cy="3583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anchor="ctr">
              <a:noAutofit/>
            </a:bodyPr>
            <a:lstStyle>
              <a:defPPr>
                <a:defRPr lang="en-US"/>
              </a:defPPr>
              <a:lvl1pPr marR="0" lvl="0" indent="0" algn="ctr" defTabSz="98361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800" b="1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836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任务四</a:t>
              </a:r>
            </a:p>
          </p:txBody>
        </p:sp>
      </p:grpSp>
      <p:grpSp>
        <p:nvGrpSpPr>
          <p:cNvPr id="97" name="Group 57">
            <a:extLst>
              <a:ext uri="{FF2B5EF4-FFF2-40B4-BE49-F238E27FC236}">
                <a16:creationId xmlns:a16="http://schemas.microsoft.com/office/drawing/2014/main" id="{836FFA7A-B527-9543-581F-44A11F4F4E9C}"/>
              </a:ext>
            </a:extLst>
          </p:cNvPr>
          <p:cNvGrpSpPr/>
          <p:nvPr/>
        </p:nvGrpSpPr>
        <p:grpSpPr>
          <a:xfrm>
            <a:off x="6396344" y="3734834"/>
            <a:ext cx="1800000" cy="336322"/>
            <a:chOff x="463387" y="1142091"/>
            <a:chExt cx="2936523" cy="561600"/>
          </a:xfrm>
        </p:grpSpPr>
        <p:sp>
          <p:nvSpPr>
            <p:cNvPr id="98" name="Rectangle 114">
              <a:extLst>
                <a:ext uri="{FF2B5EF4-FFF2-40B4-BE49-F238E27FC236}">
                  <a16:creationId xmlns:a16="http://schemas.microsoft.com/office/drawing/2014/main" id="{285B5286-3363-6C0E-663A-64B67E3FF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618" y="1142091"/>
              <a:ext cx="2762063" cy="561600"/>
            </a:xfrm>
            <a:prstGeom prst="roundRect">
              <a:avLst>
                <a:gd name="adj" fmla="val 0"/>
              </a:avLst>
            </a:prstGeom>
            <a:solidFill>
              <a:srgbClr val="022466"/>
            </a:solidFill>
            <a:ln>
              <a:noFill/>
            </a:ln>
            <a:effectLst>
              <a:outerShdw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square" anchor="ctr">
              <a:noAutofit/>
            </a:bodyPr>
            <a:lstStyle/>
            <a:p>
              <a:pPr marL="0" marR="0" lvl="0" indent="0" algn="ctr" defTabSz="9836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9" name="TextBox 14">
              <a:extLst>
                <a:ext uri="{FF2B5EF4-FFF2-40B4-BE49-F238E27FC236}">
                  <a16:creationId xmlns:a16="http://schemas.microsoft.com/office/drawing/2014/main" id="{BEAB5D87-6371-BDC1-E28C-B98A9B89F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387" y="1230957"/>
              <a:ext cx="2936523" cy="3583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anchor="ctr">
              <a:noAutofit/>
            </a:bodyPr>
            <a:lstStyle>
              <a:defPPr>
                <a:defRPr lang="en-US"/>
              </a:defPPr>
              <a:lvl1pPr marR="0" lvl="0" indent="0" algn="ctr" defTabSz="98361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800" b="1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836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任务二</a:t>
              </a:r>
            </a:p>
          </p:txBody>
        </p:sp>
      </p:grpSp>
      <p:grpSp>
        <p:nvGrpSpPr>
          <p:cNvPr id="100" name="Group 60">
            <a:extLst>
              <a:ext uri="{FF2B5EF4-FFF2-40B4-BE49-F238E27FC236}">
                <a16:creationId xmlns:a16="http://schemas.microsoft.com/office/drawing/2014/main" id="{BEC12507-8572-5436-6141-89EE2624FD82}"/>
              </a:ext>
            </a:extLst>
          </p:cNvPr>
          <p:cNvGrpSpPr/>
          <p:nvPr/>
        </p:nvGrpSpPr>
        <p:grpSpPr>
          <a:xfrm>
            <a:off x="8316557" y="3734834"/>
            <a:ext cx="1800000" cy="336322"/>
            <a:chOff x="463387" y="1142091"/>
            <a:chExt cx="2936523" cy="561600"/>
          </a:xfrm>
        </p:grpSpPr>
        <p:sp>
          <p:nvSpPr>
            <p:cNvPr id="101" name="Rectangle 114">
              <a:extLst>
                <a:ext uri="{FF2B5EF4-FFF2-40B4-BE49-F238E27FC236}">
                  <a16:creationId xmlns:a16="http://schemas.microsoft.com/office/drawing/2014/main" id="{86260DC2-FB23-20B7-D762-693B46260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618" y="1142091"/>
              <a:ext cx="2762063" cy="561600"/>
            </a:xfrm>
            <a:prstGeom prst="roundRect">
              <a:avLst>
                <a:gd name="adj" fmla="val 0"/>
              </a:avLst>
            </a:prstGeom>
            <a:solidFill>
              <a:srgbClr val="022466"/>
            </a:solidFill>
            <a:ln>
              <a:noFill/>
            </a:ln>
            <a:effectLst>
              <a:outerShdw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square" anchor="ctr">
              <a:noAutofit/>
            </a:bodyPr>
            <a:lstStyle/>
            <a:p>
              <a:pPr marL="0" marR="0" lvl="0" indent="0" algn="ctr" defTabSz="9836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2" name="TextBox 14">
              <a:extLst>
                <a:ext uri="{FF2B5EF4-FFF2-40B4-BE49-F238E27FC236}">
                  <a16:creationId xmlns:a16="http://schemas.microsoft.com/office/drawing/2014/main" id="{A67976FC-3CF2-840B-A9D3-F03A110BB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387" y="1230957"/>
              <a:ext cx="2936523" cy="3583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anchor="ctr">
              <a:noAutofit/>
            </a:bodyPr>
            <a:lstStyle>
              <a:defPPr>
                <a:defRPr lang="en-US"/>
              </a:defPPr>
              <a:lvl1pPr marR="0" lvl="0" indent="0" algn="ctr" defTabSz="98361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800" b="1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836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任务三</a:t>
              </a:r>
            </a:p>
          </p:txBody>
        </p:sp>
      </p:grp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8773E535-FD42-D426-25C9-EEE66E78711F}"/>
              </a:ext>
            </a:extLst>
          </p:cNvPr>
          <p:cNvSpPr/>
          <p:nvPr/>
        </p:nvSpPr>
        <p:spPr>
          <a:xfrm>
            <a:off x="7536160" y="3258566"/>
            <a:ext cx="1520640" cy="372156"/>
          </a:xfrm>
          <a:prstGeom prst="roundRect">
            <a:avLst/>
          </a:prstGeom>
          <a:solidFill>
            <a:schemeClr val="bg1"/>
          </a:solidFill>
          <a:ln w="63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阶段推进</a:t>
            </a:r>
          </a:p>
        </p:txBody>
      </p:sp>
      <p:sp>
        <p:nvSpPr>
          <p:cNvPr id="104" name="任意多边形: 形状 33">
            <a:extLst>
              <a:ext uri="{FF2B5EF4-FFF2-40B4-BE49-F238E27FC236}">
                <a16:creationId xmlns:a16="http://schemas.microsoft.com/office/drawing/2014/main" id="{5EEA6702-AA40-BA0F-4303-BB66B1E096ED}"/>
              </a:ext>
            </a:extLst>
          </p:cNvPr>
          <p:cNvSpPr/>
          <p:nvPr/>
        </p:nvSpPr>
        <p:spPr>
          <a:xfrm>
            <a:off x="4654861" y="5202782"/>
            <a:ext cx="7417803" cy="239625"/>
          </a:xfrm>
          <a:custGeom>
            <a:avLst/>
            <a:gdLst>
              <a:gd name="connsiteX0" fmla="*/ 0 w 11517549"/>
              <a:gd name="connsiteY0" fmla="*/ 408561 h 408561"/>
              <a:gd name="connsiteX1" fmla="*/ 11517549 w 11517549"/>
              <a:gd name="connsiteY1" fmla="*/ 408561 h 408561"/>
              <a:gd name="connsiteX2" fmla="*/ 10700425 w 11517549"/>
              <a:gd name="connsiteY2" fmla="*/ 0 h 408561"/>
              <a:gd name="connsiteX3" fmla="*/ 10817157 w 11517549"/>
              <a:gd name="connsiteY3" fmla="*/ 282102 h 408561"/>
              <a:gd name="connsiteX4" fmla="*/ 19455 w 11517549"/>
              <a:gd name="connsiteY4" fmla="*/ 282102 h 408561"/>
              <a:gd name="connsiteX5" fmla="*/ 0 w 11517549"/>
              <a:gd name="connsiteY5" fmla="*/ 408561 h 408561"/>
              <a:gd name="connsiteX0-1" fmla="*/ 0 w 11517549"/>
              <a:gd name="connsiteY0-2" fmla="*/ 408561 h 408561"/>
              <a:gd name="connsiteX1-3" fmla="*/ 11517549 w 11517549"/>
              <a:gd name="connsiteY1-4" fmla="*/ 408561 h 408561"/>
              <a:gd name="connsiteX2-5" fmla="*/ 10700425 w 11517549"/>
              <a:gd name="connsiteY2-6" fmla="*/ 0 h 408561"/>
              <a:gd name="connsiteX3-7" fmla="*/ 10719880 w 11517549"/>
              <a:gd name="connsiteY3-8" fmla="*/ 282102 h 408561"/>
              <a:gd name="connsiteX4-9" fmla="*/ 19455 w 11517549"/>
              <a:gd name="connsiteY4-10" fmla="*/ 282102 h 408561"/>
              <a:gd name="connsiteX5-11" fmla="*/ 0 w 11517549"/>
              <a:gd name="connsiteY5-12" fmla="*/ 408561 h 408561"/>
              <a:gd name="connsiteX0-13" fmla="*/ 0 w 11517549"/>
              <a:gd name="connsiteY0-14" fmla="*/ 321012 h 321012"/>
              <a:gd name="connsiteX1-15" fmla="*/ 11517549 w 11517549"/>
              <a:gd name="connsiteY1-16" fmla="*/ 321012 h 321012"/>
              <a:gd name="connsiteX2-17" fmla="*/ 10700425 w 11517549"/>
              <a:gd name="connsiteY2-18" fmla="*/ 0 h 321012"/>
              <a:gd name="connsiteX3-19" fmla="*/ 10719880 w 11517549"/>
              <a:gd name="connsiteY3-20" fmla="*/ 194553 h 321012"/>
              <a:gd name="connsiteX4-21" fmla="*/ 19455 w 11517549"/>
              <a:gd name="connsiteY4-22" fmla="*/ 194553 h 321012"/>
              <a:gd name="connsiteX5-23" fmla="*/ 0 w 11517549"/>
              <a:gd name="connsiteY5-24" fmla="*/ 321012 h 321012"/>
              <a:gd name="connsiteX0-25" fmla="*/ 0 w 11517549"/>
              <a:gd name="connsiteY0-26" fmla="*/ 321012 h 321012"/>
              <a:gd name="connsiteX1-27" fmla="*/ 11517549 w 11517549"/>
              <a:gd name="connsiteY1-28" fmla="*/ 321012 h 321012"/>
              <a:gd name="connsiteX2-29" fmla="*/ 10700425 w 11517549"/>
              <a:gd name="connsiteY2-30" fmla="*/ 0 h 321012"/>
              <a:gd name="connsiteX3-31" fmla="*/ 10710152 w 11517549"/>
              <a:gd name="connsiteY3-32" fmla="*/ 194553 h 321012"/>
              <a:gd name="connsiteX4-33" fmla="*/ 19455 w 11517549"/>
              <a:gd name="connsiteY4-34" fmla="*/ 194553 h 321012"/>
              <a:gd name="connsiteX5-35" fmla="*/ 0 w 11517549"/>
              <a:gd name="connsiteY5-36" fmla="*/ 321012 h 321012"/>
              <a:gd name="connsiteX0-37" fmla="*/ 0 w 11517549"/>
              <a:gd name="connsiteY0-38" fmla="*/ 321012 h 321012"/>
              <a:gd name="connsiteX1-39" fmla="*/ 11517549 w 11517549"/>
              <a:gd name="connsiteY1-40" fmla="*/ 321012 h 321012"/>
              <a:gd name="connsiteX2-41" fmla="*/ 10700425 w 11517549"/>
              <a:gd name="connsiteY2-42" fmla="*/ 0 h 321012"/>
              <a:gd name="connsiteX3-43" fmla="*/ 10700425 w 11517549"/>
              <a:gd name="connsiteY3-44" fmla="*/ 204281 h 321012"/>
              <a:gd name="connsiteX4-45" fmla="*/ 19455 w 11517549"/>
              <a:gd name="connsiteY4-46" fmla="*/ 194553 h 321012"/>
              <a:gd name="connsiteX5-47" fmla="*/ 0 w 11517549"/>
              <a:gd name="connsiteY5-48" fmla="*/ 321012 h 321012"/>
              <a:gd name="connsiteX0-49" fmla="*/ 0 w 11517549"/>
              <a:gd name="connsiteY0-50" fmla="*/ 321012 h 321012"/>
              <a:gd name="connsiteX1-51" fmla="*/ 11517549 w 11517549"/>
              <a:gd name="connsiteY1-52" fmla="*/ 321012 h 321012"/>
              <a:gd name="connsiteX2-53" fmla="*/ 10700425 w 11517549"/>
              <a:gd name="connsiteY2-54" fmla="*/ 0 h 321012"/>
              <a:gd name="connsiteX3-55" fmla="*/ 10719880 w 11517549"/>
              <a:gd name="connsiteY3-56" fmla="*/ 233464 h 321012"/>
              <a:gd name="connsiteX4-57" fmla="*/ 19455 w 11517549"/>
              <a:gd name="connsiteY4-58" fmla="*/ 194553 h 321012"/>
              <a:gd name="connsiteX5-59" fmla="*/ 0 w 11517549"/>
              <a:gd name="connsiteY5-60" fmla="*/ 321012 h 321012"/>
              <a:gd name="connsiteX0-61" fmla="*/ 0 w 11517549"/>
              <a:gd name="connsiteY0-62" fmla="*/ 321012 h 321012"/>
              <a:gd name="connsiteX1-63" fmla="*/ 11517549 w 11517549"/>
              <a:gd name="connsiteY1-64" fmla="*/ 321012 h 321012"/>
              <a:gd name="connsiteX2-65" fmla="*/ 10700425 w 11517549"/>
              <a:gd name="connsiteY2-66" fmla="*/ 0 h 321012"/>
              <a:gd name="connsiteX3-67" fmla="*/ 10719880 w 11517549"/>
              <a:gd name="connsiteY3-68" fmla="*/ 233464 h 321012"/>
              <a:gd name="connsiteX4-69" fmla="*/ 9728 w 11517549"/>
              <a:gd name="connsiteY4-70" fmla="*/ 233464 h 321012"/>
              <a:gd name="connsiteX5-71" fmla="*/ 0 w 11517549"/>
              <a:gd name="connsiteY5-72" fmla="*/ 321012 h 321012"/>
              <a:gd name="connsiteX0-73" fmla="*/ 0 w 11517549"/>
              <a:gd name="connsiteY0-74" fmla="*/ 252919 h 252919"/>
              <a:gd name="connsiteX1-75" fmla="*/ 11517549 w 11517549"/>
              <a:gd name="connsiteY1-76" fmla="*/ 252919 h 252919"/>
              <a:gd name="connsiteX2-77" fmla="*/ 10710152 w 11517549"/>
              <a:gd name="connsiteY2-78" fmla="*/ 0 h 252919"/>
              <a:gd name="connsiteX3-79" fmla="*/ 10719880 w 11517549"/>
              <a:gd name="connsiteY3-80" fmla="*/ 165371 h 252919"/>
              <a:gd name="connsiteX4-81" fmla="*/ 9728 w 11517549"/>
              <a:gd name="connsiteY4-82" fmla="*/ 165371 h 252919"/>
              <a:gd name="connsiteX5-83" fmla="*/ 0 w 11517549"/>
              <a:gd name="connsiteY5-84" fmla="*/ 252919 h 2529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1517549" h="252919">
                <a:moveTo>
                  <a:pt x="0" y="252919"/>
                </a:moveTo>
                <a:lnTo>
                  <a:pt x="11517549" y="252919"/>
                </a:lnTo>
                <a:lnTo>
                  <a:pt x="10710152" y="0"/>
                </a:lnTo>
                <a:lnTo>
                  <a:pt x="10719880" y="165371"/>
                </a:lnTo>
                <a:lnTo>
                  <a:pt x="9728" y="165371"/>
                </a:lnTo>
                <a:lnTo>
                  <a:pt x="0" y="252919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66000">
                <a:srgbClr val="02246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83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5" name="组合 41">
            <a:extLst>
              <a:ext uri="{FF2B5EF4-FFF2-40B4-BE49-F238E27FC236}">
                <a16:creationId xmlns:a16="http://schemas.microsoft.com/office/drawing/2014/main" id="{8745B5D0-A2A8-4FD8-291C-075F2B495880}"/>
              </a:ext>
            </a:extLst>
          </p:cNvPr>
          <p:cNvGrpSpPr/>
          <p:nvPr/>
        </p:nvGrpSpPr>
        <p:grpSpPr>
          <a:xfrm>
            <a:off x="5212831" y="5274790"/>
            <a:ext cx="324412" cy="260029"/>
            <a:chOff x="2901496" y="6949342"/>
            <a:chExt cx="339220" cy="339220"/>
          </a:xfrm>
        </p:grpSpPr>
        <p:sp>
          <p:nvSpPr>
            <p:cNvPr id="106" name="椭圆 42">
              <a:extLst>
                <a:ext uri="{FF2B5EF4-FFF2-40B4-BE49-F238E27FC236}">
                  <a16:creationId xmlns:a16="http://schemas.microsoft.com/office/drawing/2014/main" id="{94CC374D-2D4E-15F1-9539-9F3CADE35D76}"/>
                </a:ext>
              </a:extLst>
            </p:cNvPr>
            <p:cNvSpPr/>
            <p:nvPr/>
          </p:nvSpPr>
          <p:spPr bwMode="auto">
            <a:xfrm>
              <a:off x="2901496" y="6949342"/>
              <a:ext cx="339220" cy="339220"/>
            </a:xfrm>
            <a:prstGeom prst="ellipse">
              <a:avLst/>
            </a:prstGeom>
            <a:solidFill>
              <a:srgbClr val="264061">
                <a:alpha val="3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7" name="椭圆 43">
              <a:extLst>
                <a:ext uri="{FF2B5EF4-FFF2-40B4-BE49-F238E27FC236}">
                  <a16:creationId xmlns:a16="http://schemas.microsoft.com/office/drawing/2014/main" id="{A7FEE6BF-42DA-613A-7B9B-F63E311E43ED}"/>
                </a:ext>
              </a:extLst>
            </p:cNvPr>
            <p:cNvSpPr/>
            <p:nvPr/>
          </p:nvSpPr>
          <p:spPr bwMode="auto">
            <a:xfrm>
              <a:off x="2960057" y="7007905"/>
              <a:ext cx="222100" cy="222096"/>
            </a:xfrm>
            <a:prstGeom prst="ellipse">
              <a:avLst/>
            </a:prstGeom>
            <a:solidFill>
              <a:srgbClr val="0224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108" name="组合 44">
            <a:extLst>
              <a:ext uri="{FF2B5EF4-FFF2-40B4-BE49-F238E27FC236}">
                <a16:creationId xmlns:a16="http://schemas.microsoft.com/office/drawing/2014/main" id="{4A7575C4-6C05-7956-E3EC-A4053D4D52D4}"/>
              </a:ext>
            </a:extLst>
          </p:cNvPr>
          <p:cNvGrpSpPr/>
          <p:nvPr/>
        </p:nvGrpSpPr>
        <p:grpSpPr>
          <a:xfrm>
            <a:off x="10897830" y="5274790"/>
            <a:ext cx="324412" cy="260029"/>
            <a:chOff x="2901496" y="6949342"/>
            <a:chExt cx="339220" cy="339220"/>
          </a:xfrm>
        </p:grpSpPr>
        <p:sp>
          <p:nvSpPr>
            <p:cNvPr id="109" name="椭圆 45">
              <a:extLst>
                <a:ext uri="{FF2B5EF4-FFF2-40B4-BE49-F238E27FC236}">
                  <a16:creationId xmlns:a16="http://schemas.microsoft.com/office/drawing/2014/main" id="{B4028449-77F9-B295-9BA0-85D753B565BB}"/>
                </a:ext>
              </a:extLst>
            </p:cNvPr>
            <p:cNvSpPr/>
            <p:nvPr/>
          </p:nvSpPr>
          <p:spPr bwMode="auto">
            <a:xfrm>
              <a:off x="2901496" y="6949342"/>
              <a:ext cx="339220" cy="339220"/>
            </a:xfrm>
            <a:prstGeom prst="ellipse">
              <a:avLst/>
            </a:prstGeom>
            <a:solidFill>
              <a:srgbClr val="264061">
                <a:alpha val="3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0" name="椭圆 46">
              <a:extLst>
                <a:ext uri="{FF2B5EF4-FFF2-40B4-BE49-F238E27FC236}">
                  <a16:creationId xmlns:a16="http://schemas.microsoft.com/office/drawing/2014/main" id="{53136324-A05B-5F45-7691-C35FA88E0AAF}"/>
                </a:ext>
              </a:extLst>
            </p:cNvPr>
            <p:cNvSpPr/>
            <p:nvPr/>
          </p:nvSpPr>
          <p:spPr bwMode="auto">
            <a:xfrm>
              <a:off x="2960057" y="7007905"/>
              <a:ext cx="222100" cy="222096"/>
            </a:xfrm>
            <a:prstGeom prst="ellipse">
              <a:avLst/>
            </a:prstGeom>
            <a:solidFill>
              <a:srgbClr val="0224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111" name="组合 47">
            <a:extLst>
              <a:ext uri="{FF2B5EF4-FFF2-40B4-BE49-F238E27FC236}">
                <a16:creationId xmlns:a16="http://schemas.microsoft.com/office/drawing/2014/main" id="{3F799426-F851-79E4-E8AC-2334C3D93ACC}"/>
              </a:ext>
            </a:extLst>
          </p:cNvPr>
          <p:cNvGrpSpPr/>
          <p:nvPr/>
        </p:nvGrpSpPr>
        <p:grpSpPr>
          <a:xfrm>
            <a:off x="9002831" y="5274790"/>
            <a:ext cx="324412" cy="260029"/>
            <a:chOff x="2901496" y="6949342"/>
            <a:chExt cx="339220" cy="339220"/>
          </a:xfrm>
        </p:grpSpPr>
        <p:sp>
          <p:nvSpPr>
            <p:cNvPr id="112" name="椭圆 48">
              <a:extLst>
                <a:ext uri="{FF2B5EF4-FFF2-40B4-BE49-F238E27FC236}">
                  <a16:creationId xmlns:a16="http://schemas.microsoft.com/office/drawing/2014/main" id="{3BA91CDC-8DC7-67FF-5CA1-6C5E9E116308}"/>
                </a:ext>
              </a:extLst>
            </p:cNvPr>
            <p:cNvSpPr/>
            <p:nvPr/>
          </p:nvSpPr>
          <p:spPr bwMode="auto">
            <a:xfrm>
              <a:off x="2901496" y="6949342"/>
              <a:ext cx="339220" cy="339220"/>
            </a:xfrm>
            <a:prstGeom prst="ellipse">
              <a:avLst/>
            </a:prstGeom>
            <a:solidFill>
              <a:srgbClr val="264061">
                <a:alpha val="3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3" name="椭圆 59">
              <a:extLst>
                <a:ext uri="{FF2B5EF4-FFF2-40B4-BE49-F238E27FC236}">
                  <a16:creationId xmlns:a16="http://schemas.microsoft.com/office/drawing/2014/main" id="{5E78754D-687C-5835-672B-18ACB9ED0006}"/>
                </a:ext>
              </a:extLst>
            </p:cNvPr>
            <p:cNvSpPr/>
            <p:nvPr/>
          </p:nvSpPr>
          <p:spPr bwMode="auto">
            <a:xfrm>
              <a:off x="2960057" y="7007905"/>
              <a:ext cx="222100" cy="222096"/>
            </a:xfrm>
            <a:prstGeom prst="ellipse">
              <a:avLst/>
            </a:prstGeom>
            <a:solidFill>
              <a:srgbClr val="0224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14" name="TextBox 69">
            <a:extLst>
              <a:ext uri="{FF2B5EF4-FFF2-40B4-BE49-F238E27FC236}">
                <a16:creationId xmlns:a16="http://schemas.microsoft.com/office/drawing/2014/main" id="{749790BF-B3D8-882A-1A29-72B68A3D65FC}"/>
              </a:ext>
            </a:extLst>
          </p:cNvPr>
          <p:cNvSpPr txBox="1"/>
          <p:nvPr/>
        </p:nvSpPr>
        <p:spPr>
          <a:xfrm>
            <a:off x="4658824" y="5418806"/>
            <a:ext cx="1500000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83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22466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阶段一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022466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15" name="TextBox 70">
            <a:extLst>
              <a:ext uri="{FF2B5EF4-FFF2-40B4-BE49-F238E27FC236}">
                <a16:creationId xmlns:a16="http://schemas.microsoft.com/office/drawing/2014/main" id="{A11F4B28-D647-114A-F8DC-BF7EBDE565BC}"/>
              </a:ext>
            </a:extLst>
          </p:cNvPr>
          <p:cNvSpPr txBox="1"/>
          <p:nvPr/>
        </p:nvSpPr>
        <p:spPr>
          <a:xfrm>
            <a:off x="6606502" y="5418806"/>
            <a:ext cx="1500000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83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22466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阶段二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022466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16" name="TextBox 71">
            <a:extLst>
              <a:ext uri="{FF2B5EF4-FFF2-40B4-BE49-F238E27FC236}">
                <a16:creationId xmlns:a16="http://schemas.microsoft.com/office/drawing/2014/main" id="{ADD9EB9A-C37C-9B8F-6AC8-30228C8C41F3}"/>
              </a:ext>
            </a:extLst>
          </p:cNvPr>
          <p:cNvSpPr txBox="1"/>
          <p:nvPr/>
        </p:nvSpPr>
        <p:spPr>
          <a:xfrm>
            <a:off x="10365675" y="5418806"/>
            <a:ext cx="1500000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83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22466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阶段四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022466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117" name="组合 47">
            <a:extLst>
              <a:ext uri="{FF2B5EF4-FFF2-40B4-BE49-F238E27FC236}">
                <a16:creationId xmlns:a16="http://schemas.microsoft.com/office/drawing/2014/main" id="{FFB1D4C0-DEE2-6CEF-A987-9D681B1A2BE6}"/>
              </a:ext>
            </a:extLst>
          </p:cNvPr>
          <p:cNvGrpSpPr/>
          <p:nvPr/>
        </p:nvGrpSpPr>
        <p:grpSpPr>
          <a:xfrm>
            <a:off x="7107831" y="5274790"/>
            <a:ext cx="324412" cy="260029"/>
            <a:chOff x="2901496" y="6949342"/>
            <a:chExt cx="339220" cy="339220"/>
          </a:xfrm>
        </p:grpSpPr>
        <p:sp>
          <p:nvSpPr>
            <p:cNvPr id="118" name="椭圆 48">
              <a:extLst>
                <a:ext uri="{FF2B5EF4-FFF2-40B4-BE49-F238E27FC236}">
                  <a16:creationId xmlns:a16="http://schemas.microsoft.com/office/drawing/2014/main" id="{30EBD9C1-BBE9-4F86-B8BD-922FC3370ABB}"/>
                </a:ext>
              </a:extLst>
            </p:cNvPr>
            <p:cNvSpPr/>
            <p:nvPr/>
          </p:nvSpPr>
          <p:spPr bwMode="auto">
            <a:xfrm>
              <a:off x="2901496" y="6949342"/>
              <a:ext cx="339220" cy="339220"/>
            </a:xfrm>
            <a:prstGeom prst="ellipse">
              <a:avLst/>
            </a:prstGeom>
            <a:solidFill>
              <a:srgbClr val="264061">
                <a:alpha val="3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9" name="椭圆 59">
              <a:extLst>
                <a:ext uri="{FF2B5EF4-FFF2-40B4-BE49-F238E27FC236}">
                  <a16:creationId xmlns:a16="http://schemas.microsoft.com/office/drawing/2014/main" id="{99E114E9-8400-5121-4CB5-ECD34C16C55C}"/>
                </a:ext>
              </a:extLst>
            </p:cNvPr>
            <p:cNvSpPr/>
            <p:nvPr/>
          </p:nvSpPr>
          <p:spPr bwMode="auto">
            <a:xfrm>
              <a:off x="2960057" y="7007905"/>
              <a:ext cx="222100" cy="222096"/>
            </a:xfrm>
            <a:prstGeom prst="ellipse">
              <a:avLst/>
            </a:prstGeom>
            <a:solidFill>
              <a:srgbClr val="0224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20" name="TextBox 70">
            <a:extLst>
              <a:ext uri="{FF2B5EF4-FFF2-40B4-BE49-F238E27FC236}">
                <a16:creationId xmlns:a16="http://schemas.microsoft.com/office/drawing/2014/main" id="{75BF511B-3047-3216-A5BF-4478B56DBD77}"/>
              </a:ext>
            </a:extLst>
          </p:cNvPr>
          <p:cNvSpPr txBox="1"/>
          <p:nvPr/>
        </p:nvSpPr>
        <p:spPr>
          <a:xfrm>
            <a:off x="8453647" y="5418806"/>
            <a:ext cx="1500000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83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22466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阶段三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022466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F5881299-A9A5-91F7-8E98-E3058BE975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0583" y="4087924"/>
            <a:ext cx="1692291" cy="1133974"/>
          </a:xfrm>
          <a:prstGeom prst="rect">
            <a:avLst/>
          </a:prstGeom>
        </p:spPr>
      </p:pic>
      <p:pic>
        <p:nvPicPr>
          <p:cNvPr id="123" name="图片 122">
            <a:extLst>
              <a:ext uri="{FF2B5EF4-FFF2-40B4-BE49-F238E27FC236}">
                <a16:creationId xmlns:a16="http://schemas.microsoft.com/office/drawing/2014/main" id="{5B664AA9-FB8C-73AF-B8CB-C2666D9863D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9601" y="4087924"/>
            <a:ext cx="1693061" cy="1133974"/>
          </a:xfrm>
          <a:prstGeom prst="rect">
            <a:avLst/>
          </a:prstGeom>
        </p:spPr>
      </p:pic>
      <p:pic>
        <p:nvPicPr>
          <p:cNvPr id="125" name="图片 124">
            <a:extLst>
              <a:ext uri="{FF2B5EF4-FFF2-40B4-BE49-F238E27FC236}">
                <a16:creationId xmlns:a16="http://schemas.microsoft.com/office/drawing/2014/main" id="{30D8C965-E627-E539-5FFB-0AF5CD4D07F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70027" y="4087924"/>
            <a:ext cx="1692290" cy="1186866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1E4FC2B4-DEC8-31E5-667C-352082E596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9470" y="4087924"/>
            <a:ext cx="1662501" cy="1133974"/>
          </a:xfrm>
          <a:prstGeom prst="rect">
            <a:avLst/>
          </a:prstGeom>
        </p:spPr>
      </p:pic>
      <p:sp>
        <p:nvSpPr>
          <p:cNvPr id="128" name="文本框 53">
            <a:extLst>
              <a:ext uri="{FF2B5EF4-FFF2-40B4-BE49-F238E27FC236}">
                <a16:creationId xmlns:a16="http://schemas.microsoft.com/office/drawing/2014/main" id="{405BC22E-0B46-38DA-4926-BAD34BE482B0}"/>
              </a:ext>
            </a:extLst>
          </p:cNvPr>
          <p:cNvSpPr txBox="1"/>
          <p:nvPr/>
        </p:nvSpPr>
        <p:spPr>
          <a:xfrm>
            <a:off x="4476131" y="5678913"/>
            <a:ext cx="1800000" cy="5870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rPr>
              <a:t>界定研究问题与目标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29" name="文本框 53">
            <a:extLst>
              <a:ext uri="{FF2B5EF4-FFF2-40B4-BE49-F238E27FC236}">
                <a16:creationId xmlns:a16="http://schemas.microsoft.com/office/drawing/2014/main" id="{8DB632BE-3D02-63AF-594D-72F98DC46985}"/>
              </a:ext>
            </a:extLst>
          </p:cNvPr>
          <p:cNvSpPr txBox="1"/>
          <p:nvPr/>
        </p:nvSpPr>
        <p:spPr>
          <a:xfrm>
            <a:off x="6396344" y="5678913"/>
            <a:ext cx="1800000" cy="5870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rPr>
              <a:t>完成资料整理与分析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32" name="文本框 53">
            <a:extLst>
              <a:ext uri="{FF2B5EF4-FFF2-40B4-BE49-F238E27FC236}">
                <a16:creationId xmlns:a16="http://schemas.microsoft.com/office/drawing/2014/main" id="{B26E9F27-0B54-F9D3-0A38-4FECF1C93758}"/>
              </a:ext>
            </a:extLst>
          </p:cNvPr>
          <p:cNvSpPr txBox="1"/>
          <p:nvPr/>
        </p:nvSpPr>
        <p:spPr>
          <a:xfrm>
            <a:off x="8311846" y="5678913"/>
            <a:ext cx="1800000" cy="5870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rPr>
              <a:t>开展方法检验与比较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33" name="文本框 53">
            <a:extLst>
              <a:ext uri="{FF2B5EF4-FFF2-40B4-BE49-F238E27FC236}">
                <a16:creationId xmlns:a16="http://schemas.microsoft.com/office/drawing/2014/main" id="{25449F8C-0DCA-6833-1EEE-1E72312D837D}"/>
              </a:ext>
            </a:extLst>
          </p:cNvPr>
          <p:cNvSpPr txBox="1"/>
          <p:nvPr/>
        </p:nvSpPr>
        <p:spPr>
          <a:xfrm>
            <a:off x="10236771" y="5678913"/>
            <a:ext cx="1800000" cy="5870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rPr>
              <a:t>汇总结果并形成结论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37" name="箭头: 右 136">
            <a:extLst>
              <a:ext uri="{FF2B5EF4-FFF2-40B4-BE49-F238E27FC236}">
                <a16:creationId xmlns:a16="http://schemas.microsoft.com/office/drawing/2014/main" id="{66BBD306-E3FC-F351-392D-BD726A2C1B7D}"/>
              </a:ext>
            </a:extLst>
          </p:cNvPr>
          <p:cNvSpPr/>
          <p:nvPr/>
        </p:nvSpPr>
        <p:spPr>
          <a:xfrm>
            <a:off x="2124031" y="4066863"/>
            <a:ext cx="431357" cy="242002"/>
          </a:xfrm>
          <a:prstGeom prst="rightArrow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箭头: 右 137">
            <a:extLst>
              <a:ext uri="{FF2B5EF4-FFF2-40B4-BE49-F238E27FC236}">
                <a16:creationId xmlns:a16="http://schemas.microsoft.com/office/drawing/2014/main" id="{3C80AA15-55BD-D9C3-7792-6210CE890A4F}"/>
              </a:ext>
            </a:extLst>
          </p:cNvPr>
          <p:cNvSpPr/>
          <p:nvPr/>
        </p:nvSpPr>
        <p:spPr>
          <a:xfrm rot="10800000">
            <a:off x="2102565" y="4926110"/>
            <a:ext cx="431357" cy="242002"/>
          </a:xfrm>
          <a:prstGeom prst="rightArrow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箭头: 右 138">
            <a:extLst>
              <a:ext uri="{FF2B5EF4-FFF2-40B4-BE49-F238E27FC236}">
                <a16:creationId xmlns:a16="http://schemas.microsoft.com/office/drawing/2014/main" id="{42ACFA69-18AF-2D6B-7E8A-5D8B4A1EFFCC}"/>
              </a:ext>
            </a:extLst>
          </p:cNvPr>
          <p:cNvSpPr/>
          <p:nvPr/>
        </p:nvSpPr>
        <p:spPr>
          <a:xfrm rot="5400000">
            <a:off x="3806697" y="4591948"/>
            <a:ext cx="422581" cy="235475"/>
          </a:xfrm>
          <a:prstGeom prst="rightArrow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707CA947-476E-245B-712F-E1C05DE8607A}"/>
              </a:ext>
            </a:extLst>
          </p:cNvPr>
          <p:cNvSpPr/>
          <p:nvPr/>
        </p:nvSpPr>
        <p:spPr>
          <a:xfrm>
            <a:off x="265311" y="1962422"/>
            <a:ext cx="11771460" cy="1181024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36FB3040-E242-F003-94CE-9635A386D2EF}"/>
              </a:ext>
            </a:extLst>
          </p:cNvPr>
          <p:cNvSpPr/>
          <p:nvPr/>
        </p:nvSpPr>
        <p:spPr>
          <a:xfrm>
            <a:off x="4871864" y="1772816"/>
            <a:ext cx="1520640" cy="372156"/>
          </a:xfrm>
          <a:prstGeom prst="roundRect">
            <a:avLst/>
          </a:prstGeom>
          <a:solidFill>
            <a:schemeClr val="bg1"/>
          </a:solidFill>
          <a:ln w="63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资料与依据</a:t>
            </a: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41A48F82-CC47-5C7A-FC7D-2570B79779D9}"/>
              </a:ext>
            </a:extLst>
          </p:cNvPr>
          <p:cNvSpPr txBox="1"/>
          <p:nvPr/>
        </p:nvSpPr>
        <p:spPr>
          <a:xfrm>
            <a:off x="3285389" y="2269029"/>
            <a:ext cx="82465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资料来源：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列出主要资料、样本范围与获取途径，说明它们与研究问题的关联。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方法基础：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介绍已有方法与前期工作，交代可沿用的基础以及仍需完善的环节。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证据要求：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标明资料时间、统计口径与核验方式，使后续分析可以回溯到原始来源。</a:t>
            </a:r>
          </a:p>
        </p:txBody>
      </p:sp>
      <p:pic>
        <p:nvPicPr>
          <p:cNvPr id="145" name="图片 144">
            <a:extLst>
              <a:ext uri="{FF2B5EF4-FFF2-40B4-BE49-F238E27FC236}">
                <a16:creationId xmlns:a16="http://schemas.microsoft.com/office/drawing/2014/main" id="{022A3705-3E33-6138-8497-FE02C2AA95C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3557" y="2106438"/>
            <a:ext cx="950751" cy="957729"/>
          </a:xfrm>
          <a:prstGeom prst="rect">
            <a:avLst/>
          </a:prstGeom>
        </p:spPr>
      </p:pic>
      <p:pic>
        <p:nvPicPr>
          <p:cNvPr id="146" name="图片 145">
            <a:extLst>
              <a:ext uri="{FF2B5EF4-FFF2-40B4-BE49-F238E27FC236}">
                <a16:creationId xmlns:a16="http://schemas.microsoft.com/office/drawing/2014/main" id="{67AB2282-34F3-FFA9-5CE0-9979E16C865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69256" y="2106438"/>
            <a:ext cx="934829" cy="957729"/>
          </a:xfrm>
          <a:prstGeom prst="rect">
            <a:avLst/>
          </a:prstGeom>
        </p:spPr>
      </p:pic>
      <p:pic>
        <p:nvPicPr>
          <p:cNvPr id="148" name="图片 147">
            <a:extLst>
              <a:ext uri="{FF2B5EF4-FFF2-40B4-BE49-F238E27FC236}">
                <a16:creationId xmlns:a16="http://schemas.microsoft.com/office/drawing/2014/main" id="{5F56CE32-EB4A-C449-E5D4-CD9A0F622E3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29033" y="2106438"/>
            <a:ext cx="931408" cy="957729"/>
          </a:xfrm>
          <a:prstGeom prst="rect">
            <a:avLst/>
          </a:prstGeom>
        </p:spPr>
      </p:pic>
      <p:sp>
        <p:nvSpPr>
          <p:cNvPr id="151" name="文本框 150">
            <a:extLst>
              <a:ext uri="{FF2B5EF4-FFF2-40B4-BE49-F238E27FC236}">
                <a16:creationId xmlns:a16="http://schemas.microsoft.com/office/drawing/2014/main" id="{02797823-4418-A7F7-C63A-08D6D62C1B27}"/>
              </a:ext>
            </a:extLst>
          </p:cNvPr>
          <p:cNvSpPr txBox="1"/>
          <p:nvPr/>
        </p:nvSpPr>
        <p:spPr>
          <a:xfrm>
            <a:off x="265310" y="5678913"/>
            <a:ext cx="4001624" cy="587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用可核验的资料说明研究基础与当前进展</a:t>
            </a:r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26303AA2-4D1E-EF55-11EA-E29B6C9A9FA6}"/>
              </a:ext>
            </a:extLst>
          </p:cNvPr>
          <p:cNvSpPr/>
          <p:nvPr/>
        </p:nvSpPr>
        <p:spPr>
          <a:xfrm>
            <a:off x="1623032" y="3258566"/>
            <a:ext cx="1520640" cy="372156"/>
          </a:xfrm>
          <a:prstGeom prst="roundRect">
            <a:avLst/>
          </a:prstGeom>
          <a:solidFill>
            <a:schemeClr val="bg1"/>
          </a:solidFill>
          <a:ln w="63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研究积累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DEFC09-9C37-D35A-9AE0-9FCD0F4FFCD3}"/>
              </a:ext>
            </a:extLst>
          </p:cNvPr>
          <p:cNvSpPr/>
          <p:nvPr/>
        </p:nvSpPr>
        <p:spPr>
          <a:xfrm>
            <a:off x="0" y="854577"/>
            <a:ext cx="12124118" cy="846930"/>
          </a:xfrm>
          <a:prstGeom prst="rect">
            <a:avLst/>
          </a:prstGeom>
          <a:solidFill>
            <a:srgbClr val="024C89"/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anchor="ctr" anchorCtr="0">
            <a:noAutofit/>
          </a:bodyPr>
          <a:lstStyle/>
          <a:p>
            <a:pPr marL="342900" lvl="0" indent="-342900" algn="just">
              <a:lnSpc>
                <a:spcPct val="130000"/>
              </a:lnSpc>
              <a:spcBef>
                <a:spcPts val="600"/>
              </a:spcBef>
              <a:buClr>
                <a:prstClr val="white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zh-CN" altLang="en-US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研究基础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、已有工作和阶段成果，说明本研究的起点与推进方向。</a:t>
            </a:r>
          </a:p>
        </p:txBody>
      </p:sp>
    </p:spTree>
    <p:extLst>
      <p:ext uri="{BB962C8B-B14F-4D97-AF65-F5344CB8AC3E}">
        <p14:creationId xmlns:p14="http://schemas.microsoft.com/office/powerpoint/2010/main" val="27415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/>
      </p:transition>
    </mc:Choice>
    <mc:Fallback xmlns="">
      <p:transition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0" y="-1558"/>
            <a:ext cx="10969200" cy="7553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mar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u="none" strike="noStrike" kern="1200" cap="none" spc="150" normalizeH="0" baseline="0" dirty="0">
                <a:gradFill>
                  <a:gsLst>
                    <a:gs pos="100000">
                      <a:schemeClr val="accent1">
                        <a:lumMod val="90000"/>
                      </a:schemeClr>
                    </a:gs>
                    <a:gs pos="20000">
                      <a:schemeClr val="accent1">
                        <a:lumMod val="50000"/>
                      </a:schemeClr>
                    </a:gs>
                  </a:gsLst>
                  <a:lin ang="2700000" scaled="0"/>
                </a:gra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>
              <a:spcAft>
                <a:spcPts val="0"/>
              </a:spcAft>
              <a:defRPr/>
            </a:pPr>
            <a:r>
              <a:rPr lang="zh-HK" altLang="en-US" spc="0" dirty="0">
                <a:solidFill>
                  <a:srgbClr val="FF0000"/>
                </a:solidFill>
              </a:rPr>
              <a:t>1.3研究思路与分析维度</a:t>
            </a:r>
          </a:p>
        </p:txBody>
      </p:sp>
      <p:sp>
        <p:nvSpPr>
          <p:cNvPr id="6" name="矩形 5"/>
          <p:cNvSpPr/>
          <p:nvPr/>
        </p:nvSpPr>
        <p:spPr>
          <a:xfrm>
            <a:off x="343438" y="911730"/>
            <a:ext cx="11505124" cy="1221126"/>
          </a:xfrm>
          <a:prstGeom prst="rect">
            <a:avLst/>
          </a:prstGeom>
          <a:solidFill>
            <a:srgbClr val="024C89"/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anchor="ctr">
            <a:noAutofit/>
          </a:bodyPr>
          <a:lstStyle/>
          <a:p>
            <a:pPr marL="342900" lvl="0" indent="-342900" algn="just">
              <a:lnSpc>
                <a:spcPct val="130000"/>
              </a:lnSpc>
              <a:spcBef>
                <a:spcPts val="600"/>
              </a:spcBef>
              <a:buClr>
                <a:prstClr val="white"/>
              </a:buClr>
              <a:buFont typeface="Wingdings" panose="05000000000000000000" pitchFamily="2" charset="2"/>
              <a:buChar char="Ø"/>
              <a:defRPr/>
            </a:pPr>
            <a:r>
              <a:rPr lang="zh-HK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将研究问题拆分为相互关联的分析维度，分别交代研究对象、方法选择与预期解释。</a:t>
            </a:r>
          </a:p>
        </p:txBody>
      </p:sp>
      <p:sp>
        <p:nvSpPr>
          <p:cNvPr id="8" name="矩形 7"/>
          <p:cNvSpPr/>
          <p:nvPr/>
        </p:nvSpPr>
        <p:spPr>
          <a:xfrm>
            <a:off x="267390" y="4894439"/>
            <a:ext cx="3779573" cy="105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zh-HK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分析维度一</a:t>
            </a: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lang="zh-HK" altLang="en-US" sz="1600" dirty="0">
                <a:latin typeface="Arial" panose="020B0604020202020204"/>
                <a:ea typeface="微软雅黑" panose="020B0503020204020204" pitchFamily="34" charset="-122"/>
              </a:rPr>
              <a:t>界定对象与范围，说明这一维度回答的具体问题。</a:t>
            </a:r>
          </a:p>
        </p:txBody>
      </p:sp>
      <p:sp>
        <p:nvSpPr>
          <p:cNvPr id="10" name="矩形 9"/>
          <p:cNvSpPr/>
          <p:nvPr/>
        </p:nvSpPr>
        <p:spPr>
          <a:xfrm>
            <a:off x="4150180" y="4894439"/>
            <a:ext cx="3888000" cy="105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eaLnBrk="1" fontAlgn="auto" hangingPunct="1">
              <a:spcBef>
                <a:spcPts val="0"/>
              </a:spcBef>
              <a:spcAft>
                <a:spcPts val="600"/>
              </a:spcAft>
              <a:buClrTx/>
              <a:buSzTx/>
              <a:defRPr/>
            </a:pPr>
            <a:r>
              <a:rPr lang="zh-HK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分析维度二</a:t>
            </a: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lang="zh-HK" altLang="en-US" sz="1600" dirty="0">
                <a:latin typeface="Arial" panose="020B0604020202020204"/>
                <a:ea typeface="微软雅黑" panose="020B0503020204020204" pitchFamily="34" charset="-122"/>
              </a:rPr>
              <a:t>介绍方法与证据，说明这一维度如何展开分析。</a:t>
            </a:r>
          </a:p>
        </p:txBody>
      </p:sp>
      <p:sp>
        <p:nvSpPr>
          <p:cNvPr id="12" name="矩形 11"/>
          <p:cNvSpPr/>
          <p:nvPr/>
        </p:nvSpPr>
        <p:spPr>
          <a:xfrm>
            <a:off x="8241157" y="4861506"/>
            <a:ext cx="3627625" cy="105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zh-HK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分析维度三</a:t>
            </a: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HK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比较结果与条件，说明这一维度如何支撑结论。</a:t>
            </a:r>
          </a:p>
        </p:txBody>
      </p:sp>
      <p:pic>
        <p:nvPicPr>
          <p:cNvPr id="15" name="图片 14"/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438" y="2327655"/>
            <a:ext cx="3627478" cy="24832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图片 17"/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50180" y="2327792"/>
            <a:ext cx="3888000" cy="2483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图片 20"/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1157" y="2324960"/>
            <a:ext cx="3627625" cy="24830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矩形: 圆角 8">
            <a:extLst>
              <a:ext uri="{FF2B5EF4-FFF2-40B4-BE49-F238E27FC236}">
                <a16:creationId xmlns:a16="http://schemas.microsoft.com/office/drawing/2014/main" id="{41C7D0CD-DA0A-07E8-5E99-3E4943CB361A}"/>
              </a:ext>
            </a:extLst>
          </p:cNvPr>
          <p:cNvSpPr/>
          <p:nvPr/>
        </p:nvSpPr>
        <p:spPr>
          <a:xfrm>
            <a:off x="1047898" y="6093296"/>
            <a:ext cx="10096204" cy="568800"/>
          </a:xfrm>
          <a:prstGeom prst="roundRect">
            <a:avLst>
              <a:gd name="adj" fmla="val 7988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HK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围绕共同目标组织各分析维度，说明它们如何支撑整体研究结论。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/>
      </p:transition>
    </mc:Choice>
    <mc:Fallback xmlns="">
      <p:transition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5F68-41CF-5361-88C5-F8C2B663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ACAB00C4-F162-D06C-779A-B01542CC06B0}"/>
              </a:ext>
            </a:extLst>
          </p:cNvPr>
          <p:cNvSpPr>
            <a:spLocks noGrp="1"/>
          </p:cNvSpPr>
          <p:nvPr/>
        </p:nvSpPr>
        <p:spPr>
          <a:xfrm>
            <a:off x="0" y="-1558"/>
            <a:ext cx="10969200" cy="7553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mar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u="none" strike="noStrike" kern="1200" cap="none" spc="150" normalizeH="0" baseline="0" dirty="0">
                <a:gradFill>
                  <a:gsLst>
                    <a:gs pos="100000">
                      <a:schemeClr val="accent1">
                        <a:lumMod val="90000"/>
                      </a:schemeClr>
                    </a:gs>
                    <a:gs pos="20000">
                      <a:schemeClr val="accent1">
                        <a:lumMod val="50000"/>
                      </a:schemeClr>
                    </a:gs>
                  </a:gsLst>
                  <a:lin ang="2700000" scaled="0"/>
                </a:gra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>
              <a:spcAft>
                <a:spcPts val="0"/>
              </a:spcAft>
              <a:defRPr/>
            </a:pPr>
            <a:r>
              <a:rPr lang="zh-CN" altLang="en-US" spc="0" dirty="0">
                <a:solidFill>
                  <a:srgbClr val="FF0000"/>
                </a:solidFill>
              </a:rPr>
              <a:t>1.4技术路线与应用场景</a:t>
            </a:r>
          </a:p>
        </p:txBody>
      </p:sp>
      <p:sp>
        <p:nvSpPr>
          <p:cNvPr id="39" name="矩形: 圆角 8">
            <a:extLst>
              <a:ext uri="{FF2B5EF4-FFF2-40B4-BE49-F238E27FC236}">
                <a16:creationId xmlns:a16="http://schemas.microsoft.com/office/drawing/2014/main" id="{4D5CE902-1EAA-070E-834D-8935AA0C2796}"/>
              </a:ext>
            </a:extLst>
          </p:cNvPr>
          <p:cNvSpPr/>
          <p:nvPr/>
        </p:nvSpPr>
        <p:spPr>
          <a:xfrm>
            <a:off x="290512" y="5719743"/>
            <a:ext cx="11610975" cy="675640"/>
          </a:xfrm>
          <a:prstGeom prst="roundRect">
            <a:avLst>
              <a:gd name="adj" fmla="val 798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  <a:defRPr/>
            </a:pPr>
            <a:r>
              <a:rPr lang="zh-CN" altLang="en-US" sz="3200" b="1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形成从研究问题、证据分析到结论应用的完整论证过程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8C082F6-06A0-60AA-7965-A8951B3D3D5D}"/>
              </a:ext>
            </a:extLst>
          </p:cNvPr>
          <p:cNvGrpSpPr/>
          <p:nvPr/>
        </p:nvGrpSpPr>
        <p:grpSpPr>
          <a:xfrm>
            <a:off x="290511" y="993042"/>
            <a:ext cx="11610975" cy="2147926"/>
            <a:chOff x="186690" y="980740"/>
            <a:chExt cx="11610975" cy="2147926"/>
          </a:xfrm>
        </p:grpSpPr>
        <p:sp>
          <p:nvSpPr>
            <p:cNvPr id="12" name="矩形 8">
              <a:extLst>
                <a:ext uri="{FF2B5EF4-FFF2-40B4-BE49-F238E27FC236}">
                  <a16:creationId xmlns:a16="http://schemas.microsoft.com/office/drawing/2014/main" id="{E0926D74-1B44-EEA6-0D96-B27BC4503288}"/>
                </a:ext>
              </a:extLst>
            </p:cNvPr>
            <p:cNvSpPr/>
            <p:nvPr/>
          </p:nvSpPr>
          <p:spPr bwMode="auto">
            <a:xfrm>
              <a:off x="186690" y="980740"/>
              <a:ext cx="11610975" cy="2147926"/>
            </a:xfrm>
            <a:prstGeom prst="rect">
              <a:avLst/>
            </a:prstGeom>
            <a:solidFill>
              <a:srgbClr val="0070C0">
                <a:alpha val="10000"/>
              </a:srgbClr>
            </a:solidFill>
            <a:ln w="6350">
              <a:noFill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di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endPara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文本占位符 1">
              <a:extLst>
                <a:ext uri="{FF2B5EF4-FFF2-40B4-BE49-F238E27FC236}">
                  <a16:creationId xmlns:a16="http://schemas.microsoft.com/office/drawing/2014/main" id="{2E3473C9-4495-F188-5A9C-987CAE085D42}"/>
                </a:ext>
              </a:extLst>
            </p:cNvPr>
            <p:cNvSpPr txBox="1"/>
            <p:nvPr/>
          </p:nvSpPr>
          <p:spPr>
            <a:xfrm>
              <a:off x="199541" y="980740"/>
              <a:ext cx="11585272" cy="214792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SzPct val="80000"/>
                <a:buFont typeface="Wingdings" panose="05000000000000000000" pitchFamily="2" charset="2"/>
                <a:buChar char="p"/>
                <a:defRPr lang="zh-CN" altLang="en-US" sz="2800" b="1" kern="1200" dirty="0" smtClean="0">
                  <a:solidFill>
                    <a:srgbClr val="00488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Wingdings" panose="05000000000000000000" pitchFamily="2" charset="2"/>
                <a:buChar char="p"/>
                <a:defRPr sz="2400" b="1" kern="1200">
                  <a:solidFill>
                    <a:srgbClr val="00488C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Wingdings" panose="05000000000000000000" pitchFamily="2" charset="2"/>
                <a:buChar char="p"/>
                <a:defRPr sz="2000" b="1" kern="1200">
                  <a:solidFill>
                    <a:srgbClr val="00488C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Wingdings" panose="05000000000000000000" pitchFamily="2" charset="2"/>
                <a:buChar char="p"/>
                <a:defRPr sz="1800" b="1" kern="1200">
                  <a:solidFill>
                    <a:srgbClr val="00488C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Wingdings" panose="05000000000000000000" pitchFamily="2" charset="2"/>
                <a:buChar char="p"/>
                <a:defRPr sz="1800" b="1" kern="1200">
                  <a:solidFill>
                    <a:srgbClr val="00488C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2400" dirty="0">
                  <a:solidFill>
                    <a:srgbClr val="C00000"/>
                  </a:solidFill>
                  <a:latin typeface="微软雅黑" panose="020B0503020204020204" pitchFamily="34" charset="-122"/>
                  <a:cs typeface="Times New Roman" panose="02020603050405020304"/>
                </a:rPr>
                <a:t>任务分解：</a:t>
              </a:r>
              <a:r>
                <a:rPr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cs typeface="Times New Roman" panose="02020603050405020304"/>
                </a:rPr>
                <a:t>明确各子问题及其对应方法，说明研究任务之间的联系</a:t>
              </a:r>
              <a:endPara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cs typeface="Times New Roman" panose="02020603050405020304"/>
              </a:endParaRPr>
            </a:p>
            <a:p>
              <a:pPr algn="just">
                <a:defRPr/>
              </a:pPr>
              <a:r>
                <a:rPr lang="zh-CN" altLang="en-US" sz="2400" dirty="0">
                  <a:solidFill>
                    <a:srgbClr val="C00000"/>
                  </a:solidFill>
                  <a:latin typeface="微软雅黑" panose="020B0503020204020204" pitchFamily="34" charset="-122"/>
                  <a:cs typeface="Times New Roman" panose="02020603050405020304"/>
                </a:rPr>
                <a:t>数据支撑：</a:t>
              </a:r>
              <a:r>
                <a:rPr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cs typeface="Times New Roman" panose="02020603050405020304"/>
                </a:rPr>
                <a:t>交代资料来源、处理流程与关键变量，保证分析可追溯</a:t>
              </a:r>
            </a:p>
            <a:p>
              <a:pPr algn="just">
                <a:defRPr/>
              </a:pPr>
              <a:r>
                <a:rPr lang="zh-CN" altLang="en-US" sz="2400" dirty="0">
                  <a:solidFill>
                    <a:srgbClr val="C00000"/>
                  </a:solidFill>
                  <a:latin typeface="微软雅黑" panose="020B0503020204020204" pitchFamily="34" charset="-122"/>
                  <a:cs typeface="Times New Roman" panose="02020603050405020304"/>
                </a:rPr>
                <a:t>结果检验：</a:t>
              </a:r>
              <a:r>
                <a:rPr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cs typeface="Times New Roman" panose="02020603050405020304"/>
                </a:rPr>
                <a:t>设置对照、评价标准与验证环节，检查结论的适用条件</a:t>
              </a:r>
              <a:endPara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cs typeface="Times New Roman" panose="02020603050405020304"/>
              </a:endParaRPr>
            </a:p>
            <a:p>
              <a:pPr algn="just">
                <a:defRPr/>
              </a:pPr>
              <a:r>
                <a:rPr lang="zh-CN" altLang="en-US" sz="2400" dirty="0">
                  <a:solidFill>
                    <a:srgbClr val="C00000"/>
                  </a:solidFill>
                  <a:latin typeface="微软雅黑" panose="020B0503020204020204" pitchFamily="34" charset="-122"/>
                  <a:cs typeface="Times New Roman" panose="02020603050405020304"/>
                </a:rPr>
                <a:t>应用衔接：</a:t>
              </a:r>
              <a:r>
                <a:rPr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cs typeface="Times New Roman" panose="02020603050405020304"/>
                </a:rPr>
                <a:t>结合典型情境说明实施步骤，界定成果的适用范围</a:t>
              </a:r>
            </a:p>
          </p:txBody>
        </p:sp>
      </p:grpSp>
      <p:sp>
        <p:nvSpPr>
          <p:cNvPr id="6" name="矩形: 圆角 23">
            <a:extLst>
              <a:ext uri="{FF2B5EF4-FFF2-40B4-BE49-F238E27FC236}">
                <a16:creationId xmlns:a16="http://schemas.microsoft.com/office/drawing/2014/main" id="{926AE5F5-7C33-18F4-12B1-D4045A3E74C8}"/>
              </a:ext>
            </a:extLst>
          </p:cNvPr>
          <p:cNvSpPr>
            <a:spLocks/>
          </p:cNvSpPr>
          <p:nvPr/>
        </p:nvSpPr>
        <p:spPr>
          <a:xfrm>
            <a:off x="6152125" y="3513003"/>
            <a:ext cx="2818555" cy="199377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40000"/>
            </a:schemeClr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4" name="矩形: 圆角 23">
            <a:extLst>
              <a:ext uri="{FF2B5EF4-FFF2-40B4-BE49-F238E27FC236}">
                <a16:creationId xmlns:a16="http://schemas.microsoft.com/office/drawing/2014/main" id="{66E8C1B0-E39C-C695-7974-FADA23ED6E30}"/>
              </a:ext>
            </a:extLst>
          </p:cNvPr>
          <p:cNvSpPr>
            <a:spLocks/>
          </p:cNvSpPr>
          <p:nvPr/>
        </p:nvSpPr>
        <p:spPr>
          <a:xfrm>
            <a:off x="290513" y="3513003"/>
            <a:ext cx="2818555" cy="199377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40000"/>
            </a:schemeClr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5" name="矩形: 圆角 23">
            <a:extLst>
              <a:ext uri="{FF2B5EF4-FFF2-40B4-BE49-F238E27FC236}">
                <a16:creationId xmlns:a16="http://schemas.microsoft.com/office/drawing/2014/main" id="{423EE381-6AD8-DD14-3890-92DF2661E0B0}"/>
              </a:ext>
            </a:extLst>
          </p:cNvPr>
          <p:cNvSpPr>
            <a:spLocks/>
          </p:cNvSpPr>
          <p:nvPr/>
        </p:nvSpPr>
        <p:spPr>
          <a:xfrm>
            <a:off x="3221319" y="3513003"/>
            <a:ext cx="2818555" cy="199377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40000"/>
            </a:schemeClr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7B2163DA-5123-D8ED-3F2F-BEE1B047BBAC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243004" y="3524251"/>
            <a:ext cx="2796870" cy="1982522"/>
          </a:xfrm>
          <a:prstGeom prst="rect">
            <a:avLst/>
          </a:prstGeom>
        </p:spPr>
      </p:pic>
      <p:sp>
        <p:nvSpPr>
          <p:cNvPr id="43" name="矩形: 圆角 23">
            <a:extLst>
              <a:ext uri="{FF2B5EF4-FFF2-40B4-BE49-F238E27FC236}">
                <a16:creationId xmlns:a16="http://schemas.microsoft.com/office/drawing/2014/main" id="{806847A7-3081-E2E4-C635-9F0B4A16EB5C}"/>
              </a:ext>
            </a:extLst>
          </p:cNvPr>
          <p:cNvSpPr>
            <a:spLocks/>
          </p:cNvSpPr>
          <p:nvPr/>
        </p:nvSpPr>
        <p:spPr>
          <a:xfrm>
            <a:off x="9082932" y="3513003"/>
            <a:ext cx="2818555" cy="199377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40000"/>
            </a:schemeClr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6" name="插入案例或数据图">
            <a:extLst>
              <a:ext uri="{FF2B5EF4-FFF2-40B4-BE49-F238E27FC236}">
                <a16:creationId xmlns:a16="http://schemas.microsoft.com/office/drawing/2014/main" id="{5430FB26-3BC2-37FC-BB0C-87B7C15AB078}"/>
              </a:ext>
            </a:extLst>
          </p:cNvPr>
          <p:cNvSpPr/>
          <p:nvPr/>
        </p:nvSpPr>
        <p:spPr>
          <a:xfrm>
            <a:off x="303361" y="3524251"/>
            <a:ext cx="2792264" cy="1968499"/>
          </a:xfrm>
          <a:prstGeom prst="rect">
            <a:avLst/>
          </a:prstGeom>
          <a:solidFill>
            <a:srgbClr val="E7F0F7"/>
          </a:solidFill>
          <a:ln w="19050">
            <a:solidFill>
              <a:srgbClr val="056FB0"/>
            </a:solidFill>
          </a:ln>
        </p:spPr>
        <p:txBody>
          <a:bodyPr anchor="ctr" wrap="square"/>
          <a:lstStyle/>
          <a:p>
            <a:pPr algn="ctr"/>
            <a:r>
              <a:rPr sz="1800" lang="zh-CN">
                <a:solidFill>
                  <a:srgbClr val="07538B"/>
                </a:solidFill>
                <a:ea typeface="微软雅黑"/>
              </a:rPr>
              <a:t>插入案例或数据图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A7CD0673-FADC-5551-6938-2372736C6F02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9096077" y="3536422"/>
            <a:ext cx="2792264" cy="1954476"/>
          </a:xfrm>
          <a:prstGeom prst="rect">
            <a:avLst/>
          </a:prstGeom>
        </p:spPr>
      </p:pic>
      <p:grpSp>
        <p:nvGrpSpPr>
          <p:cNvPr id="54" name="组合 53">
            <a:extLst>
              <a:ext uri="{FF2B5EF4-FFF2-40B4-BE49-F238E27FC236}">
                <a16:creationId xmlns:a16="http://schemas.microsoft.com/office/drawing/2014/main" id="{A67472C7-7C82-7472-FED7-2B3346C95319}"/>
              </a:ext>
            </a:extLst>
          </p:cNvPr>
          <p:cNvGrpSpPr/>
          <p:nvPr/>
        </p:nvGrpSpPr>
        <p:grpSpPr>
          <a:xfrm>
            <a:off x="6166511" y="3538537"/>
            <a:ext cx="2792264" cy="1954476"/>
            <a:chOff x="6166511" y="3538537"/>
            <a:chExt cx="2792264" cy="1954476"/>
          </a:xfrm>
        </p:grpSpPr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53B7DCD4-7346-14C0-4EE1-25B76FA4178E}"/>
                </a:ext>
              </a:extLst>
            </p:cNvPr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166511" y="3538537"/>
              <a:ext cx="2792264" cy="1954476"/>
            </a:xfrm>
            <a:prstGeom prst="rect">
              <a:avLst/>
            </a:prstGeom>
          </p:spPr>
        </p:pic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E27B619-8906-5B71-FEF0-DC07442BBE11}"/>
                </a:ext>
              </a:extLst>
            </p:cNvPr>
            <p:cNvSpPr/>
            <p:nvPr/>
          </p:nvSpPr>
          <p:spPr>
            <a:xfrm>
              <a:off x="8603456" y="3781425"/>
              <a:ext cx="290513" cy="928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8358665-785D-A9DC-595B-1F90EAD46092}"/>
                </a:ext>
              </a:extLst>
            </p:cNvPr>
            <p:cNvSpPr txBox="1"/>
            <p:nvPr/>
          </p:nvSpPr>
          <p:spPr>
            <a:xfrm>
              <a:off x="8506337" y="3734251"/>
              <a:ext cx="440531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评价体系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241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/>
      </p:transition>
    </mc:Choice>
    <mc:Fallback xmlns="">
      <p:transition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680" y="764704"/>
            <a:ext cx="12241360" cy="3960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9657" y="5013176"/>
            <a:ext cx="6048672" cy="648000"/>
          </a:xfrm>
        </p:spPr>
        <p:txBody>
          <a:bodyPr>
            <a:normAutofit fontScale="90000"/>
          </a:bodyPr>
          <a:lstStyle/>
          <a:p>
            <a:pPr algn="dist"/>
            <a:r>
              <a:rPr lang="zh-CN" altLang="en-US" sz="6000" dirty="0">
                <a:solidFill>
                  <a:srgbClr val="025A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敬请批评指导！</a:t>
            </a:r>
            <a:endParaRPr lang="zh-CN" altLang="en-US" sz="6000" b="1" dirty="0">
              <a:solidFill>
                <a:srgbClr val="025A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9336" y="1124744"/>
            <a:ext cx="11953328" cy="3061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4572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归纳研究发现，回应核心问题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4572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说明方法价值、实践启示与适用条件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 indent="457200" algn="ctr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4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感谢聆听，欢迎交流与指导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Tm="3831">
        <p:wipe/>
      </p:transition>
    </mc:Choice>
    <mc:Fallback xmlns="">
      <p:transition advTm="3831">
        <p:wipe/>
      </p:transition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625</Words>
  <Application>Microsoft Office PowerPoint</Application>
  <PresentationFormat>宽屏</PresentationFormat>
  <Paragraphs>89</Paragraphs>
  <Slides>8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模板五</dc:title>
  <dc:creator/>
  <cp:lastModifiedBy/>
  <cp:revision>3</cp:revision>
  <dcterms:created xsi:type="dcterms:W3CDTF">2023-08-09T12:44:55Z</dcterms:created>
  <dcterms:modified xsi:type="dcterms:W3CDTF">2025-10-17T08:45:49Z</dcterms:modified>
</cp:coreProperties>
</file>